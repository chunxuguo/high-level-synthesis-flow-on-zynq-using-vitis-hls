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 id="2147483989" r:id="rId5"/>
  </p:sldMasterIdLst>
  <p:notesMasterIdLst>
    <p:notesMasterId r:id="rId62"/>
  </p:notesMasterIdLst>
  <p:handoutMasterIdLst>
    <p:handoutMasterId r:id="rId63"/>
  </p:handoutMasterIdLst>
  <p:sldIdLst>
    <p:sldId id="1001" r:id="rId6"/>
    <p:sldId id="960" r:id="rId7"/>
    <p:sldId id="1013" r:id="rId8"/>
    <p:sldId id="1002" r:id="rId9"/>
    <p:sldId id="962" r:id="rId10"/>
    <p:sldId id="1014" r:id="rId11"/>
    <p:sldId id="963" r:id="rId12"/>
    <p:sldId id="1015" r:id="rId13"/>
    <p:sldId id="1012" r:id="rId14"/>
    <p:sldId id="964" r:id="rId15"/>
    <p:sldId id="1003" r:id="rId16"/>
    <p:sldId id="965" r:id="rId17"/>
    <p:sldId id="966" r:id="rId18"/>
    <p:sldId id="967" r:id="rId19"/>
    <p:sldId id="968" r:id="rId20"/>
    <p:sldId id="969" r:id="rId21"/>
    <p:sldId id="1016" r:id="rId22"/>
    <p:sldId id="970" r:id="rId23"/>
    <p:sldId id="971" r:id="rId24"/>
    <p:sldId id="1017" r:id="rId25"/>
    <p:sldId id="972" r:id="rId26"/>
    <p:sldId id="1018" r:id="rId27"/>
    <p:sldId id="973" r:id="rId28"/>
    <p:sldId id="1019" r:id="rId29"/>
    <p:sldId id="974" r:id="rId30"/>
    <p:sldId id="1020" r:id="rId31"/>
    <p:sldId id="975" r:id="rId32"/>
    <p:sldId id="1021" r:id="rId33"/>
    <p:sldId id="976" r:id="rId34"/>
    <p:sldId id="1022" r:id="rId35"/>
    <p:sldId id="978" r:id="rId36"/>
    <p:sldId id="1023" r:id="rId37"/>
    <p:sldId id="979" r:id="rId38"/>
    <p:sldId id="1024" r:id="rId39"/>
    <p:sldId id="980" r:id="rId40"/>
    <p:sldId id="1025" r:id="rId41"/>
    <p:sldId id="982" r:id="rId42"/>
    <p:sldId id="1026" r:id="rId43"/>
    <p:sldId id="983" r:id="rId44"/>
    <p:sldId id="1027" r:id="rId45"/>
    <p:sldId id="984" r:id="rId46"/>
    <p:sldId id="1028" r:id="rId47"/>
    <p:sldId id="1005" r:id="rId48"/>
    <p:sldId id="1006" r:id="rId49"/>
    <p:sldId id="989" r:id="rId50"/>
    <p:sldId id="999" r:id="rId51"/>
    <p:sldId id="1000" r:id="rId52"/>
    <p:sldId id="1007" r:id="rId53"/>
    <p:sldId id="1031" r:id="rId54"/>
    <p:sldId id="1009" r:id="rId55"/>
    <p:sldId id="1008" r:id="rId56"/>
    <p:sldId id="992" r:id="rId57"/>
    <p:sldId id="1029" r:id="rId58"/>
    <p:sldId id="993" r:id="rId59"/>
    <p:sldId id="1030" r:id="rId60"/>
    <p:sldId id="440" r:id="rId61"/>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892" autoAdjust="0"/>
    <p:restoredTop sz="82597" autoAdjust="0"/>
  </p:normalViewPr>
  <p:slideViewPr>
    <p:cSldViewPr snapToGrid="0">
      <p:cViewPr varScale="1">
        <p:scale>
          <a:sx n="70" d="100"/>
          <a:sy n="70" d="100"/>
        </p:scale>
        <p:origin x="528" y="62"/>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slide" Target="slides/slide42.xml"/><Relationship Id="rId50" Type="http://schemas.openxmlformats.org/officeDocument/2006/relationships/slide" Target="slides/slide45.xml"/><Relationship Id="rId55" Type="http://schemas.openxmlformats.org/officeDocument/2006/relationships/slide" Target="slides/slide50.xml"/><Relationship Id="rId63" Type="http://schemas.openxmlformats.org/officeDocument/2006/relationships/handoutMaster" Target="handoutMasters/handoutMaster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61" Type="http://schemas.openxmlformats.org/officeDocument/2006/relationships/slide" Target="slides/slide56.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tableStyles" Target="tableStyles.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D42829-8409-4711-B36D-25AE5703B863}" type="slidenum">
              <a:rPr lang="en-US" smtClean="0"/>
              <a:pPr/>
              <a:t>3</a:t>
            </a:fld>
            <a:endParaRPr lang="en-US"/>
          </a:p>
        </p:txBody>
      </p:sp>
    </p:spTree>
    <p:extLst>
      <p:ext uri="{BB962C8B-B14F-4D97-AF65-F5344CB8AC3E}">
        <p14:creationId xmlns:p14="http://schemas.microsoft.com/office/powerpoint/2010/main" val="20240763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 Only</a:t>
            </a:r>
          </a:p>
        </p:txBody>
      </p:sp>
    </p:spTree>
    <p:extLst>
      <p:ext uri="{BB962C8B-B14F-4D97-AF65-F5344CB8AC3E}">
        <p14:creationId xmlns:p14="http://schemas.microsoft.com/office/powerpoint/2010/main" val="27226233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 Only</a:t>
            </a:r>
          </a:p>
        </p:txBody>
      </p:sp>
    </p:spTree>
    <p:extLst>
      <p:ext uri="{BB962C8B-B14F-4D97-AF65-F5344CB8AC3E}">
        <p14:creationId xmlns:p14="http://schemas.microsoft.com/office/powerpoint/2010/main" val="2722623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precision can be simulated/validated with C simulation and hardware will behave the same</a:t>
            </a:r>
          </a:p>
        </p:txBody>
      </p:sp>
    </p:spTree>
    <p:extLst>
      <p:ext uri="{BB962C8B-B14F-4D97-AF65-F5344CB8AC3E}">
        <p14:creationId xmlns:p14="http://schemas.microsoft.com/office/powerpoint/2010/main" val="21926927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precision can be simulated/validated with C simulation and hardware will behave the same</a:t>
            </a:r>
          </a:p>
        </p:txBody>
      </p:sp>
    </p:spTree>
    <p:extLst>
      <p:ext uri="{BB962C8B-B14F-4D97-AF65-F5344CB8AC3E}">
        <p14:creationId xmlns:p14="http://schemas.microsoft.com/office/powerpoint/2010/main" val="21926927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charset="0"/>
                <a:ea typeface="+mn-ea"/>
                <a:cs typeface="+mn-cs"/>
              </a:rPr>
              <a:t>system-C files are not supported by </a:t>
            </a:r>
            <a:r>
              <a:rPr lang="en-US" sz="1200" b="0" i="0" kern="1200" dirty="0" err="1">
                <a:solidFill>
                  <a:schemeClr val="tx1"/>
                </a:solidFill>
                <a:effectLst/>
                <a:latin typeface="Arial" charset="0"/>
                <a:ea typeface="+mn-ea"/>
                <a:cs typeface="+mn-cs"/>
              </a:rPr>
              <a:t>Vitis</a:t>
            </a:r>
            <a:r>
              <a:rPr lang="en-US" sz="1200" b="0" i="0" kern="1200" dirty="0">
                <a:solidFill>
                  <a:schemeClr val="tx1"/>
                </a:solidFill>
                <a:effectLst/>
                <a:latin typeface="Arial" charset="0"/>
                <a:ea typeface="+mn-ea"/>
                <a:cs typeface="+mn-cs"/>
              </a:rPr>
              <a:t> HLS.</a:t>
            </a:r>
          </a:p>
          <a:p>
            <a:r>
              <a:rPr lang="en-US" sz="1200" b="0" i="0" u="none" strike="noStrike" kern="1200" baseline="0" dirty="0" err="1">
                <a:solidFill>
                  <a:schemeClr val="tx1"/>
                </a:solidFill>
                <a:latin typeface="Arial" charset="0"/>
                <a:ea typeface="+mn-ea"/>
                <a:cs typeface="+mn-cs"/>
              </a:rPr>
              <a:t>Vitis</a:t>
            </a:r>
            <a:r>
              <a:rPr lang="en-US" sz="1200" b="0" i="0" u="none" strike="noStrike" kern="1200" baseline="0" dirty="0">
                <a:solidFill>
                  <a:schemeClr val="tx1"/>
                </a:solidFill>
                <a:latin typeface="Arial" charset="0"/>
                <a:ea typeface="+mn-ea"/>
                <a:cs typeface="+mn-cs"/>
              </a:rPr>
              <a:t> HLS does not support Arbitrary precision C-types, user is advised to use C++ types with</a:t>
            </a:r>
          </a:p>
          <a:p>
            <a:r>
              <a:rPr lang="en-US" sz="1200" b="0" i="0" u="none" strike="noStrike" kern="1200" baseline="0" dirty="0">
                <a:solidFill>
                  <a:schemeClr val="tx1"/>
                </a:solidFill>
                <a:latin typeface="Arial" charset="0"/>
                <a:ea typeface="+mn-ea"/>
                <a:cs typeface="+mn-cs"/>
              </a:rPr>
              <a:t>arbitrary precision.</a:t>
            </a:r>
            <a:endParaRPr lang="en-US" sz="1200" b="0" i="0" kern="1200" dirty="0">
              <a:solidFill>
                <a:schemeClr val="tx1"/>
              </a:solidFill>
              <a:effectLst/>
              <a:latin typeface="Arial" charset="0"/>
              <a:ea typeface="+mn-ea"/>
              <a:cs typeface="+mn-cs"/>
            </a:endParaRPr>
          </a:p>
          <a:p>
            <a:endParaRPr lang="en-US" dirty="0"/>
          </a:p>
        </p:txBody>
      </p:sp>
    </p:spTree>
    <p:extLst>
      <p:ext uri="{BB962C8B-B14F-4D97-AF65-F5344CB8AC3E}">
        <p14:creationId xmlns:p14="http://schemas.microsoft.com/office/powerpoint/2010/main" val="6107136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charset="0"/>
                <a:ea typeface="+mn-ea"/>
                <a:cs typeface="+mn-cs"/>
              </a:rPr>
              <a:t>system-C files are not supported by </a:t>
            </a:r>
            <a:r>
              <a:rPr lang="en-US" sz="1200" b="0" i="0" kern="1200" dirty="0" err="1">
                <a:solidFill>
                  <a:schemeClr val="tx1"/>
                </a:solidFill>
                <a:effectLst/>
                <a:latin typeface="Arial" charset="0"/>
                <a:ea typeface="+mn-ea"/>
                <a:cs typeface="+mn-cs"/>
              </a:rPr>
              <a:t>Vitis</a:t>
            </a:r>
            <a:r>
              <a:rPr lang="en-US" sz="1200" b="0" i="0" kern="1200" dirty="0">
                <a:solidFill>
                  <a:schemeClr val="tx1"/>
                </a:solidFill>
                <a:effectLst/>
                <a:latin typeface="Arial" charset="0"/>
                <a:ea typeface="+mn-ea"/>
                <a:cs typeface="+mn-cs"/>
              </a:rPr>
              <a:t> HLS.</a:t>
            </a:r>
          </a:p>
          <a:p>
            <a:r>
              <a:rPr lang="en-US" sz="1200" b="0" i="0" u="none" strike="noStrike" kern="1200" baseline="0" dirty="0" err="1">
                <a:solidFill>
                  <a:schemeClr val="tx1"/>
                </a:solidFill>
                <a:latin typeface="Arial" charset="0"/>
                <a:ea typeface="+mn-ea"/>
                <a:cs typeface="+mn-cs"/>
              </a:rPr>
              <a:t>Vitis</a:t>
            </a:r>
            <a:r>
              <a:rPr lang="en-US" sz="1200" b="0" i="0" u="none" strike="noStrike" kern="1200" baseline="0" dirty="0">
                <a:solidFill>
                  <a:schemeClr val="tx1"/>
                </a:solidFill>
                <a:latin typeface="Arial" charset="0"/>
                <a:ea typeface="+mn-ea"/>
                <a:cs typeface="+mn-cs"/>
              </a:rPr>
              <a:t> HLS does not support Arbitrary precision C-types, user is advised to use C++ types with</a:t>
            </a:r>
          </a:p>
          <a:p>
            <a:r>
              <a:rPr lang="en-US" sz="1200" b="0" i="0" u="none" strike="noStrike" kern="1200" baseline="0" dirty="0">
                <a:solidFill>
                  <a:schemeClr val="tx1"/>
                </a:solidFill>
                <a:latin typeface="Arial" charset="0"/>
                <a:ea typeface="+mn-ea"/>
                <a:cs typeface="+mn-cs"/>
              </a:rPr>
              <a:t>arbitrary precision.</a:t>
            </a:r>
            <a:endParaRPr lang="en-US" sz="1200" b="0" i="0" kern="1200" dirty="0">
              <a:solidFill>
                <a:schemeClr val="tx1"/>
              </a:solidFill>
              <a:effectLst/>
              <a:latin typeface="Arial" charset="0"/>
              <a:ea typeface="+mn-ea"/>
              <a:cs typeface="+mn-cs"/>
            </a:endParaRPr>
          </a:p>
          <a:p>
            <a:endParaRPr lang="en-US" dirty="0"/>
          </a:p>
        </p:txBody>
      </p:sp>
    </p:spTree>
    <p:extLst>
      <p:ext uri="{BB962C8B-B14F-4D97-AF65-F5344CB8AC3E}">
        <p14:creationId xmlns:p14="http://schemas.microsoft.com/office/powerpoint/2010/main" val="6107136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252066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68269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68269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D42829-8409-4711-B36D-25AE5703B863}" type="slidenum">
              <a:rPr lang="en-US" smtClean="0"/>
              <a:pPr/>
              <a:t>21</a:t>
            </a:fld>
            <a:endParaRPr lang="en-US"/>
          </a:p>
        </p:txBody>
      </p:sp>
    </p:spTree>
    <p:extLst>
      <p:ext uri="{BB962C8B-B14F-4D97-AF65-F5344CB8AC3E}">
        <p14:creationId xmlns:p14="http://schemas.microsoft.com/office/powerpoint/2010/main" val="30178703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pPr>
                <a:defRPr/>
              </a:pPr>
              <a:t>23</a:t>
            </a:fld>
            <a:endParaRPr lang="en-US" dirty="0"/>
          </a:p>
        </p:txBody>
      </p:sp>
    </p:spTree>
    <p:extLst>
      <p:ext uri="{BB962C8B-B14F-4D97-AF65-F5344CB8AC3E}">
        <p14:creationId xmlns:p14="http://schemas.microsoft.com/office/powerpoint/2010/main" val="35323829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306E2F6-ADDE-49E1-9923-76418EAA3B24}" type="slidenum">
              <a:rPr kumimoji="0" lang="en-US" sz="1800" b="0" i="0" u="none" strike="noStrike" kern="1200" cap="none" spc="0" normalizeH="0" baseline="0" noProof="0" smtClean="0">
                <a:ln>
                  <a:noFill/>
                </a:ln>
                <a:solidFill>
                  <a:srgbClr val="000000"/>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dirty="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35323829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pPr>
                <a:defRPr/>
              </a:pPr>
              <a:t>25</a:t>
            </a:fld>
            <a:endParaRPr lang="en-US" dirty="0"/>
          </a:p>
        </p:txBody>
      </p:sp>
    </p:spTree>
    <p:extLst>
      <p:ext uri="{BB962C8B-B14F-4D97-AF65-F5344CB8AC3E}">
        <p14:creationId xmlns:p14="http://schemas.microsoft.com/office/powerpoint/2010/main" val="8246304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306E2F6-ADDE-49E1-9923-76418EAA3B24}" type="slidenum">
              <a:rPr kumimoji="0" lang="en-US" sz="1800" b="0" i="0" u="none" strike="noStrike" kern="1200" cap="none" spc="0" normalizeH="0" baseline="0" noProof="0" smtClean="0">
                <a:ln>
                  <a:noFill/>
                </a:ln>
                <a:solidFill>
                  <a:srgbClr val="000000"/>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dirty="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8246304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AP_RND_MIN:</a:t>
            </a:r>
          </a:p>
          <a:p>
            <a:pPr marL="171450" indent="-171450">
              <a:buFont typeface="Arial" panose="020B0604020202020204" pitchFamily="34" charset="0"/>
              <a:buChar char="•"/>
            </a:pPr>
            <a:r>
              <a:rPr lang="en-US" dirty="0"/>
              <a:t>This mode is used for rounding to minus infinity</a:t>
            </a:r>
          </a:p>
          <a:p>
            <a:pPr marL="171450" indent="-171450">
              <a:buFont typeface="Arial" panose="020B0604020202020204" pitchFamily="34" charset="0"/>
              <a:buChar char="•"/>
            </a:pPr>
            <a:r>
              <a:rPr lang="en-US" dirty="0"/>
              <a:t>Always decrease the value of the number and removes the redundant bits (truncate)</a:t>
            </a:r>
          </a:p>
          <a:p>
            <a:pPr marL="171450" indent="-171450">
              <a:buFont typeface="Arial" panose="020B0604020202020204" pitchFamily="34" charset="0"/>
              <a:buChar char="•"/>
            </a:pPr>
            <a:r>
              <a:rPr lang="en-US" dirty="0"/>
              <a:t>For example:01.01(1.25 using 4 bits) rounds to 01.0(1)</a:t>
            </a:r>
          </a:p>
          <a:p>
            <a:pPr marL="171450" indent="-171450">
              <a:buFont typeface="Arial" panose="020B0604020202020204" pitchFamily="34" charset="0"/>
              <a:buChar char="•"/>
            </a:pPr>
            <a:r>
              <a:rPr lang="en-US" dirty="0"/>
              <a:t>10.11(-1.25 using 4 bits) rounds to 10.1(-1.5) </a:t>
            </a:r>
          </a:p>
          <a:p>
            <a:pPr marL="0" indent="0">
              <a:buFont typeface="Arial" panose="020B0604020202020204" pitchFamily="34" charset="0"/>
              <a:buNone/>
            </a:pPr>
            <a:r>
              <a:rPr lang="en-US" dirty="0"/>
              <a:t>AP_RND_IF:</a:t>
            </a:r>
          </a:p>
          <a:p>
            <a:pPr marL="171450" indent="-171450">
              <a:buFont typeface="Arial" panose="020B0604020202020204" pitchFamily="34" charset="0"/>
              <a:buChar char="•"/>
            </a:pPr>
            <a:r>
              <a:rPr lang="en-US" dirty="0"/>
              <a:t>This mode is used for rounding to infinity</a:t>
            </a:r>
          </a:p>
          <a:p>
            <a:pPr marL="171450" indent="-171450">
              <a:buFont typeface="Arial" panose="020B0604020202020204" pitchFamily="34" charset="0"/>
              <a:buChar char="•"/>
            </a:pPr>
            <a:r>
              <a:rPr lang="en-US" dirty="0"/>
              <a:t>Rounding depends on the least significant bit</a:t>
            </a:r>
          </a:p>
          <a:p>
            <a:pPr marL="171450" indent="-171450">
              <a:buFont typeface="Arial" panose="020B0604020202020204" pitchFamily="34" charset="0"/>
              <a:buChar char="•"/>
            </a:pPr>
            <a:r>
              <a:rPr lang="en-US" dirty="0"/>
              <a:t>Positive numbers are rounded to plus infinity, and the MSB of deleted bits is added to the remaining bits</a:t>
            </a:r>
          </a:p>
          <a:p>
            <a:pPr marL="171450" indent="-171450">
              <a:buFont typeface="Arial" panose="020B0604020202020204" pitchFamily="34" charset="0"/>
              <a:buChar char="•"/>
            </a:pPr>
            <a:r>
              <a:rPr lang="en-US" dirty="0"/>
              <a:t>Negative numbers are rounded to minus infinity, and the redundant bits are truncated</a:t>
            </a:r>
          </a:p>
          <a:p>
            <a:pPr marL="171450" indent="-171450">
              <a:buFont typeface="Arial" panose="020B0604020202020204" pitchFamily="34" charset="0"/>
              <a:buChar char="•"/>
            </a:pPr>
            <a:r>
              <a:rPr lang="en-US" dirty="0"/>
              <a:t>For example:01.01(1.25) -&gt; 01.1(1.5) round up for the positive number</a:t>
            </a:r>
          </a:p>
          <a:p>
            <a:pPr marL="171450" indent="-171450">
              <a:buFont typeface="Arial" panose="020B0604020202020204" pitchFamily="34" charset="0"/>
              <a:buChar char="•"/>
            </a:pPr>
            <a:r>
              <a:rPr lang="en-US" dirty="0"/>
              <a:t>10.11(-1.25) -&gt; 10.1(-1.5) truncation for the negative number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AP_RND:</a:t>
            </a:r>
          </a:p>
          <a:p>
            <a:pPr marL="171450" indent="-171450">
              <a:buFont typeface="Arial" panose="020B0604020202020204" pitchFamily="34" charset="0"/>
              <a:buChar char="•"/>
            </a:pPr>
            <a:r>
              <a:rPr lang="en-US" dirty="0"/>
              <a:t>This mode is used for rounding to plus infinity</a:t>
            </a:r>
          </a:p>
          <a:p>
            <a:pPr marL="171450" indent="-171450">
              <a:buFont typeface="Arial" panose="020B0604020202020204" pitchFamily="34" charset="0"/>
              <a:buChar char="•"/>
            </a:pPr>
            <a:r>
              <a:rPr lang="en-US" dirty="0"/>
              <a:t>Rounds the vale by add the MSB of the removed bits to the remaining bits</a:t>
            </a:r>
          </a:p>
          <a:p>
            <a:pPr marL="171450" indent="-171450">
              <a:buFont typeface="Arial" panose="020B0604020202020204" pitchFamily="34" charset="0"/>
              <a:buChar char="•"/>
            </a:pPr>
            <a:r>
              <a:rPr lang="en-US" dirty="0"/>
              <a:t>Effect is to round towards plus infinity(increase in value)</a:t>
            </a:r>
          </a:p>
          <a:p>
            <a:pPr marL="171450" indent="-171450">
              <a:buFont typeface="Arial" panose="020B0604020202020204" pitchFamily="34" charset="0"/>
              <a:buChar char="•"/>
            </a:pPr>
            <a:r>
              <a:rPr lang="en-US" dirty="0"/>
              <a:t>For example:01.01(1.25 using 4 bits) rounds to 01.1(1.5 using 3 bits)</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10</a:t>
            </a:r>
            <a:r>
              <a:rPr lang="en-US" altLang="zh-CN" dirty="0"/>
              <a:t>.11</a:t>
            </a:r>
            <a:r>
              <a:rPr lang="zh-CN" altLang="en-US" dirty="0"/>
              <a:t>为补码形式，转换为源码为</a:t>
            </a:r>
            <a:r>
              <a:rPr lang="en-US" altLang="zh-CN" dirty="0"/>
              <a:t>11.01</a:t>
            </a:r>
            <a:r>
              <a:rPr lang="zh-CN" altLang="en-US" dirty="0"/>
              <a:t>，符号位不变其余位取反</a:t>
            </a:r>
            <a:r>
              <a:rPr lang="en-US" altLang="zh-CN" dirty="0"/>
              <a:t>+</a:t>
            </a:r>
            <a:r>
              <a:rPr lang="zh-CN" altLang="en-US" dirty="0"/>
              <a:t>最低位</a:t>
            </a:r>
            <a:endParaRPr lang="en-US" dirty="0"/>
          </a:p>
        </p:txBody>
      </p:sp>
    </p:spTree>
    <p:extLst>
      <p:ext uri="{BB962C8B-B14F-4D97-AF65-F5344CB8AC3E}">
        <p14:creationId xmlns:p14="http://schemas.microsoft.com/office/powerpoint/2010/main" val="42211431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AP_RND_MIN:</a:t>
            </a:r>
          </a:p>
          <a:p>
            <a:pPr marL="171450" indent="-171450">
              <a:buFont typeface="Arial" panose="020B0604020202020204" pitchFamily="34" charset="0"/>
              <a:buChar char="•"/>
            </a:pPr>
            <a:r>
              <a:rPr lang="en-US" dirty="0"/>
              <a:t>This mode is used for rounding to minus infinity</a:t>
            </a:r>
          </a:p>
          <a:p>
            <a:pPr marL="171450" indent="-171450">
              <a:buFont typeface="Arial" panose="020B0604020202020204" pitchFamily="34" charset="0"/>
              <a:buChar char="•"/>
            </a:pPr>
            <a:r>
              <a:rPr lang="en-US" dirty="0"/>
              <a:t>Always decrease the value of the number and removes the redundant bits (truncate)</a:t>
            </a:r>
          </a:p>
          <a:p>
            <a:pPr marL="171450" indent="-171450">
              <a:buFont typeface="Arial" panose="020B0604020202020204" pitchFamily="34" charset="0"/>
              <a:buChar char="•"/>
            </a:pPr>
            <a:r>
              <a:rPr lang="en-US" dirty="0"/>
              <a:t>For example:01.01(1.25 using 4 bits) rounds to 01.0(1)</a:t>
            </a:r>
          </a:p>
          <a:p>
            <a:pPr marL="171450" indent="-171450">
              <a:buFont typeface="Arial" panose="020B0604020202020204" pitchFamily="34" charset="0"/>
              <a:buChar char="•"/>
            </a:pPr>
            <a:r>
              <a:rPr lang="en-US" dirty="0"/>
              <a:t>10.11(-1.25 using 4 bits) rounds to 10.1(-1.5) </a:t>
            </a:r>
          </a:p>
          <a:p>
            <a:pPr marL="0" indent="0">
              <a:buFont typeface="Arial" panose="020B0604020202020204" pitchFamily="34" charset="0"/>
              <a:buNone/>
            </a:pPr>
            <a:r>
              <a:rPr lang="en-US" dirty="0"/>
              <a:t>AP_RND_IF:</a:t>
            </a:r>
          </a:p>
          <a:p>
            <a:pPr marL="171450" indent="-171450">
              <a:buFont typeface="Arial" panose="020B0604020202020204" pitchFamily="34" charset="0"/>
              <a:buChar char="•"/>
            </a:pPr>
            <a:r>
              <a:rPr lang="en-US" dirty="0"/>
              <a:t>This mode is used for rounding to infinity</a:t>
            </a:r>
          </a:p>
          <a:p>
            <a:pPr marL="171450" indent="-171450">
              <a:buFont typeface="Arial" panose="020B0604020202020204" pitchFamily="34" charset="0"/>
              <a:buChar char="•"/>
            </a:pPr>
            <a:r>
              <a:rPr lang="en-US" dirty="0"/>
              <a:t>Rounding depends on the least significant bit</a:t>
            </a:r>
          </a:p>
          <a:p>
            <a:pPr marL="171450" indent="-171450">
              <a:buFont typeface="Arial" panose="020B0604020202020204" pitchFamily="34" charset="0"/>
              <a:buChar char="•"/>
            </a:pPr>
            <a:r>
              <a:rPr lang="en-US" dirty="0"/>
              <a:t>Positive numbers are rounded to plus infinity, and the MSB of deleted bits is added to the remaining bits</a:t>
            </a:r>
          </a:p>
          <a:p>
            <a:pPr marL="171450" indent="-171450">
              <a:buFont typeface="Arial" panose="020B0604020202020204" pitchFamily="34" charset="0"/>
              <a:buChar char="•"/>
            </a:pPr>
            <a:r>
              <a:rPr lang="en-US" dirty="0"/>
              <a:t>Negative numbers are rounded to minus infinity, and the redundant bits are truncated</a:t>
            </a:r>
          </a:p>
          <a:p>
            <a:pPr marL="171450" indent="-171450">
              <a:buFont typeface="Arial" panose="020B0604020202020204" pitchFamily="34" charset="0"/>
              <a:buChar char="•"/>
            </a:pPr>
            <a:r>
              <a:rPr lang="en-US" dirty="0"/>
              <a:t>For example:01.01(1.25) -&gt; 01.1(1.5) round up for the positive number</a:t>
            </a:r>
          </a:p>
          <a:p>
            <a:pPr marL="171450" indent="-171450">
              <a:buFont typeface="Arial" panose="020B0604020202020204" pitchFamily="34" charset="0"/>
              <a:buChar char="•"/>
            </a:pPr>
            <a:r>
              <a:rPr lang="en-US" dirty="0"/>
              <a:t>10.11(-1.25) -&gt; 10.1(-1.5) truncation for the negative number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AP_RND:</a:t>
            </a:r>
          </a:p>
          <a:p>
            <a:pPr marL="171450" indent="-171450">
              <a:buFont typeface="Arial" panose="020B0604020202020204" pitchFamily="34" charset="0"/>
              <a:buChar char="•"/>
            </a:pPr>
            <a:r>
              <a:rPr lang="en-US" dirty="0"/>
              <a:t>This mode is used for rounding to plus infinity</a:t>
            </a:r>
          </a:p>
          <a:p>
            <a:pPr marL="171450" indent="-171450">
              <a:buFont typeface="Arial" panose="020B0604020202020204" pitchFamily="34" charset="0"/>
              <a:buChar char="•"/>
            </a:pPr>
            <a:r>
              <a:rPr lang="en-US" dirty="0"/>
              <a:t>Rounds the vale by add the MSB of the removed bits to the remaining bits</a:t>
            </a:r>
          </a:p>
          <a:p>
            <a:pPr marL="171450" indent="-171450">
              <a:buFont typeface="Arial" panose="020B0604020202020204" pitchFamily="34" charset="0"/>
              <a:buChar char="•"/>
            </a:pPr>
            <a:r>
              <a:rPr lang="en-US" dirty="0"/>
              <a:t>Effect is to round towards plus infinity(increase in value)</a:t>
            </a:r>
          </a:p>
          <a:p>
            <a:pPr marL="171450" indent="-171450">
              <a:buFont typeface="Arial" panose="020B0604020202020204" pitchFamily="34" charset="0"/>
              <a:buChar char="•"/>
            </a:pPr>
            <a:r>
              <a:rPr lang="en-US" dirty="0"/>
              <a:t>For example:01.01(1.25 using 4 bits) rounds to 01.1(1.5 using 3 bits)</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10</a:t>
            </a:r>
            <a:r>
              <a:rPr lang="en-US" altLang="zh-CN" dirty="0"/>
              <a:t>.11</a:t>
            </a:r>
            <a:r>
              <a:rPr lang="zh-CN" altLang="en-US" dirty="0"/>
              <a:t>为补码形式，转换为源码为</a:t>
            </a:r>
            <a:r>
              <a:rPr lang="en-US" altLang="zh-CN" dirty="0"/>
              <a:t>11.01</a:t>
            </a:r>
            <a:r>
              <a:rPr lang="zh-CN" altLang="en-US" dirty="0"/>
              <a:t>，符号位不变其余位取反</a:t>
            </a:r>
            <a:r>
              <a:rPr lang="en-US" altLang="zh-CN" dirty="0"/>
              <a:t>+</a:t>
            </a:r>
            <a:r>
              <a:rPr lang="zh-CN" altLang="en-US" dirty="0"/>
              <a:t>最低位</a:t>
            </a:r>
            <a:endParaRPr lang="en-US" dirty="0"/>
          </a:p>
        </p:txBody>
      </p:sp>
    </p:spTree>
    <p:extLst>
      <p:ext uri="{BB962C8B-B14F-4D97-AF65-F5344CB8AC3E}">
        <p14:creationId xmlns:p14="http://schemas.microsoft.com/office/powerpoint/2010/main" val="42211431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AP_RND_ZERO: </a:t>
            </a:r>
          </a:p>
          <a:p>
            <a:pPr marL="171450" indent="-171450">
              <a:buFont typeface="Arial" panose="020B0604020202020204" pitchFamily="34" charset="0"/>
              <a:buChar char="•"/>
            </a:pPr>
            <a:r>
              <a:rPr lang="en-US" dirty="0"/>
              <a:t>This mode is used for rounding to zero.</a:t>
            </a:r>
          </a:p>
          <a:p>
            <a:pPr marL="171450" indent="-171450">
              <a:buFont typeface="Arial" panose="020B0604020202020204" pitchFamily="34" charset="0"/>
              <a:buChar char="•"/>
            </a:pPr>
            <a:r>
              <a:rPr lang="en-US" dirty="0"/>
              <a:t>For positive numbers, redundant bits are truncated.</a:t>
            </a:r>
          </a:p>
          <a:p>
            <a:pPr marL="171450" indent="-171450">
              <a:buFont typeface="Arial" panose="020B0604020202020204" pitchFamily="34" charset="0"/>
              <a:buChar char="•"/>
            </a:pPr>
            <a:r>
              <a:rPr lang="en-US" dirty="0"/>
              <a:t>For negative numbers, add MSB of removed bits to the remaining bits.</a:t>
            </a:r>
          </a:p>
          <a:p>
            <a:pPr marL="171450" indent="-171450">
              <a:buFont typeface="Arial" panose="020B0604020202020204" pitchFamily="34" charset="0"/>
              <a:buChar char="•"/>
            </a:pPr>
            <a:r>
              <a:rPr lang="en-US" dirty="0"/>
              <a:t>Effect is to round towards zero.</a:t>
            </a:r>
          </a:p>
          <a:p>
            <a:pPr marL="171450" indent="-171450">
              <a:buFont typeface="Arial" panose="020B0604020202020204" pitchFamily="34" charset="0"/>
              <a:buChar char="•"/>
            </a:pPr>
            <a:r>
              <a:rPr lang="en-US" dirty="0"/>
              <a:t>For example:01.01(1.25 using 4bits) rounds to 01.0(1 using 3bits)</a:t>
            </a:r>
          </a:p>
          <a:p>
            <a:pPr marL="171450" indent="-171450">
              <a:buFont typeface="Arial" panose="020B0604020202020204" pitchFamily="34" charset="0"/>
              <a:buChar char="•"/>
            </a:pPr>
            <a:r>
              <a:rPr lang="en-US" dirty="0"/>
              <a:t>10.11(-1.25—&gt;0.75?) rounds to 11.0(-1 using 3 bits)</a:t>
            </a:r>
          </a:p>
          <a:p>
            <a:endParaRPr lang="en-US" dirty="0"/>
          </a:p>
          <a:p>
            <a:pPr marL="0" indent="0">
              <a:buFont typeface="Arial" panose="020B0604020202020204" pitchFamily="34" charset="0"/>
              <a:buNone/>
            </a:pPr>
            <a:r>
              <a:rPr lang="en-US" dirty="0"/>
              <a:t>AP_RND_CONV:</a:t>
            </a:r>
          </a:p>
          <a:p>
            <a:pPr marL="171450" indent="-171450">
              <a:buFont typeface="Arial" panose="020B0604020202020204" pitchFamily="34" charset="0"/>
              <a:buChar char="•"/>
            </a:pPr>
            <a:r>
              <a:rPr lang="en-US" dirty="0"/>
              <a:t>This mode is used to round the value to the nearest representable value.</a:t>
            </a:r>
          </a:p>
          <a:p>
            <a:pPr marL="171450" indent="-171450">
              <a:buFont typeface="Arial" panose="020B0604020202020204" pitchFamily="34" charset="0"/>
              <a:buChar char="•"/>
            </a:pPr>
            <a:r>
              <a:rPr lang="en-US" dirty="0"/>
              <a:t>Rounding depends on the least significant bit.</a:t>
            </a:r>
          </a:p>
          <a:p>
            <a:pPr marL="171450" indent="-171450">
              <a:buFont typeface="Arial" panose="020B0604020202020204" pitchFamily="34" charset="0"/>
              <a:buChar char="•"/>
            </a:pPr>
            <a:r>
              <a:rPr lang="en-US" dirty="0"/>
              <a:t>If the least significant bit is set, it rounds towards plus infinity; otherwise, it rounds towards minus infinity</a:t>
            </a:r>
          </a:p>
          <a:p>
            <a:pPr marL="171450" indent="-171450">
              <a:buFont typeface="Arial" panose="020B0604020202020204" pitchFamily="34" charset="0"/>
              <a:buChar char="•"/>
            </a:pPr>
            <a:r>
              <a:rPr lang="en-US" dirty="0"/>
              <a:t>For example: 00.11(0.75 using 4 bits) rounds to 01.0(1.0 using 3 bits)</a:t>
            </a:r>
          </a:p>
          <a:p>
            <a:pPr marL="171450" indent="-171450">
              <a:buFont typeface="Arial" panose="020B0604020202020204" pitchFamily="34" charset="0"/>
              <a:buChar char="•"/>
            </a:pPr>
            <a:r>
              <a:rPr lang="en-US" dirty="0"/>
              <a:t>10.11(-1.25 using 4 bits) rounds to 11.0(-1.0 using 3 bits) </a:t>
            </a:r>
          </a:p>
          <a:p>
            <a:endParaRPr lang="en-US" dirty="0"/>
          </a:p>
        </p:txBody>
      </p:sp>
    </p:spTree>
    <p:extLst>
      <p:ext uri="{BB962C8B-B14F-4D97-AF65-F5344CB8AC3E}">
        <p14:creationId xmlns:p14="http://schemas.microsoft.com/office/powerpoint/2010/main" val="22836254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AP_RND_ZERO: </a:t>
            </a:r>
          </a:p>
          <a:p>
            <a:pPr marL="171450" indent="-171450">
              <a:buFont typeface="Arial" panose="020B0604020202020204" pitchFamily="34" charset="0"/>
              <a:buChar char="•"/>
            </a:pPr>
            <a:r>
              <a:rPr lang="en-US" dirty="0"/>
              <a:t>This mode is used for rounding to zero.</a:t>
            </a:r>
          </a:p>
          <a:p>
            <a:pPr marL="171450" indent="-171450">
              <a:buFont typeface="Arial" panose="020B0604020202020204" pitchFamily="34" charset="0"/>
              <a:buChar char="•"/>
            </a:pPr>
            <a:r>
              <a:rPr lang="en-US" dirty="0"/>
              <a:t>For positive numbers, redundant bits are truncated.</a:t>
            </a:r>
          </a:p>
          <a:p>
            <a:pPr marL="171450" indent="-171450">
              <a:buFont typeface="Arial" panose="020B0604020202020204" pitchFamily="34" charset="0"/>
              <a:buChar char="•"/>
            </a:pPr>
            <a:r>
              <a:rPr lang="en-US" dirty="0"/>
              <a:t>For negative numbers, add MSB of removed bits to the remaining bits.</a:t>
            </a:r>
          </a:p>
          <a:p>
            <a:pPr marL="171450" indent="-171450">
              <a:buFont typeface="Arial" panose="020B0604020202020204" pitchFamily="34" charset="0"/>
              <a:buChar char="•"/>
            </a:pPr>
            <a:r>
              <a:rPr lang="en-US" dirty="0"/>
              <a:t>Effect is to round towards zero.</a:t>
            </a:r>
          </a:p>
          <a:p>
            <a:pPr marL="171450" indent="-171450">
              <a:buFont typeface="Arial" panose="020B0604020202020204" pitchFamily="34" charset="0"/>
              <a:buChar char="•"/>
            </a:pPr>
            <a:r>
              <a:rPr lang="en-US" dirty="0"/>
              <a:t>For example:01.01(1.25 using 4bits) rounds to 01.0(1 using 3bits)</a:t>
            </a:r>
          </a:p>
          <a:p>
            <a:pPr marL="171450" indent="-171450">
              <a:buFont typeface="Arial" panose="020B0604020202020204" pitchFamily="34" charset="0"/>
              <a:buChar char="•"/>
            </a:pPr>
            <a:r>
              <a:rPr lang="en-US" dirty="0"/>
              <a:t>10.11(-1.25—&gt;0.75?) rounds to 11.0(-1 using 3 bits)</a:t>
            </a:r>
          </a:p>
          <a:p>
            <a:endParaRPr lang="en-US" dirty="0"/>
          </a:p>
          <a:p>
            <a:pPr marL="0" indent="0">
              <a:buFont typeface="Arial" panose="020B0604020202020204" pitchFamily="34" charset="0"/>
              <a:buNone/>
            </a:pPr>
            <a:r>
              <a:rPr lang="en-US" dirty="0"/>
              <a:t>AP_RND_CONV:</a:t>
            </a:r>
          </a:p>
          <a:p>
            <a:pPr marL="171450" indent="-171450">
              <a:buFont typeface="Arial" panose="020B0604020202020204" pitchFamily="34" charset="0"/>
              <a:buChar char="•"/>
            </a:pPr>
            <a:r>
              <a:rPr lang="en-US" dirty="0"/>
              <a:t>This mode is used to round the value to the nearest representable value.</a:t>
            </a:r>
          </a:p>
          <a:p>
            <a:pPr marL="171450" indent="-171450">
              <a:buFont typeface="Arial" panose="020B0604020202020204" pitchFamily="34" charset="0"/>
              <a:buChar char="•"/>
            </a:pPr>
            <a:r>
              <a:rPr lang="en-US" dirty="0"/>
              <a:t>Rounding depends on the least significant bit.</a:t>
            </a:r>
          </a:p>
          <a:p>
            <a:pPr marL="171450" indent="-171450">
              <a:buFont typeface="Arial" panose="020B0604020202020204" pitchFamily="34" charset="0"/>
              <a:buChar char="•"/>
            </a:pPr>
            <a:r>
              <a:rPr lang="en-US" dirty="0"/>
              <a:t>If the least significant bit is set, it rounds towards plus infinity; otherwise, it rounds towards minus infinity</a:t>
            </a:r>
          </a:p>
          <a:p>
            <a:pPr marL="171450" indent="-171450">
              <a:buFont typeface="Arial" panose="020B0604020202020204" pitchFamily="34" charset="0"/>
              <a:buChar char="•"/>
            </a:pPr>
            <a:r>
              <a:rPr lang="en-US" dirty="0"/>
              <a:t>For example: 00.11(0.75 using 4 bits) rounds to 01.0(1.0 using 3 bits)</a:t>
            </a:r>
          </a:p>
          <a:p>
            <a:pPr marL="171450" indent="-171450">
              <a:buFont typeface="Arial" panose="020B0604020202020204" pitchFamily="34" charset="0"/>
              <a:buChar char="•"/>
            </a:pPr>
            <a:r>
              <a:rPr lang="en-US" dirty="0"/>
              <a:t>10.11(-1.25 using 4 bits) rounds to 11.0(-1.0 using 3 bits) </a:t>
            </a:r>
          </a:p>
          <a:p>
            <a:endParaRPr lang="en-US" dirty="0"/>
          </a:p>
        </p:txBody>
      </p:sp>
    </p:spTree>
    <p:extLst>
      <p:ext uri="{BB962C8B-B14F-4D97-AF65-F5344CB8AC3E}">
        <p14:creationId xmlns:p14="http://schemas.microsoft.com/office/powerpoint/2010/main" val="22836254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0" indent="0">
              <a:buFont typeface="Arial" panose="020B0604020202020204" pitchFamily="34" charset="0"/>
              <a:buNone/>
            </a:pPr>
            <a:r>
              <a:rPr lang="en-US" dirty="0"/>
              <a:t>AP_TRN:</a:t>
            </a:r>
          </a:p>
          <a:p>
            <a:pPr marL="171450" indent="-171450">
              <a:buFont typeface="Arial" panose="020B0604020202020204" pitchFamily="34" charset="0"/>
              <a:buChar char="•"/>
            </a:pPr>
            <a:r>
              <a:rPr lang="en-US" dirty="0"/>
              <a:t>This mode is used for truncating</a:t>
            </a:r>
          </a:p>
          <a:p>
            <a:pPr marL="171450" indent="-171450">
              <a:buFont typeface="Arial" panose="020B0604020202020204" pitchFamily="34" charset="0"/>
              <a:buChar char="•"/>
            </a:pPr>
            <a:r>
              <a:rPr lang="en-US" dirty="0"/>
              <a:t>Removes the redundant bits and always rounds to minus infinity</a:t>
            </a:r>
          </a:p>
          <a:p>
            <a:pPr marL="171450" indent="-171450">
              <a:buFont typeface="Arial" panose="020B0604020202020204" pitchFamily="34" charset="0"/>
              <a:buChar char="•"/>
            </a:pPr>
            <a:r>
              <a:rPr lang="en-US" dirty="0"/>
              <a:t>For example: 01.01(1.25) -&gt; 01.0(1)</a:t>
            </a:r>
          </a:p>
          <a:p>
            <a:pPr marL="0" indent="0">
              <a:buFont typeface="Arial" panose="020B0604020202020204" pitchFamily="34" charset="0"/>
              <a:buNone/>
            </a:pPr>
            <a:r>
              <a:rPr lang="en-US" dirty="0"/>
              <a:t>AP_TRN_ZERO:</a:t>
            </a:r>
          </a:p>
          <a:p>
            <a:pPr marL="0" indent="0">
              <a:buFont typeface="Arial" panose="020B0604020202020204" pitchFamily="34" charset="0"/>
              <a:buNone/>
            </a:pPr>
            <a:r>
              <a:rPr lang="en-US" dirty="0"/>
              <a:t>This mode is used to truncate to zero</a:t>
            </a:r>
          </a:p>
          <a:p>
            <a:pPr marL="0" indent="0">
              <a:buFont typeface="Arial" panose="020B0604020202020204" pitchFamily="34" charset="0"/>
              <a:buNone/>
            </a:pPr>
            <a:r>
              <a:rPr lang="en-US" dirty="0"/>
              <a:t>For positive numbers, works the same as AP_TRN</a:t>
            </a:r>
          </a:p>
          <a:p>
            <a:pPr marL="0" marR="0" lvl="0" indent="0" algn="l" defTabSz="914400" rtl="0" eaLnBrk="0" fontAlgn="base" latinLnBrk="0" hangingPunct="0">
              <a:lnSpc>
                <a:spcPct val="100000"/>
              </a:lnSpc>
              <a:spcBef>
                <a:spcPct val="30000"/>
              </a:spcBef>
              <a:spcAft>
                <a:spcPct val="0"/>
              </a:spcAft>
              <a:buClrTx/>
              <a:buSzTx/>
              <a:buFont typeface="Arial" panose="020B0604020202020204" pitchFamily="34" charset="0"/>
              <a:buNone/>
              <a:tabLst/>
              <a:defRPr/>
            </a:pPr>
            <a:r>
              <a:rPr lang="en-US" dirty="0"/>
              <a:t>For example: 01.01(1.25) -&gt; 01.0(1)</a:t>
            </a:r>
          </a:p>
          <a:p>
            <a:pPr marL="0" indent="0">
              <a:buFont typeface="Arial" panose="020B0604020202020204" pitchFamily="34" charset="0"/>
              <a:buNone/>
            </a:pPr>
            <a:r>
              <a:rPr lang="en-US" dirty="0"/>
              <a:t>For negative numbers, rounds to zero</a:t>
            </a:r>
          </a:p>
          <a:p>
            <a:pPr marL="0" indent="0">
              <a:buFont typeface="Arial" panose="020B0604020202020204" pitchFamily="34" charset="0"/>
              <a:buNone/>
            </a:pPr>
            <a:r>
              <a:rPr lang="en-US" dirty="0"/>
              <a:t>For example: 10.11(-1.25) -&gt; 11.0(-1)</a:t>
            </a:r>
          </a:p>
          <a:p>
            <a:endParaRPr lang="en-US" dirty="0"/>
          </a:p>
        </p:txBody>
      </p:sp>
    </p:spTree>
    <p:extLst>
      <p:ext uri="{BB962C8B-B14F-4D97-AF65-F5344CB8AC3E}">
        <p14:creationId xmlns:p14="http://schemas.microsoft.com/office/powerpoint/2010/main" val="1978837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0" indent="0">
              <a:buFont typeface="Arial" panose="020B0604020202020204" pitchFamily="34" charset="0"/>
              <a:buNone/>
            </a:pPr>
            <a:r>
              <a:rPr lang="en-US" dirty="0"/>
              <a:t>AP_TRN:</a:t>
            </a:r>
          </a:p>
          <a:p>
            <a:pPr marL="171450" indent="-171450">
              <a:buFont typeface="Arial" panose="020B0604020202020204" pitchFamily="34" charset="0"/>
              <a:buChar char="•"/>
            </a:pPr>
            <a:r>
              <a:rPr lang="en-US" dirty="0"/>
              <a:t>This mode is used for truncating</a:t>
            </a:r>
          </a:p>
          <a:p>
            <a:pPr marL="171450" indent="-171450">
              <a:buFont typeface="Arial" panose="020B0604020202020204" pitchFamily="34" charset="0"/>
              <a:buChar char="•"/>
            </a:pPr>
            <a:r>
              <a:rPr lang="en-US" dirty="0"/>
              <a:t>Removes the redundant bits and always rounds to minus infinity</a:t>
            </a:r>
          </a:p>
          <a:p>
            <a:pPr marL="171450" indent="-171450">
              <a:buFont typeface="Arial" panose="020B0604020202020204" pitchFamily="34" charset="0"/>
              <a:buChar char="•"/>
            </a:pPr>
            <a:r>
              <a:rPr lang="en-US" dirty="0"/>
              <a:t>For example: 01.01(1.25) -&gt; 01.0(1)</a:t>
            </a:r>
          </a:p>
          <a:p>
            <a:pPr marL="0" indent="0">
              <a:buFont typeface="Arial" panose="020B0604020202020204" pitchFamily="34" charset="0"/>
              <a:buNone/>
            </a:pPr>
            <a:r>
              <a:rPr lang="en-US" dirty="0"/>
              <a:t>AP_TRN_ZERO:</a:t>
            </a:r>
          </a:p>
          <a:p>
            <a:pPr marL="0" indent="0">
              <a:buFont typeface="Arial" panose="020B0604020202020204" pitchFamily="34" charset="0"/>
              <a:buNone/>
            </a:pPr>
            <a:r>
              <a:rPr lang="en-US" dirty="0"/>
              <a:t>This mode is used to truncate to zero</a:t>
            </a:r>
          </a:p>
          <a:p>
            <a:pPr marL="0" indent="0">
              <a:buFont typeface="Arial" panose="020B0604020202020204" pitchFamily="34" charset="0"/>
              <a:buNone/>
            </a:pPr>
            <a:r>
              <a:rPr lang="en-US" dirty="0"/>
              <a:t>For positive numbers, works the same as AP_TRN</a:t>
            </a:r>
          </a:p>
          <a:p>
            <a:pPr marL="0" marR="0" lvl="0" indent="0" algn="l" defTabSz="914400" rtl="0" eaLnBrk="0" fontAlgn="base" latinLnBrk="0" hangingPunct="0">
              <a:lnSpc>
                <a:spcPct val="100000"/>
              </a:lnSpc>
              <a:spcBef>
                <a:spcPct val="30000"/>
              </a:spcBef>
              <a:spcAft>
                <a:spcPct val="0"/>
              </a:spcAft>
              <a:buClrTx/>
              <a:buSzTx/>
              <a:buFont typeface="Arial" panose="020B0604020202020204" pitchFamily="34" charset="0"/>
              <a:buNone/>
              <a:tabLst/>
              <a:defRPr/>
            </a:pPr>
            <a:r>
              <a:rPr lang="en-US" dirty="0"/>
              <a:t>For example: 01.01(1.25) -&gt; 01.0(1)</a:t>
            </a:r>
          </a:p>
          <a:p>
            <a:pPr marL="0" indent="0">
              <a:buFont typeface="Arial" panose="020B0604020202020204" pitchFamily="34" charset="0"/>
              <a:buNone/>
            </a:pPr>
            <a:r>
              <a:rPr lang="en-US" dirty="0"/>
              <a:t>For negative numbers, rounds to zero</a:t>
            </a:r>
          </a:p>
          <a:p>
            <a:pPr marL="0" indent="0">
              <a:buFont typeface="Arial" panose="020B0604020202020204" pitchFamily="34" charset="0"/>
              <a:buNone/>
            </a:pPr>
            <a:r>
              <a:rPr lang="en-US" dirty="0"/>
              <a:t>For example: 10.11(-1.25) -&gt; 11.0(-1)</a:t>
            </a:r>
          </a:p>
          <a:p>
            <a:endParaRPr lang="en-US" dirty="0"/>
          </a:p>
        </p:txBody>
      </p:sp>
    </p:spTree>
    <p:extLst>
      <p:ext uri="{BB962C8B-B14F-4D97-AF65-F5344CB8AC3E}">
        <p14:creationId xmlns:p14="http://schemas.microsoft.com/office/powerpoint/2010/main" val="1978837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AP_WRAP: </a:t>
            </a:r>
          </a:p>
          <a:p>
            <a:r>
              <a:rPr lang="en-US" dirty="0"/>
              <a:t>AP_WRAP, N= 0</a:t>
            </a:r>
          </a:p>
          <a:p>
            <a:pPr marL="171450" indent="-171450">
              <a:buFont typeface="Arial" panose="020B0604020202020204" pitchFamily="34" charset="0"/>
              <a:buChar char="•"/>
            </a:pPr>
            <a:r>
              <a:rPr lang="en-US" dirty="0"/>
              <a:t>This mode is the default overflow mode</a:t>
            </a:r>
          </a:p>
          <a:p>
            <a:pPr marL="171450" indent="-171450">
              <a:buFont typeface="Arial" panose="020B0604020202020204" pitchFamily="34" charset="0"/>
              <a:buChar char="•"/>
            </a:pPr>
            <a:r>
              <a:rPr lang="en-US" dirty="0"/>
              <a:t>When N = 0, any MSB bits outside the range are deleted</a:t>
            </a:r>
          </a:p>
          <a:p>
            <a:pPr marL="171450" indent="-171450">
              <a:buFont typeface="Arial" panose="020B0604020202020204" pitchFamily="34" charset="0"/>
              <a:buChar char="•"/>
            </a:pPr>
            <a:r>
              <a:rPr lang="en-US" dirty="0"/>
              <a:t>For the unsigned numbers, it acts as a counter; after MAX wraps, around to zero</a:t>
            </a:r>
          </a:p>
          <a:p>
            <a:pPr marL="171450" indent="-171450">
              <a:buFont typeface="Arial" panose="020B0604020202020204" pitchFamily="34" charset="0"/>
              <a:buChar char="•"/>
            </a:pPr>
            <a:r>
              <a:rPr lang="en-US" dirty="0"/>
              <a:t>For the signed numbers, after MAX, the next value is MIN</a:t>
            </a:r>
          </a:p>
          <a:p>
            <a:pPr marL="628650" lvl="1" indent="-171450">
              <a:buFont typeface="Arial" panose="020B0604020202020204" pitchFamily="34" charset="0"/>
              <a:buChar char="•"/>
            </a:pPr>
            <a:r>
              <a:rPr lang="en-US" dirty="0"/>
              <a:t>For example:0100(4) -&gt; 100(-4)</a:t>
            </a:r>
          </a:p>
          <a:p>
            <a:pPr marL="628650" lvl="1" indent="-171450">
              <a:buFont typeface="Arial" panose="020B0604020202020204" pitchFamily="34" charset="0"/>
              <a:buChar char="•"/>
            </a:pPr>
            <a:r>
              <a:rPr lang="en-US" dirty="0"/>
              <a:t>1011(-5) -&gt; 011(3)</a:t>
            </a:r>
          </a:p>
          <a:p>
            <a:pPr marL="0" lvl="0" indent="0">
              <a:buFont typeface="Arial" panose="020B0604020202020204" pitchFamily="34" charset="0"/>
              <a:buNone/>
            </a:pPr>
            <a:endParaRPr lang="en-US" dirty="0"/>
          </a:p>
          <a:p>
            <a:pPr marL="0" lvl="0" indent="0">
              <a:buFont typeface="Arial" panose="020B0604020202020204" pitchFamily="34" charset="0"/>
              <a:buNone/>
            </a:pPr>
            <a:r>
              <a:rPr lang="en-US" altLang="zh-CN" dirty="0"/>
              <a:t>AP_WRAP, N&gt;0</a:t>
            </a:r>
          </a:p>
          <a:p>
            <a:pPr marL="0" lvl="0" indent="0">
              <a:buFont typeface="Arial" panose="020B0604020202020204" pitchFamily="34" charset="0"/>
              <a:buNone/>
            </a:pPr>
            <a:r>
              <a:rPr lang="en-US" dirty="0"/>
              <a:t>When N&gt;0, then N MSB bits are to be saturated or set to 1</a:t>
            </a:r>
          </a:p>
          <a:p>
            <a:pPr marL="0" lvl="0" indent="0">
              <a:buFont typeface="Arial" panose="020B0604020202020204" pitchFamily="34" charset="0"/>
              <a:buNone/>
            </a:pPr>
            <a:r>
              <a:rPr lang="en-US" dirty="0"/>
              <a:t>Sign bit is retained, so the positive numbers remain positive, and the negative numbers remain negative</a:t>
            </a:r>
          </a:p>
          <a:p>
            <a:pPr marL="0" lvl="0" indent="0">
              <a:buFont typeface="Arial" panose="020B0604020202020204" pitchFamily="34" charset="0"/>
              <a:buNone/>
            </a:pPr>
            <a:r>
              <a:rPr lang="en-US" dirty="0"/>
              <a:t>Bits that are not saturated are copied from the LSB side</a:t>
            </a:r>
          </a:p>
        </p:txBody>
      </p:sp>
    </p:spTree>
    <p:extLst>
      <p:ext uri="{BB962C8B-B14F-4D97-AF65-F5344CB8AC3E}">
        <p14:creationId xmlns:p14="http://schemas.microsoft.com/office/powerpoint/2010/main" val="42487319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AP_WRAP: </a:t>
            </a:r>
          </a:p>
          <a:p>
            <a:r>
              <a:rPr lang="en-US" dirty="0"/>
              <a:t>AP_WRAP, N= 0</a:t>
            </a:r>
          </a:p>
          <a:p>
            <a:pPr marL="171450" indent="-171450">
              <a:buFont typeface="Arial" panose="020B0604020202020204" pitchFamily="34" charset="0"/>
              <a:buChar char="•"/>
            </a:pPr>
            <a:r>
              <a:rPr lang="en-US" dirty="0"/>
              <a:t>This mode is the default overflow mode</a:t>
            </a:r>
          </a:p>
          <a:p>
            <a:pPr marL="171450" indent="-171450">
              <a:buFont typeface="Arial" panose="020B0604020202020204" pitchFamily="34" charset="0"/>
              <a:buChar char="•"/>
            </a:pPr>
            <a:r>
              <a:rPr lang="en-US" dirty="0"/>
              <a:t>When N = 0, any MSB bits outside the range are deleted</a:t>
            </a:r>
          </a:p>
          <a:p>
            <a:pPr marL="171450" indent="-171450">
              <a:buFont typeface="Arial" panose="020B0604020202020204" pitchFamily="34" charset="0"/>
              <a:buChar char="•"/>
            </a:pPr>
            <a:r>
              <a:rPr lang="en-US" dirty="0"/>
              <a:t>For the unsigned numbers, it acts as a counter; after MAX wraps, around to zero</a:t>
            </a:r>
          </a:p>
          <a:p>
            <a:pPr marL="171450" indent="-171450">
              <a:buFont typeface="Arial" panose="020B0604020202020204" pitchFamily="34" charset="0"/>
              <a:buChar char="•"/>
            </a:pPr>
            <a:r>
              <a:rPr lang="en-US" dirty="0"/>
              <a:t>For the signed numbers, after MAX, the next value is MIN</a:t>
            </a:r>
          </a:p>
          <a:p>
            <a:pPr marL="628650" lvl="1" indent="-171450">
              <a:buFont typeface="Arial" panose="020B0604020202020204" pitchFamily="34" charset="0"/>
              <a:buChar char="•"/>
            </a:pPr>
            <a:r>
              <a:rPr lang="en-US" dirty="0"/>
              <a:t>For example:0100(4) -&gt; 100(-4)</a:t>
            </a:r>
          </a:p>
          <a:p>
            <a:pPr marL="628650" lvl="1" indent="-171450">
              <a:buFont typeface="Arial" panose="020B0604020202020204" pitchFamily="34" charset="0"/>
              <a:buChar char="•"/>
            </a:pPr>
            <a:r>
              <a:rPr lang="en-US" dirty="0"/>
              <a:t>1011(-5) -&gt; 011(3)</a:t>
            </a:r>
          </a:p>
          <a:p>
            <a:pPr marL="0" lvl="0" indent="0">
              <a:buFont typeface="Arial" panose="020B0604020202020204" pitchFamily="34" charset="0"/>
              <a:buNone/>
            </a:pPr>
            <a:endParaRPr lang="en-US" dirty="0"/>
          </a:p>
          <a:p>
            <a:pPr marL="0" lvl="0" indent="0">
              <a:buFont typeface="Arial" panose="020B0604020202020204" pitchFamily="34" charset="0"/>
              <a:buNone/>
            </a:pPr>
            <a:r>
              <a:rPr lang="en-US" altLang="zh-CN" dirty="0"/>
              <a:t>AP_WRAP, N&gt;0</a:t>
            </a:r>
          </a:p>
          <a:p>
            <a:pPr marL="0" lvl="0" indent="0">
              <a:buFont typeface="Arial" panose="020B0604020202020204" pitchFamily="34" charset="0"/>
              <a:buNone/>
            </a:pPr>
            <a:r>
              <a:rPr lang="en-US" dirty="0"/>
              <a:t>When N&gt;0, then N MSB bits are to be saturated or set to 1</a:t>
            </a:r>
          </a:p>
          <a:p>
            <a:pPr marL="0" lvl="0" indent="0">
              <a:buFont typeface="Arial" panose="020B0604020202020204" pitchFamily="34" charset="0"/>
              <a:buNone/>
            </a:pPr>
            <a:r>
              <a:rPr lang="en-US" dirty="0"/>
              <a:t>Sign bit is retained, so the positive numbers remain positive, and the negative numbers remain negative</a:t>
            </a:r>
          </a:p>
          <a:p>
            <a:pPr marL="0" lvl="0" indent="0">
              <a:buFont typeface="Arial" panose="020B0604020202020204" pitchFamily="34" charset="0"/>
              <a:buNone/>
            </a:pPr>
            <a:r>
              <a:rPr lang="en-US" dirty="0"/>
              <a:t>Bits that are not saturated are copied from the LSB side</a:t>
            </a:r>
          </a:p>
        </p:txBody>
      </p:sp>
    </p:spTree>
    <p:extLst>
      <p:ext uri="{BB962C8B-B14F-4D97-AF65-F5344CB8AC3E}">
        <p14:creationId xmlns:p14="http://schemas.microsoft.com/office/powerpoint/2010/main" val="42487319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625145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6251457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41563490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41563490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Rot="1" noChangeAspect="1" noTextEdit="1"/>
          </p:cNvSpPr>
          <p:nvPr>
            <p:ph type="sldImg"/>
          </p:nvPr>
        </p:nvSpPr>
        <p:spPr bwMode="auto">
          <a:xfrm>
            <a:off x="471488" y="711200"/>
            <a:ext cx="6375400" cy="3586163"/>
          </a:xfrm>
          <a:noFill/>
          <a:ln>
            <a:solidFill>
              <a:srgbClr val="000000"/>
            </a:solidFill>
            <a:miter lim="800000"/>
            <a:headEnd/>
            <a:tailEnd/>
          </a:ln>
        </p:spPr>
      </p:sp>
      <p:sp>
        <p:nvSpPr>
          <p:cNvPr id="25602" name="Rectangle 3"/>
          <p:cNvSpPr>
            <a:spLocks noGrp="1"/>
          </p:cNvSpPr>
          <p:nvPr>
            <p:ph type="body" idx="1"/>
          </p:nvPr>
        </p:nvSpPr>
        <p:spPr bwMode="auto">
          <a:xfrm>
            <a:off x="1005369" y="4559544"/>
            <a:ext cx="5304465" cy="4350971"/>
          </a:xfrm>
          <a:noFill/>
        </p:spPr>
        <p:txBody>
          <a:bodyPr/>
          <a:lstStyle/>
          <a:p>
            <a:r>
              <a:rPr lang="en-US" altLang="zh-CN" dirty="0">
                <a:ea typeface="宋体" charset="-122"/>
              </a:rPr>
              <a:t>https://www.xilinx.com/support/documentation/ip_documentation/floating_point/v7_1/pg060-floating-point.pdf </a:t>
            </a:r>
          </a:p>
          <a:p>
            <a:r>
              <a:rPr lang="en-US" altLang="zh-CN" dirty="0">
                <a:ea typeface="宋体" charset="-122"/>
              </a:rPr>
              <a:t>page 4</a:t>
            </a:r>
          </a:p>
          <a:p>
            <a:endParaRPr lang="zh-CN" altLang="en-US" dirty="0">
              <a:ea typeface="宋体" charset="-122"/>
            </a:endParaRPr>
          </a:p>
        </p:txBody>
      </p:sp>
    </p:spTree>
    <p:extLst>
      <p:ext uri="{BB962C8B-B14F-4D97-AF65-F5344CB8AC3E}">
        <p14:creationId xmlns:p14="http://schemas.microsoft.com/office/powerpoint/2010/main" val="533012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Rot="1" noChangeAspect="1" noTextEdit="1"/>
          </p:cNvSpPr>
          <p:nvPr>
            <p:ph type="sldImg"/>
          </p:nvPr>
        </p:nvSpPr>
        <p:spPr bwMode="auto">
          <a:xfrm>
            <a:off x="473075" y="711200"/>
            <a:ext cx="6372225" cy="3586163"/>
          </a:xfrm>
          <a:noFill/>
          <a:ln>
            <a:solidFill>
              <a:srgbClr val="000000"/>
            </a:solidFill>
            <a:miter lim="800000"/>
            <a:headEnd/>
            <a:tailEnd/>
          </a:ln>
        </p:spPr>
      </p:sp>
      <p:sp>
        <p:nvSpPr>
          <p:cNvPr id="25602" name="Rectangle 3"/>
          <p:cNvSpPr>
            <a:spLocks noGrp="1"/>
          </p:cNvSpPr>
          <p:nvPr>
            <p:ph type="body" idx="1"/>
          </p:nvPr>
        </p:nvSpPr>
        <p:spPr bwMode="auto">
          <a:xfrm>
            <a:off x="1005369" y="4559544"/>
            <a:ext cx="5304465" cy="4350971"/>
          </a:xfrm>
          <a:noFill/>
        </p:spPr>
        <p:txBody>
          <a:bodyPr/>
          <a:lstStyle/>
          <a:p>
            <a:r>
              <a:rPr lang="en-US" altLang="zh-CN" dirty="0">
                <a:ea typeface="宋体" charset="-122"/>
              </a:rPr>
              <a:t>https://www.xilinx.com/support/documentation/ip_documentation/floating_point/v7_1/pg060-floating-point.pdf </a:t>
            </a:r>
          </a:p>
          <a:p>
            <a:r>
              <a:rPr lang="en-US" altLang="zh-CN" dirty="0">
                <a:ea typeface="宋体" charset="-122"/>
              </a:rPr>
              <a:t>page 4</a:t>
            </a:r>
          </a:p>
          <a:p>
            <a:endParaRPr lang="zh-CN" altLang="en-US" dirty="0">
              <a:ea typeface="宋体" charset="-122"/>
            </a:endParaRPr>
          </a:p>
        </p:txBody>
      </p:sp>
    </p:spTree>
    <p:extLst>
      <p:ext uri="{BB962C8B-B14F-4D97-AF65-F5344CB8AC3E}">
        <p14:creationId xmlns:p14="http://schemas.microsoft.com/office/powerpoint/2010/main" val="533012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https://www.xilinx.com/support/documentation/sw_manuals/xilinx2017_4/ug902-vivado-high-level-synthesis.pdf</a:t>
            </a:r>
          </a:p>
        </p:txBody>
      </p:sp>
    </p:spTree>
    <p:extLst>
      <p:ext uri="{BB962C8B-B14F-4D97-AF65-F5344CB8AC3E}">
        <p14:creationId xmlns:p14="http://schemas.microsoft.com/office/powerpoint/2010/main" val="13433633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https://www.xilinx.com/support/documentation/sw_manuals/xilinx2017_4/ug902-vivado-high-level-synthesis.pdf</a:t>
            </a:r>
          </a:p>
          <a:p>
            <a:endParaRPr lang="en-US" dirty="0"/>
          </a:p>
        </p:txBody>
      </p:sp>
    </p:spTree>
    <p:extLst>
      <p:ext uri="{BB962C8B-B14F-4D97-AF65-F5344CB8AC3E}">
        <p14:creationId xmlns:p14="http://schemas.microsoft.com/office/powerpoint/2010/main" val="32529114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Replace </a:t>
            </a:r>
            <a:r>
              <a:rPr lang="en-US" dirty="0" err="1"/>
              <a:t>math.h</a:t>
            </a:r>
            <a:r>
              <a:rPr lang="en-US" dirty="0"/>
              <a:t> or </a:t>
            </a:r>
            <a:r>
              <a:rPr lang="en-US" dirty="0" err="1"/>
              <a:t>cmath.h</a:t>
            </a:r>
            <a:r>
              <a:rPr lang="en-US" dirty="0"/>
              <a:t> with </a:t>
            </a:r>
            <a:r>
              <a:rPr lang="en-US" dirty="0" err="1"/>
              <a:t>hls_math.h</a:t>
            </a:r>
            <a:r>
              <a:rPr lang="en-US" dirty="0"/>
              <a:t> or to add the files </a:t>
            </a:r>
            <a:r>
              <a:rPr lang="en-US" dirty="0" err="1"/>
              <a:t>hls_lib.c</a:t>
            </a:r>
            <a:r>
              <a:rPr lang="en-US" dirty="0"/>
              <a:t> and keep math/</a:t>
            </a:r>
            <a:r>
              <a:rPr lang="en-US" dirty="0" err="1"/>
              <a:t>cmath.h</a:t>
            </a:r>
            <a:endParaRPr lang="en-US" dirty="0"/>
          </a:p>
        </p:txBody>
      </p:sp>
    </p:spTree>
    <p:extLst>
      <p:ext uri="{BB962C8B-B14F-4D97-AF65-F5344CB8AC3E}">
        <p14:creationId xmlns:p14="http://schemas.microsoft.com/office/powerpoint/2010/main" val="405975459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348735205"/>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itle Slide Layout (Custom Graphic)">
    <p:bg>
      <p:bgPr>
        <a:solidFill>
          <a:schemeClr val="bg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1F99C1-A850-AA46-A3A6-13755C4E5C56}"/>
              </a:ext>
            </a:extLst>
          </p:cNvPr>
          <p:cNvPicPr>
            <a:picLocks noChangeAspect="1"/>
          </p:cNvPicPr>
          <p:nvPr/>
        </p:nvPicPr>
        <p:blipFill>
          <a:blip r:embed="rId2">
            <a:alphaModFix amt="10000"/>
            <a:extLst>
              <a:ext uri="{28A0092B-C50C-407E-A947-70E740481C1C}">
                <a14:useLocalDpi xmlns:a14="http://schemas.microsoft.com/office/drawing/2010/main" val="0"/>
              </a:ext>
            </a:extLst>
          </a:blip>
          <a:stretch>
            <a:fillRect/>
          </a:stretch>
        </p:blipFill>
        <p:spPr>
          <a:xfrm>
            <a:off x="1" y="-36231"/>
            <a:ext cx="8384875" cy="6894231"/>
          </a:xfrm>
          <a:prstGeom prst="rect">
            <a:avLst/>
          </a:prstGeom>
        </p:spPr>
      </p:pic>
      <p:sp>
        <p:nvSpPr>
          <p:cNvPr id="13" name="Title 1"/>
          <p:cNvSpPr>
            <a:spLocks noGrp="1"/>
          </p:cNvSpPr>
          <p:nvPr>
            <p:ph type="ctrTitle" hasCustomPrompt="1"/>
          </p:nvPr>
        </p:nvSpPr>
        <p:spPr>
          <a:xfrm>
            <a:off x="872570" y="2122996"/>
            <a:ext cx="6259750" cy="757130"/>
          </a:xfrm>
        </p:spPr>
        <p:txBody>
          <a:bodyPr anchor="t">
            <a:norm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2" name="Name, Title, Date"/>
          <p:cNvSpPr>
            <a:spLocks noGrp="1"/>
          </p:cNvSpPr>
          <p:nvPr>
            <p:ph type="subTitle" idx="1" hasCustomPrompt="1"/>
          </p:nvPr>
        </p:nvSpPr>
        <p:spPr>
          <a:xfrm>
            <a:off x="872570" y="4513635"/>
            <a:ext cx="4877066" cy="1092607"/>
          </a:xfrm>
        </p:spPr>
        <p:txBody>
          <a:bodyPr>
            <a:norm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14"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6" name="object 6">
            <a:extLst>
              <a:ext uri="{FF2B5EF4-FFF2-40B4-BE49-F238E27FC236}">
                <a16:creationId xmlns:a16="http://schemas.microsoft.com/office/drawing/2014/main" id="{79F46B48-C01A-1340-8C6B-DA07FABAAD3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0" name="object 6">
            <a:extLst>
              <a:ext uri="{FF2B5EF4-FFF2-40B4-BE49-F238E27FC236}">
                <a16:creationId xmlns:a16="http://schemas.microsoft.com/office/drawing/2014/main" id="{529EC48C-88EC-4F48-B6BB-B7BB27D37DBD}"/>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4" name="object 6">
            <a:extLst>
              <a:ext uri="{FF2B5EF4-FFF2-40B4-BE49-F238E27FC236}">
                <a16:creationId xmlns:a16="http://schemas.microsoft.com/office/drawing/2014/main" id="{14E96798-EC8B-FA4C-AC7D-DE75AF3811A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Rectangle 2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5" name="Picture 24" descr="ww.png">
            <a:extLst>
              <a:ext uri="{FF2B5EF4-FFF2-40B4-BE49-F238E27FC236}">
                <a16:creationId xmlns:a16="http://schemas.microsoft.com/office/drawing/2014/main" id="{6CB568A7-486F-7E43-8841-829B657830D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26" name="object 6">
            <a:extLst>
              <a:ext uri="{FF2B5EF4-FFF2-40B4-BE49-F238E27FC236}">
                <a16:creationId xmlns:a16="http://schemas.microsoft.com/office/drawing/2014/main" id="{55A0589D-3199-824F-BB2E-0165FD1B46B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0" name="object 6">
            <a:extLst>
              <a:ext uri="{FF2B5EF4-FFF2-40B4-BE49-F238E27FC236}">
                <a16:creationId xmlns:a16="http://schemas.microsoft.com/office/drawing/2014/main" id="{4AB8CBEA-6665-9A4C-BAFF-830C38095BF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2" name="Picture 31">
            <a:extLst>
              <a:ext uri="{FF2B5EF4-FFF2-40B4-BE49-F238E27FC236}">
                <a16:creationId xmlns:a16="http://schemas.microsoft.com/office/drawing/2014/main" id="{BBC7CEB1-422C-D04C-9AF5-6F9B7A7142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5" name="object 6">
            <a:extLst>
              <a:ext uri="{FF2B5EF4-FFF2-40B4-BE49-F238E27FC236}">
                <a16:creationId xmlns:a16="http://schemas.microsoft.com/office/drawing/2014/main" id="{C6EFF017-BB71-2946-8429-D5C445CE839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CD59F683-89D6-C24E-B6D3-272BC62A268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8" name="object 6">
            <a:extLst>
              <a:ext uri="{FF2B5EF4-FFF2-40B4-BE49-F238E27FC236}">
                <a16:creationId xmlns:a16="http://schemas.microsoft.com/office/drawing/2014/main" id="{BCF7B235-4328-1747-AC5E-57DC6D753214}"/>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9" name="Picture 18">
            <a:extLst>
              <a:ext uri="{FF2B5EF4-FFF2-40B4-BE49-F238E27FC236}">
                <a16:creationId xmlns:a16="http://schemas.microsoft.com/office/drawing/2014/main" id="{6A880B90-D46C-0D44-8AFE-4A062DD38A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1" name="object 6">
            <a:extLst>
              <a:ext uri="{FF2B5EF4-FFF2-40B4-BE49-F238E27FC236}">
                <a16:creationId xmlns:a16="http://schemas.microsoft.com/office/drawing/2014/main" id="{EC8AB604-7AB0-AA4A-8D3F-975F013C2F5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2" name="Picture 21">
            <a:extLst>
              <a:ext uri="{FF2B5EF4-FFF2-40B4-BE49-F238E27FC236}">
                <a16:creationId xmlns:a16="http://schemas.microsoft.com/office/drawing/2014/main" id="{4D0C4FA3-D3E2-BF43-880D-3DA206335E1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1904172281"/>
      </p:ext>
    </p:extLst>
  </p:cSld>
  <p:clrMapOvr>
    <a:overrideClrMapping bg1="dk1" tx1="lt1" bg2="dk2" tx2="lt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3" name="Name, Title, Date"/>
          <p:cNvSpPr>
            <a:spLocks noGrp="1"/>
          </p:cNvSpPr>
          <p:nvPr>
            <p:ph type="subTitle" idx="1" hasCustomPrompt="1"/>
          </p:nvPr>
        </p:nvSpPr>
        <p:spPr>
          <a:xfrm>
            <a:off x="872570" y="4513635"/>
            <a:ext cx="7417990" cy="1092607"/>
          </a:xfrm>
        </p:spPr>
        <p:txBody>
          <a:bodyPr wrap="square">
            <a:sp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2" name="Title 1"/>
          <p:cNvSpPr>
            <a:spLocks noGrp="1"/>
          </p:cNvSpPr>
          <p:nvPr>
            <p:ph type="ctrTitle" hasCustomPrompt="1"/>
          </p:nvPr>
        </p:nvSpPr>
        <p:spPr>
          <a:xfrm>
            <a:off x="872570" y="2122996"/>
            <a:ext cx="7417990" cy="707886"/>
          </a:xfrm>
        </p:spPr>
        <p:txBody>
          <a:bodyPr wrap="square" anchor="t">
            <a:sp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0"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8" name="object 6">
            <a:extLst>
              <a:ext uri="{FF2B5EF4-FFF2-40B4-BE49-F238E27FC236}">
                <a16:creationId xmlns:a16="http://schemas.microsoft.com/office/drawing/2014/main" id="{F6833D8A-D81B-AA4D-BC0C-B9F9B99BDC1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3" name="object 6">
            <a:extLst>
              <a:ext uri="{FF2B5EF4-FFF2-40B4-BE49-F238E27FC236}">
                <a16:creationId xmlns:a16="http://schemas.microsoft.com/office/drawing/2014/main" id="{6DC90665-93DD-BA43-AEB2-9473ED9E14A5}"/>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7" name="object 6">
            <a:extLst>
              <a:ext uri="{FF2B5EF4-FFF2-40B4-BE49-F238E27FC236}">
                <a16:creationId xmlns:a16="http://schemas.microsoft.com/office/drawing/2014/main" id="{B1B3D47F-2C53-4E4B-A632-F9836852D486}"/>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6" name="Rectangle 5"/>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0" name="Picture 19" descr="ww.png">
            <a:extLst>
              <a:ext uri="{FF2B5EF4-FFF2-40B4-BE49-F238E27FC236}">
                <a16:creationId xmlns:a16="http://schemas.microsoft.com/office/drawing/2014/main" id="{BD515A1B-E781-9542-B11E-020D7530B53B}"/>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18" name="object 6">
            <a:extLst>
              <a:ext uri="{FF2B5EF4-FFF2-40B4-BE49-F238E27FC236}">
                <a16:creationId xmlns:a16="http://schemas.microsoft.com/office/drawing/2014/main" id="{30CB90D7-B2ED-5F4B-9C4A-4C5F388B660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2" name="object 6">
            <a:extLst>
              <a:ext uri="{FF2B5EF4-FFF2-40B4-BE49-F238E27FC236}">
                <a16:creationId xmlns:a16="http://schemas.microsoft.com/office/drawing/2014/main" id="{B3322536-4D68-4C45-93CB-EBED08E3CB52}"/>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5" name="Picture 4">
            <a:extLst>
              <a:ext uri="{FF2B5EF4-FFF2-40B4-BE49-F238E27FC236}">
                <a16:creationId xmlns:a16="http://schemas.microsoft.com/office/drawing/2014/main" id="{A2289EF4-0CD0-CE40-B328-01966A945EE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4" name="object 6">
            <a:extLst>
              <a:ext uri="{FF2B5EF4-FFF2-40B4-BE49-F238E27FC236}">
                <a16:creationId xmlns:a16="http://schemas.microsoft.com/office/drawing/2014/main" id="{8C16838A-F495-2546-9F44-BF6397F12E0C}"/>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5" name="Picture 14">
            <a:extLst>
              <a:ext uri="{FF2B5EF4-FFF2-40B4-BE49-F238E27FC236}">
                <a16:creationId xmlns:a16="http://schemas.microsoft.com/office/drawing/2014/main" id="{3D4E9A42-40D8-6146-BC40-79DAE6208D2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9" name="object 6">
            <a:extLst>
              <a:ext uri="{FF2B5EF4-FFF2-40B4-BE49-F238E27FC236}">
                <a16:creationId xmlns:a16="http://schemas.microsoft.com/office/drawing/2014/main" id="{2EF15590-5F1E-D542-BD85-EFD08C30A69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1" name="Picture 20">
            <a:extLst>
              <a:ext uri="{FF2B5EF4-FFF2-40B4-BE49-F238E27FC236}">
                <a16:creationId xmlns:a16="http://schemas.microsoft.com/office/drawing/2014/main" id="{67CB4086-1311-4B49-818E-1966244940C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4" name="object 6">
            <a:extLst>
              <a:ext uri="{FF2B5EF4-FFF2-40B4-BE49-F238E27FC236}">
                <a16:creationId xmlns:a16="http://schemas.microsoft.com/office/drawing/2014/main" id="{F0122A65-85C0-6541-8107-BF11595575F3}"/>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5" name="Picture 24">
            <a:extLst>
              <a:ext uri="{FF2B5EF4-FFF2-40B4-BE49-F238E27FC236}">
                <a16:creationId xmlns:a16="http://schemas.microsoft.com/office/drawing/2014/main" id="{46713B90-AF64-CD41-A82E-7B206B39F3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3233678794"/>
      </p:ext>
    </p:extLst>
  </p:cSld>
  <p:clrMapOvr>
    <a:overrideClrMapping bg1="dk1" tx1="lt1" bg2="dk2" tx2="lt2" accent1="accent1" accent2="accent2" accent3="accent3" accent4="accent4" accent5="accent5" accent6="accent6" hlink="hlink" folHlink="folHlink"/>
  </p:clrMapOvr>
  <p:hf hd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Slide Layout (Custom Graphic)">
    <p:bg>
      <p:bgPr>
        <a:solidFill>
          <a:schemeClr val="bg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1F99C1-A850-AA46-A3A6-13755C4E5C56}"/>
              </a:ext>
            </a:extLst>
          </p:cNvPr>
          <p:cNvPicPr>
            <a:picLocks noChangeAspect="1"/>
          </p:cNvPicPr>
          <p:nvPr/>
        </p:nvPicPr>
        <p:blipFill>
          <a:blip r:embed="rId2">
            <a:alphaModFix amt="10000"/>
            <a:extLst>
              <a:ext uri="{28A0092B-C50C-407E-A947-70E740481C1C}">
                <a14:useLocalDpi xmlns:a14="http://schemas.microsoft.com/office/drawing/2010/main" val="0"/>
              </a:ext>
            </a:extLst>
          </a:blip>
          <a:stretch>
            <a:fillRect/>
          </a:stretch>
        </p:blipFill>
        <p:spPr>
          <a:xfrm>
            <a:off x="1" y="-36231"/>
            <a:ext cx="8384875" cy="6894231"/>
          </a:xfrm>
          <a:prstGeom prst="rect">
            <a:avLst/>
          </a:prstGeom>
        </p:spPr>
      </p:pic>
      <p:sp>
        <p:nvSpPr>
          <p:cNvPr id="13" name="Title 1"/>
          <p:cNvSpPr>
            <a:spLocks noGrp="1"/>
          </p:cNvSpPr>
          <p:nvPr>
            <p:ph type="ctrTitle" hasCustomPrompt="1"/>
          </p:nvPr>
        </p:nvSpPr>
        <p:spPr>
          <a:xfrm>
            <a:off x="872570" y="2122996"/>
            <a:ext cx="6259750" cy="757130"/>
          </a:xfrm>
        </p:spPr>
        <p:txBody>
          <a:bodyPr anchor="t">
            <a:norm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2" name="Name, Title, Date"/>
          <p:cNvSpPr>
            <a:spLocks noGrp="1"/>
          </p:cNvSpPr>
          <p:nvPr>
            <p:ph type="subTitle" idx="1" hasCustomPrompt="1"/>
          </p:nvPr>
        </p:nvSpPr>
        <p:spPr>
          <a:xfrm>
            <a:off x="872570" y="4513635"/>
            <a:ext cx="4877066" cy="1092607"/>
          </a:xfrm>
        </p:spPr>
        <p:txBody>
          <a:bodyPr>
            <a:norm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14"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6" name="object 6">
            <a:extLst>
              <a:ext uri="{FF2B5EF4-FFF2-40B4-BE49-F238E27FC236}">
                <a16:creationId xmlns:a16="http://schemas.microsoft.com/office/drawing/2014/main" id="{79F46B48-C01A-1340-8C6B-DA07FABAAD3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0" name="object 6">
            <a:extLst>
              <a:ext uri="{FF2B5EF4-FFF2-40B4-BE49-F238E27FC236}">
                <a16:creationId xmlns:a16="http://schemas.microsoft.com/office/drawing/2014/main" id="{529EC48C-88EC-4F48-B6BB-B7BB27D37DBD}"/>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4" name="object 6">
            <a:extLst>
              <a:ext uri="{FF2B5EF4-FFF2-40B4-BE49-F238E27FC236}">
                <a16:creationId xmlns:a16="http://schemas.microsoft.com/office/drawing/2014/main" id="{14E96798-EC8B-FA4C-AC7D-DE75AF3811A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Rectangle 2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5" name="Picture 24" descr="ww.png">
            <a:extLst>
              <a:ext uri="{FF2B5EF4-FFF2-40B4-BE49-F238E27FC236}">
                <a16:creationId xmlns:a16="http://schemas.microsoft.com/office/drawing/2014/main" id="{6CB568A7-486F-7E43-8841-829B657830D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26" name="object 6">
            <a:extLst>
              <a:ext uri="{FF2B5EF4-FFF2-40B4-BE49-F238E27FC236}">
                <a16:creationId xmlns:a16="http://schemas.microsoft.com/office/drawing/2014/main" id="{55A0589D-3199-824F-BB2E-0165FD1B46B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0" name="object 6">
            <a:extLst>
              <a:ext uri="{FF2B5EF4-FFF2-40B4-BE49-F238E27FC236}">
                <a16:creationId xmlns:a16="http://schemas.microsoft.com/office/drawing/2014/main" id="{4AB8CBEA-6665-9A4C-BAFF-830C38095BF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2" name="Picture 31">
            <a:extLst>
              <a:ext uri="{FF2B5EF4-FFF2-40B4-BE49-F238E27FC236}">
                <a16:creationId xmlns:a16="http://schemas.microsoft.com/office/drawing/2014/main" id="{BBC7CEB1-422C-D04C-9AF5-6F9B7A7142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5" name="object 6">
            <a:extLst>
              <a:ext uri="{FF2B5EF4-FFF2-40B4-BE49-F238E27FC236}">
                <a16:creationId xmlns:a16="http://schemas.microsoft.com/office/drawing/2014/main" id="{C6EFF017-BB71-2946-8429-D5C445CE839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CD59F683-89D6-C24E-B6D3-272BC62A268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8" name="object 6">
            <a:extLst>
              <a:ext uri="{FF2B5EF4-FFF2-40B4-BE49-F238E27FC236}">
                <a16:creationId xmlns:a16="http://schemas.microsoft.com/office/drawing/2014/main" id="{BCF7B235-4328-1747-AC5E-57DC6D753214}"/>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9" name="Picture 18">
            <a:extLst>
              <a:ext uri="{FF2B5EF4-FFF2-40B4-BE49-F238E27FC236}">
                <a16:creationId xmlns:a16="http://schemas.microsoft.com/office/drawing/2014/main" id="{6A880B90-D46C-0D44-8AFE-4A062DD38A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1" name="object 6">
            <a:extLst>
              <a:ext uri="{FF2B5EF4-FFF2-40B4-BE49-F238E27FC236}">
                <a16:creationId xmlns:a16="http://schemas.microsoft.com/office/drawing/2014/main" id="{EC8AB604-7AB0-AA4A-8D3F-975F013C2F5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2" name="Picture 21">
            <a:extLst>
              <a:ext uri="{FF2B5EF4-FFF2-40B4-BE49-F238E27FC236}">
                <a16:creationId xmlns:a16="http://schemas.microsoft.com/office/drawing/2014/main" id="{4D0C4FA3-D3E2-BF43-880D-3DA206335E1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3981591511"/>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Agenda Slide">
    <p:bg>
      <p:bgPr>
        <a:solidFill>
          <a:schemeClr val="bg2"/>
        </a:solidFill>
        <a:effectLst/>
      </p:bgPr>
    </p:bg>
    <p:spTree>
      <p:nvGrpSpPr>
        <p:cNvPr id="1" name=""/>
        <p:cNvGrpSpPr/>
        <p:nvPr/>
      </p:nvGrpSpPr>
      <p:grpSpPr>
        <a:xfrm>
          <a:off x="0" y="0"/>
          <a:ext cx="0" cy="0"/>
          <a:chOff x="0" y="0"/>
          <a:chExt cx="0" cy="0"/>
        </a:xfrm>
      </p:grpSpPr>
      <p:sp>
        <p:nvSpPr>
          <p:cNvPr id="10"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1" name="Picture 10" descr="ww.png"/>
          <p:cNvPicPr>
            <a:picLocks noChangeAspect="1"/>
          </p:cNvPicPr>
          <p:nvPr/>
        </p:nvPicPr>
        <p:blipFill rotWithShape="1">
          <a:blip r:embed="rId2" cstate="print">
            <a:extLst>
              <a:ext uri="{28A0092B-C50C-407E-A947-70E740481C1C}">
                <a14:useLocalDpi xmlns:a14="http://schemas.microsoft.com/office/drawing/2010/main" val="0"/>
              </a:ext>
            </a:extLst>
          </a:blip>
          <a:srcRect b="3185"/>
          <a:stretch/>
        </p:blipFill>
        <p:spPr>
          <a:xfrm>
            <a:off x="8912570" y="2"/>
            <a:ext cx="3279430" cy="6858001"/>
          </a:xfrm>
          <a:prstGeom prst="rect">
            <a:avLst/>
          </a:prstGeom>
        </p:spPr>
      </p:pic>
      <p:sp>
        <p:nvSpPr>
          <p:cNvPr id="7" name="Title 1">
            <a:extLst>
              <a:ext uri="{FF2B5EF4-FFF2-40B4-BE49-F238E27FC236}">
                <a16:creationId xmlns:a16="http://schemas.microsoft.com/office/drawing/2014/main" id="{E89E807F-F94B-F442-B5BC-972820E2E7DF}"/>
              </a:ext>
            </a:extLst>
          </p:cNvPr>
          <p:cNvSpPr>
            <a:spLocks noGrp="1"/>
          </p:cNvSpPr>
          <p:nvPr>
            <p:ph type="title" hasCustomPrompt="1"/>
          </p:nvPr>
        </p:nvSpPr>
        <p:spPr>
          <a:xfrm>
            <a:off x="621793" y="210312"/>
            <a:ext cx="10541508" cy="502920"/>
          </a:xfrm>
        </p:spPr>
        <p:txBody>
          <a:bodyPr/>
          <a:lstStyle>
            <a:lvl1pPr>
              <a:defRPr/>
            </a:lvl1pPr>
          </a:lstStyle>
          <a:p>
            <a:r>
              <a:rPr lang="en-US" dirty="0"/>
              <a:t>Agenda Slide</a:t>
            </a:r>
          </a:p>
        </p:txBody>
      </p:sp>
      <p:sp>
        <p:nvSpPr>
          <p:cNvPr id="8" name="Content Placeholder 2">
            <a:extLst>
              <a:ext uri="{FF2B5EF4-FFF2-40B4-BE49-F238E27FC236}">
                <a16:creationId xmlns:a16="http://schemas.microsoft.com/office/drawing/2014/main" id="{9A49FD6F-DB7C-B74F-8B28-DE0F77ACFB62}"/>
              </a:ext>
            </a:extLst>
          </p:cNvPr>
          <p:cNvSpPr>
            <a:spLocks noGrp="1"/>
          </p:cNvSpPr>
          <p:nvPr>
            <p:ph idx="1" hasCustomPrompt="1"/>
          </p:nvPr>
        </p:nvSpPr>
        <p:spPr>
          <a:xfrm>
            <a:off x="647700" y="1463040"/>
            <a:ext cx="10515600" cy="4759404"/>
          </a:xfrm>
        </p:spPr>
        <p:txBody>
          <a:bodyPr>
            <a:normAutofit/>
          </a:bodyPr>
          <a:lstStyle>
            <a:lvl1pPr>
              <a:lnSpc>
                <a:spcPct val="150000"/>
              </a:lnSpc>
              <a:defRPr sz="2799" b="0" baseline="0">
                <a:solidFill>
                  <a:schemeClr val="tx1"/>
                </a:solidFill>
              </a:defRPr>
            </a:lvl1pPr>
            <a:lvl2pPr>
              <a:defRPr>
                <a:solidFill>
                  <a:schemeClr val="accent3">
                    <a:lumMod val="50000"/>
                  </a:schemeClr>
                </a:solidFill>
              </a:defRPr>
            </a:lvl2pPr>
            <a:lvl3pPr>
              <a:defRPr sz="1600">
                <a:solidFill>
                  <a:schemeClr val="accent3">
                    <a:lumMod val="50000"/>
                  </a:schemeClr>
                </a:solidFill>
              </a:defRPr>
            </a:lvl3pPr>
            <a:lvl4pPr>
              <a:defRPr sz="1400">
                <a:solidFill>
                  <a:schemeClr val="accent3">
                    <a:lumMod val="50000"/>
                  </a:schemeClr>
                </a:solidFill>
              </a:defRPr>
            </a:lvl4pPr>
            <a:lvl5pPr>
              <a:tabLst>
                <a:tab pos="2626525" algn="l"/>
              </a:tabLst>
              <a:defRPr sz="1400">
                <a:solidFill>
                  <a:schemeClr val="accent3">
                    <a:lumMod val="50000"/>
                  </a:schemeClr>
                </a:solidFill>
              </a:defRPr>
            </a:lvl5pPr>
          </a:lstStyle>
          <a:p>
            <a:pPr lvl="0"/>
            <a:r>
              <a:rPr lang="en-US" dirty="0"/>
              <a:t>Agenda Item 1</a:t>
            </a:r>
          </a:p>
          <a:p>
            <a:pPr lvl="0"/>
            <a:r>
              <a:rPr lang="en-US" dirty="0"/>
              <a:t>Agenda Item 2</a:t>
            </a:r>
          </a:p>
          <a:p>
            <a:pPr lvl="0"/>
            <a:r>
              <a:rPr lang="en-US" dirty="0"/>
              <a:t>Agenda Item 3</a:t>
            </a:r>
          </a:p>
          <a:p>
            <a:pPr lvl="0"/>
            <a:r>
              <a:rPr lang="en-US" dirty="0"/>
              <a:t>Agenda Item 4</a:t>
            </a:r>
          </a:p>
        </p:txBody>
      </p:sp>
      <p:sp>
        <p:nvSpPr>
          <p:cNvPr id="9" name="Slide Number Placeholder 8">
            <a:extLst>
              <a:ext uri="{FF2B5EF4-FFF2-40B4-BE49-F238E27FC236}">
                <a16:creationId xmlns:a16="http://schemas.microsoft.com/office/drawing/2014/main" id="{94FEC80D-D41B-2941-AA64-3734E35A7DC4}"/>
              </a:ext>
            </a:extLst>
          </p:cNvPr>
          <p:cNvSpPr>
            <a:spLocks noGrp="1"/>
          </p:cNvSpPr>
          <p:nvPr>
            <p:ph type="sldNum" sz="quarter" idx="10"/>
          </p:nvPr>
        </p:nvSpPr>
        <p:spPr>
          <a:xfrm>
            <a:off x="647700" y="6356352"/>
            <a:ext cx="2743200" cy="365125"/>
          </a:xfrm>
        </p:spPr>
        <p:txBody>
          <a:bodyPr/>
          <a:lstStyle/>
          <a:p>
            <a:r>
              <a:rPr lang="en-US"/>
              <a:t>&gt;&gt; </a:t>
            </a:r>
            <a:fld id="{626C978B-826E-438C-909A-E9C381D3FF04}" type="slidenum">
              <a:rPr lang="en-US" smtClean="0"/>
              <a:pPr/>
              <a:t>‹#›</a:t>
            </a:fld>
            <a:endParaRPr lang="en-US" dirty="0"/>
          </a:p>
        </p:txBody>
      </p:sp>
      <p:sp>
        <p:nvSpPr>
          <p:cNvPr id="14" name="object 6">
            <a:extLst>
              <a:ext uri="{FF2B5EF4-FFF2-40B4-BE49-F238E27FC236}">
                <a16:creationId xmlns:a16="http://schemas.microsoft.com/office/drawing/2014/main" id="{4ED245F3-5FE2-8B4D-AEBC-08059B7700D5}"/>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9" name="object 6">
            <a:extLst>
              <a:ext uri="{FF2B5EF4-FFF2-40B4-BE49-F238E27FC236}">
                <a16:creationId xmlns:a16="http://schemas.microsoft.com/office/drawing/2014/main" id="{EEB66CA7-5B90-DE44-B07F-CDF1B056C556}"/>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object 6">
            <a:extLst>
              <a:ext uri="{FF2B5EF4-FFF2-40B4-BE49-F238E27FC236}">
                <a16:creationId xmlns:a16="http://schemas.microsoft.com/office/drawing/2014/main" id="{9C841668-2641-8344-93D0-BFAF1E0B06C9}"/>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7" name="object 6">
            <a:extLst>
              <a:ext uri="{FF2B5EF4-FFF2-40B4-BE49-F238E27FC236}">
                <a16:creationId xmlns:a16="http://schemas.microsoft.com/office/drawing/2014/main" id="{F5A8D482-5528-2243-9F47-5B9C75E8D18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1" name="object 6">
            <a:extLst>
              <a:ext uri="{FF2B5EF4-FFF2-40B4-BE49-F238E27FC236}">
                <a16:creationId xmlns:a16="http://schemas.microsoft.com/office/drawing/2014/main" id="{01786C18-A62A-8D40-BE6D-E91ED01BEB52}"/>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5" name="Picture 34">
            <a:extLst>
              <a:ext uri="{FF2B5EF4-FFF2-40B4-BE49-F238E27FC236}">
                <a16:creationId xmlns:a16="http://schemas.microsoft.com/office/drawing/2014/main" id="{5D2F0128-2932-DB49-BB4F-4E6C92A36F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15" name="object 6">
            <a:extLst>
              <a:ext uri="{FF2B5EF4-FFF2-40B4-BE49-F238E27FC236}">
                <a16:creationId xmlns:a16="http://schemas.microsoft.com/office/drawing/2014/main" id="{C4518266-97F4-5E48-8B44-08654EC2969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0BDBBB27-6F71-7C43-BFA5-6B2E8E1AC9A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18" name="object 6">
            <a:extLst>
              <a:ext uri="{FF2B5EF4-FFF2-40B4-BE49-F238E27FC236}">
                <a16:creationId xmlns:a16="http://schemas.microsoft.com/office/drawing/2014/main" id="{33854958-1BAD-BE47-ACAC-E9903DAE90C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1" name="Picture 20">
            <a:extLst>
              <a:ext uri="{FF2B5EF4-FFF2-40B4-BE49-F238E27FC236}">
                <a16:creationId xmlns:a16="http://schemas.microsoft.com/office/drawing/2014/main" id="{98B423B7-B99A-5744-8625-DC905867261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22" name="object 6">
            <a:extLst>
              <a:ext uri="{FF2B5EF4-FFF2-40B4-BE49-F238E27FC236}">
                <a16:creationId xmlns:a16="http://schemas.microsoft.com/office/drawing/2014/main" id="{838CE688-24EB-EF4C-8127-F226875D5747}"/>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5" name="Picture 24">
            <a:extLst>
              <a:ext uri="{FF2B5EF4-FFF2-40B4-BE49-F238E27FC236}">
                <a16:creationId xmlns:a16="http://schemas.microsoft.com/office/drawing/2014/main" id="{B76E6D9E-81DB-064A-A067-E1DB17AB7C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Tree>
    <p:extLst>
      <p:ext uri="{BB962C8B-B14F-4D97-AF65-F5344CB8AC3E}">
        <p14:creationId xmlns:p14="http://schemas.microsoft.com/office/powerpoint/2010/main" val="2466374148"/>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pic>
        <p:nvPicPr>
          <p:cNvPr id="5" name="Picture 4" descr="1.png"/>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3883156299"/>
      </p:ext>
    </p:extLst>
  </p:cSld>
  <p:clrMapOvr>
    <a:masterClrMapping/>
  </p:clrMapOvr>
  <p:hf hd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543379631"/>
      </p:ext>
    </p:extLst>
  </p:cSld>
  <p:clrMapOvr>
    <a:masterClrMapping/>
  </p:clrMapOvr>
  <p:hf hd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bg2"/>
        </a:solidFill>
        <a:effectLst/>
      </p:bgPr>
    </p:bg>
    <p:spTree>
      <p:nvGrpSpPr>
        <p:cNvPr id="1" name=""/>
        <p:cNvGrpSpPr/>
        <p:nvPr/>
      </p:nvGrpSpPr>
      <p:grpSpPr>
        <a:xfrm>
          <a:off x="0" y="0"/>
          <a:ext cx="0" cy="0"/>
          <a:chOff x="0" y="0"/>
          <a:chExt cx="0" cy="0"/>
        </a:xfrm>
      </p:grpSpPr>
      <p:sp>
        <p:nvSpPr>
          <p:cNvPr id="12" name="Title 1"/>
          <p:cNvSpPr>
            <a:spLocks noGrp="1"/>
          </p:cNvSpPr>
          <p:nvPr>
            <p:ph type="title" hasCustomPrompt="1"/>
          </p:nvPr>
        </p:nvSpPr>
        <p:spPr>
          <a:xfrm>
            <a:off x="872571" y="2971081"/>
            <a:ext cx="6727039" cy="761747"/>
          </a:xfrm>
        </p:spPr>
        <p:txBody>
          <a:bodyPr lIns="0" tIns="0" rIns="0" bIns="0" anchor="t">
            <a:noAutofit/>
          </a:bodyPr>
          <a:lstStyle>
            <a:lvl1pPr marL="0" algn="l" defTabSz="914126" rtl="0" eaLnBrk="1" latinLnBrk="0" hangingPunct="1">
              <a:lnSpc>
                <a:spcPct val="100000"/>
              </a:lnSpc>
              <a:spcBef>
                <a:spcPct val="0"/>
              </a:spcBef>
              <a:buNone/>
              <a:defRPr lang="en-US" sz="3599" b="1" i="0" kern="1200" baseline="0" dirty="0">
                <a:solidFill>
                  <a:schemeClr val="tx1"/>
                </a:solidFill>
                <a:latin typeface="Arial" charset="0"/>
                <a:ea typeface="+mj-ea"/>
                <a:cs typeface="Arial" charset="0"/>
              </a:defRPr>
            </a:lvl1pPr>
          </a:lstStyle>
          <a:p>
            <a:r>
              <a:rPr lang="en-US" dirty="0"/>
              <a:t>Insert Section Title Here</a:t>
            </a:r>
          </a:p>
        </p:txBody>
      </p:sp>
      <p:sp>
        <p:nvSpPr>
          <p:cNvPr id="24" name="Rectangle 23"/>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60FB99D6-8BE6-3843-87F0-1BF2F1338A6C}"/>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7E68A1B2-3ABC-9D4A-B378-06C02AF8EB0C}"/>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Right Triangle 5">
            <a:extLst>
              <a:ext uri="{FF2B5EF4-FFF2-40B4-BE49-F238E27FC236}">
                <a16:creationId xmlns:a16="http://schemas.microsoft.com/office/drawing/2014/main" id="{60184228-3525-514A-86C4-3C16B3BD69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DB5B8B0E-1006-BC4A-9FBE-4C9A0F8CB908}"/>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CD6377F4-2164-4C47-B26D-2B2C92B343C5}"/>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ight Triangle 9">
            <a:extLst>
              <a:ext uri="{FF2B5EF4-FFF2-40B4-BE49-F238E27FC236}">
                <a16:creationId xmlns:a16="http://schemas.microsoft.com/office/drawing/2014/main" id="{50D1EABC-9772-9C41-B944-B07DB09ED607}"/>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Right Triangle 12">
            <a:extLst>
              <a:ext uri="{FF2B5EF4-FFF2-40B4-BE49-F238E27FC236}">
                <a16:creationId xmlns:a16="http://schemas.microsoft.com/office/drawing/2014/main" id="{CCEBED41-AE49-0A45-88A5-DA613F2CC363}"/>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1003DCE0-C55E-6448-AC1E-9D71F3EBB562}"/>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ight Triangle 15">
            <a:extLst>
              <a:ext uri="{FF2B5EF4-FFF2-40B4-BE49-F238E27FC236}">
                <a16:creationId xmlns:a16="http://schemas.microsoft.com/office/drawing/2014/main" id="{31979BB4-D02E-AE4E-A8A8-2A7A55AB79CA}"/>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8" name="Right Triangle 17">
            <a:extLst>
              <a:ext uri="{FF2B5EF4-FFF2-40B4-BE49-F238E27FC236}">
                <a16:creationId xmlns:a16="http://schemas.microsoft.com/office/drawing/2014/main" id="{A03168C6-AAF2-8A4D-AE31-BF4FFA4AA02E}"/>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 name="Right Triangle 21">
            <a:extLst>
              <a:ext uri="{FF2B5EF4-FFF2-40B4-BE49-F238E27FC236}">
                <a16:creationId xmlns:a16="http://schemas.microsoft.com/office/drawing/2014/main" id="{0F9A8760-B4C4-654E-B224-4A478CF047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3" name="Right Triangle 22">
            <a:extLst>
              <a:ext uri="{FF2B5EF4-FFF2-40B4-BE49-F238E27FC236}">
                <a16:creationId xmlns:a16="http://schemas.microsoft.com/office/drawing/2014/main" id="{2227A6DD-EC13-EF49-9819-F92827EA4822}"/>
              </a:ext>
            </a:extLst>
          </p:cNvPr>
          <p:cNvSpPr/>
          <p:nvPr/>
        </p:nvSpPr>
        <p:spPr>
          <a:xfrm rot="10800000">
            <a:off x="7412966" y="0"/>
            <a:ext cx="4792936" cy="4792936"/>
          </a:xfrm>
          <a:prstGeom prst="r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7" name="Picture 16" descr="11.png"/>
          <p:cNvPicPr>
            <a:picLocks noChangeAspect="1"/>
          </p:cNvPicPr>
          <p:nvPr/>
        </p:nvPicPr>
        <p:blipFill rotWithShape="1">
          <a:blip r:embed="rId2" cstate="print">
            <a:alphaModFix amt="70000"/>
            <a:extLst>
              <a:ext uri="{28A0092B-C50C-407E-A947-70E740481C1C}">
                <a14:useLocalDpi xmlns:a14="http://schemas.microsoft.com/office/drawing/2010/main" val="0"/>
              </a:ext>
            </a:extLst>
          </a:blip>
          <a:srcRect t="-2013" b="2013"/>
          <a:stretch/>
        </p:blipFill>
        <p:spPr>
          <a:xfrm>
            <a:off x="9017001" y="0"/>
            <a:ext cx="3175000" cy="6858000"/>
          </a:xfrm>
          <a:prstGeom prst="rect">
            <a:avLst/>
          </a:prstGeom>
        </p:spPr>
      </p:pic>
      <p:pic>
        <p:nvPicPr>
          <p:cNvPr id="21" name="Picture 20">
            <a:extLst>
              <a:ext uri="{FF2B5EF4-FFF2-40B4-BE49-F238E27FC236}">
                <a16:creationId xmlns:a16="http://schemas.microsoft.com/office/drawing/2014/main" id="{DF656EFA-286F-5E4A-9F0B-E6DE9CBD22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1518164210"/>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 Header (with Picture)">
    <p:bg>
      <p:bgPr>
        <a:solidFill>
          <a:schemeClr val="bg2"/>
        </a:solidFill>
        <a:effectLst/>
      </p:bgPr>
    </p:bg>
    <p:spTree>
      <p:nvGrpSpPr>
        <p:cNvPr id="1" name=""/>
        <p:cNvGrpSpPr/>
        <p:nvPr/>
      </p:nvGrpSpPr>
      <p:grpSpPr>
        <a:xfrm>
          <a:off x="0" y="0"/>
          <a:ext cx="0" cy="0"/>
          <a:chOff x="0" y="0"/>
          <a:chExt cx="0" cy="0"/>
        </a:xfrm>
      </p:grpSpPr>
      <p:sp>
        <p:nvSpPr>
          <p:cNvPr id="12" name="Title 1"/>
          <p:cNvSpPr>
            <a:spLocks noGrp="1"/>
          </p:cNvSpPr>
          <p:nvPr>
            <p:ph type="title" hasCustomPrompt="1"/>
          </p:nvPr>
        </p:nvSpPr>
        <p:spPr>
          <a:xfrm>
            <a:off x="960121" y="2971081"/>
            <a:ext cx="5440678" cy="2686771"/>
          </a:xfrm>
        </p:spPr>
        <p:txBody>
          <a:bodyPr lIns="0" tIns="0" rIns="0" bIns="0" anchor="t">
            <a:noAutofit/>
          </a:bodyPr>
          <a:lstStyle>
            <a:lvl1pPr marL="0" algn="l" defTabSz="914126" rtl="0" eaLnBrk="1" latinLnBrk="0" hangingPunct="1">
              <a:lnSpc>
                <a:spcPct val="100000"/>
              </a:lnSpc>
              <a:spcBef>
                <a:spcPct val="0"/>
              </a:spcBef>
              <a:buNone/>
              <a:defRPr lang="en-US" sz="3599" b="1" i="0" kern="1200" baseline="0" dirty="0">
                <a:solidFill>
                  <a:schemeClr val="tx1"/>
                </a:solidFill>
                <a:latin typeface="Arial" charset="0"/>
                <a:ea typeface="+mj-ea"/>
                <a:cs typeface="Arial" charset="0"/>
              </a:defRPr>
            </a:lvl1pPr>
          </a:lstStyle>
          <a:p>
            <a:r>
              <a:rPr lang="en-US" dirty="0"/>
              <a:t>Insert Section Title Here</a:t>
            </a:r>
          </a:p>
        </p:txBody>
      </p:sp>
      <p:sp>
        <p:nvSpPr>
          <p:cNvPr id="13" name="Rectangle 1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 name="Right Triangle 2">
            <a:extLst>
              <a:ext uri="{FF2B5EF4-FFF2-40B4-BE49-F238E27FC236}">
                <a16:creationId xmlns:a16="http://schemas.microsoft.com/office/drawing/2014/main" id="{30B7BA82-6A86-384D-B04E-8D5191D59474}"/>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71A1DA86-877F-0F49-BEED-32E9369C39C3}"/>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E398C142-ECE9-DD49-BB91-2DA6D9B51231}"/>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ight Triangle 10">
            <a:extLst>
              <a:ext uri="{FF2B5EF4-FFF2-40B4-BE49-F238E27FC236}">
                <a16:creationId xmlns:a16="http://schemas.microsoft.com/office/drawing/2014/main" id="{228A73BA-1743-4F4E-913D-21292EC9018A}"/>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48DF7FB5-0303-8F4D-A597-E38379253F50}"/>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8BDABBB2-33CA-9440-B11D-5EAC9D5D4358}"/>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5CE9204F-1C73-5D4A-8857-934625F01F43}"/>
              </a:ext>
            </a:extLst>
          </p:cNvPr>
          <p:cNvSpPr/>
          <p:nvPr/>
        </p:nvSpPr>
        <p:spPr>
          <a:xfrm rot="10800000">
            <a:off x="7412966" y="0"/>
            <a:ext cx="4792936" cy="4792936"/>
          </a:xfrm>
          <a:prstGeom prst="r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5" name="Picture Placeholder 426"/>
          <p:cNvSpPr>
            <a:spLocks noGrp="1"/>
          </p:cNvSpPr>
          <p:nvPr>
            <p:ph type="pic" sz="quarter" idx="11"/>
          </p:nvPr>
        </p:nvSpPr>
        <p:spPr>
          <a:xfrm>
            <a:off x="6820346" y="1200150"/>
            <a:ext cx="4457700" cy="4457700"/>
          </a:xfrm>
          <a:solidFill>
            <a:schemeClr val="accent3"/>
          </a:solidFill>
        </p:spPr>
        <p:txBody>
          <a:bodyPr tIns="1371600" bIns="0" anchor="ctr" anchorCtr="0">
            <a:noAutofit/>
          </a:bodyPr>
          <a:lstStyle>
            <a:lvl1pPr algn="ctr">
              <a:defRPr sz="1350">
                <a:solidFill>
                  <a:schemeClr val="bg1"/>
                </a:solidFill>
              </a:defRPr>
            </a:lvl1pPr>
          </a:lstStyle>
          <a:p>
            <a:r>
              <a:rPr lang="en-US" altLang="zh-CN"/>
              <a:t>Click icon to add picture</a:t>
            </a:r>
            <a:endParaRPr lang="en-US" dirty="0"/>
          </a:p>
        </p:txBody>
      </p:sp>
    </p:spTree>
    <p:extLst>
      <p:ext uri="{BB962C8B-B14F-4D97-AF65-F5344CB8AC3E}">
        <p14:creationId xmlns:p14="http://schemas.microsoft.com/office/powerpoint/2010/main" val="515161816"/>
      </p:ext>
    </p:extLst>
  </p:cSld>
  <p:clrMapOvr>
    <a:overrideClrMapping bg1="dk1" tx1="lt1" bg2="dk2" tx2="lt2" accent1="accent1" accent2="accent2" accent3="accent3" accent4="accent4" accent5="accent5" accent6="accent6" hlink="hlink" folHlink="folHlink"/>
  </p:clrMapOvr>
  <p:hf hd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pic>
        <p:nvPicPr>
          <p:cNvPr id="6" name="Picture 5" descr="1.png">
            <a:extLst>
              <a:ext uri="{FF2B5EF4-FFF2-40B4-BE49-F238E27FC236}">
                <a16:creationId xmlns:a16="http://schemas.microsoft.com/office/drawing/2014/main" id="{175C80C8-C178-9C4A-9F97-6978E22E311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1015442376"/>
      </p:ext>
    </p:extLst>
  </p:cSld>
  <p:clrMapOvr>
    <a:masterClrMapping/>
  </p:clrMapOvr>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228182227"/>
      </p:ext>
    </p:extLst>
  </p:cSld>
  <p:clrMapOvr>
    <a:masterClrMapping/>
  </p:clrMapOvr>
  <p:hf hd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pic>
        <p:nvPicPr>
          <p:cNvPr id="4" name="Picture 3" descr="1.png">
            <a:extLst>
              <a:ext uri="{FF2B5EF4-FFF2-40B4-BE49-F238E27FC236}">
                <a16:creationId xmlns:a16="http://schemas.microsoft.com/office/drawing/2014/main" id="{0C30E8B4-72CA-F045-86DE-DA0CF9BCF0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2691051880"/>
      </p:ext>
    </p:extLst>
  </p:cSld>
  <p:clrMapOvr>
    <a:masterClrMapping/>
  </p:clrMapOvr>
  <p:hf hd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89293933"/>
      </p:ext>
    </p:extLst>
  </p:cSld>
  <p:clrMapOvr>
    <a:masterClrMapping/>
  </p:clrMapOvr>
  <p:hf hd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hree Picture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6" name="Slide Number Placeholder 5"/>
          <p:cNvSpPr>
            <a:spLocks noGrp="1"/>
          </p:cNvSpPr>
          <p:nvPr>
            <p:ph type="sldNum" sz="quarter" idx="10"/>
          </p:nvPr>
        </p:nvSpPr>
        <p:spPr/>
        <p:txBody>
          <a:bodyPr/>
          <a:lstStyle/>
          <a:p>
            <a:pPr>
              <a:defRPr/>
            </a:pPr>
            <a:r>
              <a:rPr lang="en-US"/>
              <a:t>Data Types 14- </a:t>
            </a:r>
            <a:fld id="{060BD193-E118-4B16-863C-C8C12C675E3E}" type="slidenum">
              <a:rPr lang="en-US" smtClean="0"/>
              <a:pPr>
                <a:defRPr/>
              </a:pPr>
              <a:t>‹#›</a:t>
            </a:fld>
            <a:endParaRPr lang="en-US" dirty="0"/>
          </a:p>
        </p:txBody>
      </p:sp>
      <p:sp>
        <p:nvSpPr>
          <p:cNvPr id="4" name="Text Placeholder 6"/>
          <p:cNvSpPr>
            <a:spLocks noGrp="1"/>
          </p:cNvSpPr>
          <p:nvPr>
            <p:ph type="body" sz="quarter" idx="16" hasCustomPrompt="1"/>
          </p:nvPr>
        </p:nvSpPr>
        <p:spPr>
          <a:xfrm>
            <a:off x="913820" y="4884003"/>
            <a:ext cx="3078480" cy="553998"/>
          </a:xfrm>
        </p:spPr>
        <p:txBody>
          <a:bodyPr/>
          <a:lstStyle>
            <a:lvl1pPr marL="0" indent="0">
              <a:buNone/>
              <a:defRPr sz="1799">
                <a:solidFill>
                  <a:srgbClr val="171C2D"/>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5" name="Text Placeholder 6"/>
          <p:cNvSpPr>
            <a:spLocks noGrp="1"/>
          </p:cNvSpPr>
          <p:nvPr>
            <p:ph type="body" sz="quarter" idx="17" hasCustomPrompt="1"/>
          </p:nvPr>
        </p:nvSpPr>
        <p:spPr>
          <a:xfrm>
            <a:off x="4514270" y="4884003"/>
            <a:ext cx="3078480" cy="553998"/>
          </a:xfrm>
        </p:spPr>
        <p:txBody>
          <a:bodyPr/>
          <a:lstStyle>
            <a:lvl1pPr marL="0" indent="0">
              <a:buNone/>
              <a:defRPr sz="1799">
                <a:solidFill>
                  <a:schemeClr val="tx1"/>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7" name="Text Placeholder 6"/>
          <p:cNvSpPr>
            <a:spLocks noGrp="1"/>
          </p:cNvSpPr>
          <p:nvPr>
            <p:ph type="body" sz="quarter" idx="18" hasCustomPrompt="1"/>
          </p:nvPr>
        </p:nvSpPr>
        <p:spPr>
          <a:xfrm>
            <a:off x="8114720" y="4884003"/>
            <a:ext cx="3078480" cy="553998"/>
          </a:xfrm>
        </p:spPr>
        <p:txBody>
          <a:bodyPr/>
          <a:lstStyle>
            <a:lvl1pPr marL="0" indent="0">
              <a:buNone/>
              <a:defRPr sz="1799">
                <a:solidFill>
                  <a:srgbClr val="171C2D"/>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8" name="Picture Placeholder 426"/>
          <p:cNvSpPr>
            <a:spLocks noGrp="1"/>
          </p:cNvSpPr>
          <p:nvPr>
            <p:ph type="pic" sz="quarter" idx="11"/>
          </p:nvPr>
        </p:nvSpPr>
        <p:spPr>
          <a:xfrm>
            <a:off x="8107100"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
        <p:nvSpPr>
          <p:cNvPr id="9" name="Picture Placeholder 426"/>
          <p:cNvSpPr>
            <a:spLocks noGrp="1"/>
          </p:cNvSpPr>
          <p:nvPr>
            <p:ph type="pic" sz="quarter" idx="19"/>
          </p:nvPr>
        </p:nvSpPr>
        <p:spPr>
          <a:xfrm>
            <a:off x="906201"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
        <p:nvSpPr>
          <p:cNvPr id="10" name="Picture Placeholder 426"/>
          <p:cNvSpPr>
            <a:spLocks noGrp="1"/>
          </p:cNvSpPr>
          <p:nvPr>
            <p:ph type="pic" sz="quarter" idx="20"/>
          </p:nvPr>
        </p:nvSpPr>
        <p:spPr>
          <a:xfrm>
            <a:off x="4514270"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Tree>
    <p:extLst>
      <p:ext uri="{BB962C8B-B14F-4D97-AF65-F5344CB8AC3E}">
        <p14:creationId xmlns:p14="http://schemas.microsoft.com/office/powerpoint/2010/main" val="1311944490"/>
      </p:ext>
    </p:extLst>
  </p:cSld>
  <p:clrMapOvr>
    <a:masterClrMapping/>
  </p:clrMapOvr>
  <p:hf hd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imple Statement">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952501" y="2286762"/>
            <a:ext cx="5772150" cy="761746"/>
          </a:xfrm>
        </p:spPr>
        <p:txBody>
          <a:bodyPr/>
          <a:lstStyle>
            <a:lvl1pPr>
              <a:defRPr lang="en-US" sz="4799" b="1" i="0" kern="1200" dirty="0">
                <a:solidFill>
                  <a:srgbClr val="171C2D"/>
                </a:solidFill>
                <a:latin typeface="Arial" charset="0"/>
                <a:ea typeface="+mj-ea"/>
                <a:cs typeface="Arial" charset="0"/>
              </a:defRPr>
            </a:lvl1pPr>
          </a:lstStyle>
          <a:p>
            <a:r>
              <a:rPr lang="en-US" dirty="0"/>
              <a:t>Simple Statement</a:t>
            </a:r>
          </a:p>
        </p:txBody>
      </p:sp>
      <p:sp>
        <p:nvSpPr>
          <p:cNvPr id="5" name="Slide Number Placeholder 2">
            <a:extLst>
              <a:ext uri="{FF2B5EF4-FFF2-40B4-BE49-F238E27FC236}">
                <a16:creationId xmlns:a16="http://schemas.microsoft.com/office/drawing/2014/main" id="{2C22C299-FDA6-164A-B353-229958A83E52}"/>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
        <p:nvSpPr>
          <p:cNvPr id="6" name="Text Placeholder 5">
            <a:extLst>
              <a:ext uri="{FF2B5EF4-FFF2-40B4-BE49-F238E27FC236}">
                <a16:creationId xmlns:a16="http://schemas.microsoft.com/office/drawing/2014/main" id="{EE658E4E-230D-8D43-99E8-0341ED808C7C}"/>
              </a:ext>
            </a:extLst>
          </p:cNvPr>
          <p:cNvSpPr>
            <a:spLocks noGrp="1"/>
          </p:cNvSpPr>
          <p:nvPr>
            <p:ph type="body" sz="quarter" idx="12" hasCustomPrompt="1"/>
          </p:nvPr>
        </p:nvSpPr>
        <p:spPr>
          <a:xfrm>
            <a:off x="952501" y="3048511"/>
            <a:ext cx="5772150" cy="1354217"/>
          </a:xfrm>
        </p:spPr>
        <p:txBody>
          <a:bodyPr/>
          <a:lstStyle>
            <a:lvl1pPr marL="0" indent="0">
              <a:buNone/>
              <a:defRPr sz="4399" b="0" i="0" baseline="0">
                <a:solidFill>
                  <a:srgbClr val="EC1C24"/>
                </a:solidFill>
                <a:latin typeface="Arial" charset="0"/>
                <a:ea typeface="Arial" charset="0"/>
                <a:cs typeface="Arial" charset="0"/>
              </a:defRPr>
            </a:lvl1pPr>
          </a:lstStyle>
          <a:p>
            <a:pPr lvl="0"/>
            <a:r>
              <a:rPr lang="en-US" dirty="0"/>
              <a:t>Introduction or Concept Slide</a:t>
            </a:r>
          </a:p>
        </p:txBody>
      </p:sp>
      <p:pic>
        <p:nvPicPr>
          <p:cNvPr id="8" name="Picture 7" descr="111.png">
            <a:extLst>
              <a:ext uri="{FF2B5EF4-FFF2-40B4-BE49-F238E27FC236}">
                <a16:creationId xmlns:a16="http://schemas.microsoft.com/office/drawing/2014/main" id="{6E287EE2-21D3-F44C-813F-02BED688E843}"/>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3090"/>
          <a:stretch/>
        </p:blipFill>
        <p:spPr>
          <a:xfrm>
            <a:off x="8903980" y="2"/>
            <a:ext cx="3288021" cy="6882659"/>
          </a:xfrm>
          <a:prstGeom prst="rect">
            <a:avLst/>
          </a:prstGeom>
        </p:spPr>
      </p:pic>
    </p:spTree>
    <p:extLst>
      <p:ext uri="{BB962C8B-B14F-4D97-AF65-F5344CB8AC3E}">
        <p14:creationId xmlns:p14="http://schemas.microsoft.com/office/powerpoint/2010/main" val="1956603601"/>
      </p:ext>
    </p:extLst>
  </p:cSld>
  <p:clrMapOvr>
    <a:masterClrMapping/>
  </p:clrMapOvr>
  <p:hf hd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imple Statement with Pictur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952501" y="2286762"/>
            <a:ext cx="5772150" cy="761746"/>
          </a:xfrm>
        </p:spPr>
        <p:txBody>
          <a:bodyPr/>
          <a:lstStyle>
            <a:lvl1pPr>
              <a:defRPr lang="en-US" sz="4799" b="1" i="0" kern="1200" dirty="0">
                <a:solidFill>
                  <a:srgbClr val="171C2D"/>
                </a:solidFill>
                <a:latin typeface="Arial" charset="0"/>
                <a:ea typeface="+mj-ea"/>
                <a:cs typeface="Arial" charset="0"/>
              </a:defRPr>
            </a:lvl1pPr>
          </a:lstStyle>
          <a:p>
            <a:r>
              <a:rPr lang="en-US" dirty="0"/>
              <a:t>Simple Statement</a:t>
            </a:r>
          </a:p>
        </p:txBody>
      </p:sp>
      <p:sp>
        <p:nvSpPr>
          <p:cNvPr id="5" name="Slide Number Placeholder 2">
            <a:extLst>
              <a:ext uri="{FF2B5EF4-FFF2-40B4-BE49-F238E27FC236}">
                <a16:creationId xmlns:a16="http://schemas.microsoft.com/office/drawing/2014/main" id="{2C22C299-FDA6-164A-B353-229958A83E52}"/>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
        <p:nvSpPr>
          <p:cNvPr id="6" name="Text Placeholder 5">
            <a:extLst>
              <a:ext uri="{FF2B5EF4-FFF2-40B4-BE49-F238E27FC236}">
                <a16:creationId xmlns:a16="http://schemas.microsoft.com/office/drawing/2014/main" id="{EE658E4E-230D-8D43-99E8-0341ED808C7C}"/>
              </a:ext>
            </a:extLst>
          </p:cNvPr>
          <p:cNvSpPr>
            <a:spLocks noGrp="1"/>
          </p:cNvSpPr>
          <p:nvPr>
            <p:ph type="body" sz="quarter" idx="12" hasCustomPrompt="1"/>
          </p:nvPr>
        </p:nvSpPr>
        <p:spPr>
          <a:xfrm>
            <a:off x="952501" y="3048511"/>
            <a:ext cx="5772150" cy="1354217"/>
          </a:xfrm>
        </p:spPr>
        <p:txBody>
          <a:bodyPr/>
          <a:lstStyle>
            <a:lvl1pPr marL="0" indent="0">
              <a:buNone/>
              <a:defRPr sz="4399" b="0" i="0" baseline="0">
                <a:solidFill>
                  <a:srgbClr val="EC1C24"/>
                </a:solidFill>
                <a:latin typeface="Arial" charset="0"/>
                <a:ea typeface="Arial" charset="0"/>
                <a:cs typeface="Arial" charset="0"/>
              </a:defRPr>
            </a:lvl1pPr>
          </a:lstStyle>
          <a:p>
            <a:pPr lvl="0"/>
            <a:r>
              <a:rPr lang="en-US" dirty="0"/>
              <a:t>Introduction or Concept Slide</a:t>
            </a:r>
          </a:p>
        </p:txBody>
      </p:sp>
      <p:sp>
        <p:nvSpPr>
          <p:cNvPr id="7" name="Picture Placeholder 14">
            <a:extLst>
              <a:ext uri="{FF2B5EF4-FFF2-40B4-BE49-F238E27FC236}">
                <a16:creationId xmlns:a16="http://schemas.microsoft.com/office/drawing/2014/main" id="{89EAEFDD-B284-E94B-8F1D-D7E1627370F6}"/>
              </a:ext>
            </a:extLst>
          </p:cNvPr>
          <p:cNvSpPr>
            <a:spLocks noGrp="1"/>
          </p:cNvSpPr>
          <p:nvPr>
            <p:ph type="pic" sz="quarter" idx="13"/>
          </p:nvPr>
        </p:nvSpPr>
        <p:spPr>
          <a:xfrm>
            <a:off x="6781801" y="1200150"/>
            <a:ext cx="4457700" cy="4457700"/>
          </a:xfrm>
        </p:spPr>
        <p:txBody>
          <a:bodyPr/>
          <a:lstStyle>
            <a:lvl1pPr marL="0" indent="0">
              <a:buNone/>
              <a:defRPr/>
            </a:lvl1pPr>
          </a:lstStyle>
          <a:p>
            <a:r>
              <a:rPr lang="en-US" altLang="zh-CN"/>
              <a:t>Click icon to add picture</a:t>
            </a:r>
            <a:endParaRPr lang="en-US" dirty="0"/>
          </a:p>
        </p:txBody>
      </p:sp>
      <p:pic>
        <p:nvPicPr>
          <p:cNvPr id="9" name="Picture 8" descr="1.png">
            <a:extLst>
              <a:ext uri="{FF2B5EF4-FFF2-40B4-BE49-F238E27FC236}">
                <a16:creationId xmlns:a16="http://schemas.microsoft.com/office/drawing/2014/main" id="{D28EDF51-090C-9841-AE58-2273CEB9716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1080878476"/>
      </p:ext>
    </p:extLst>
  </p:cSld>
  <p:clrMapOvr>
    <a:masterClrMapping/>
  </p:clrMapOvr>
  <p:hf hd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Blank Layout (WHITE)">
    <p:spTree>
      <p:nvGrpSpPr>
        <p:cNvPr id="1" name=""/>
        <p:cNvGrpSpPr/>
        <p:nvPr/>
      </p:nvGrpSpPr>
      <p:grpSpPr>
        <a:xfrm>
          <a:off x="0" y="0"/>
          <a:ext cx="0" cy="0"/>
          <a:chOff x="0" y="0"/>
          <a:chExt cx="0" cy="0"/>
        </a:xfrm>
      </p:grpSpPr>
      <p:sp>
        <p:nvSpPr>
          <p:cNvPr id="4" name="Slide Number Placeholder 2">
            <a:extLst>
              <a:ext uri="{FF2B5EF4-FFF2-40B4-BE49-F238E27FC236}">
                <a16:creationId xmlns:a16="http://schemas.microsoft.com/office/drawing/2014/main" id="{F2364798-7D9C-B84C-856F-0C65222D9551}"/>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615607731"/>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hf hd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ake-Away Slide (Sub-Headers)">
    <p:spTree>
      <p:nvGrpSpPr>
        <p:cNvPr id="1" name=""/>
        <p:cNvGrpSpPr/>
        <p:nvPr/>
      </p:nvGrpSpPr>
      <p:grpSpPr>
        <a:xfrm>
          <a:off x="0" y="0"/>
          <a:ext cx="0" cy="0"/>
          <a:chOff x="0" y="0"/>
          <a:chExt cx="0" cy="0"/>
        </a:xfrm>
      </p:grpSpPr>
      <p:sp>
        <p:nvSpPr>
          <p:cNvPr id="8" name="Title 1"/>
          <p:cNvSpPr>
            <a:spLocks noGrp="1"/>
          </p:cNvSpPr>
          <p:nvPr>
            <p:ph type="title" hasCustomPrompt="1"/>
          </p:nvPr>
        </p:nvSpPr>
        <p:spPr>
          <a:xfrm>
            <a:off x="617221" y="212985"/>
            <a:ext cx="10614040" cy="492443"/>
          </a:xfrm>
        </p:spPr>
        <p:txBody>
          <a:bodyPr/>
          <a:lstStyle>
            <a:lvl1pPr>
              <a:defRPr sz="3199" baseline="0"/>
            </a:lvl1pPr>
          </a:lstStyle>
          <a:p>
            <a:r>
              <a:rPr lang="en-US" dirty="0"/>
              <a:t>Take-Away Slide</a:t>
            </a:r>
          </a:p>
        </p:txBody>
      </p:sp>
      <p:sp>
        <p:nvSpPr>
          <p:cNvPr id="7" name="Text Placeholder 3"/>
          <p:cNvSpPr>
            <a:spLocks noGrp="1"/>
          </p:cNvSpPr>
          <p:nvPr>
            <p:ph type="body" sz="quarter" idx="15" hasCustomPrompt="1"/>
          </p:nvPr>
        </p:nvSpPr>
        <p:spPr>
          <a:xfrm>
            <a:off x="960121" y="1538984"/>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9" name="Text Placeholder 2"/>
          <p:cNvSpPr>
            <a:spLocks noGrp="1"/>
          </p:cNvSpPr>
          <p:nvPr>
            <p:ph type="body" sz="quarter" idx="17" hasCustomPrompt="1"/>
          </p:nvPr>
        </p:nvSpPr>
        <p:spPr>
          <a:xfrm>
            <a:off x="960119" y="2101124"/>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3" name="Text Placeholder 3"/>
          <p:cNvSpPr>
            <a:spLocks noGrp="1"/>
          </p:cNvSpPr>
          <p:nvPr>
            <p:ph type="body" sz="quarter" idx="23" hasCustomPrompt="1"/>
          </p:nvPr>
        </p:nvSpPr>
        <p:spPr>
          <a:xfrm>
            <a:off x="960121" y="3153729"/>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14" name="Text Placeholder 2"/>
          <p:cNvSpPr>
            <a:spLocks noGrp="1"/>
          </p:cNvSpPr>
          <p:nvPr>
            <p:ph type="body" sz="quarter" idx="24" hasCustomPrompt="1"/>
          </p:nvPr>
        </p:nvSpPr>
        <p:spPr>
          <a:xfrm>
            <a:off x="960119" y="3705948"/>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5" name="Text Placeholder 3"/>
          <p:cNvSpPr>
            <a:spLocks noGrp="1"/>
          </p:cNvSpPr>
          <p:nvPr>
            <p:ph type="body" sz="quarter" idx="25" hasCustomPrompt="1"/>
          </p:nvPr>
        </p:nvSpPr>
        <p:spPr>
          <a:xfrm>
            <a:off x="960121" y="4768475"/>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16" name="Text Placeholder 2"/>
          <p:cNvSpPr>
            <a:spLocks noGrp="1"/>
          </p:cNvSpPr>
          <p:nvPr>
            <p:ph type="body" sz="quarter" idx="26" hasCustomPrompt="1"/>
          </p:nvPr>
        </p:nvSpPr>
        <p:spPr>
          <a:xfrm>
            <a:off x="960119" y="5330615"/>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0" name="Slide Number Placeholder 2">
            <a:extLst>
              <a:ext uri="{FF2B5EF4-FFF2-40B4-BE49-F238E27FC236}">
                <a16:creationId xmlns:a16="http://schemas.microsoft.com/office/drawing/2014/main" id="{22A52D08-28C6-7046-85C5-29DDBD4D27E0}"/>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854339345"/>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hf hd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ake-Away Slide (Bullets)">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21B7EA41-46BF-B947-8230-37EB3728F525}"/>
              </a:ext>
            </a:extLst>
          </p:cNvPr>
          <p:cNvSpPr>
            <a:spLocks noGrp="1"/>
          </p:cNvSpPr>
          <p:nvPr>
            <p:ph type="title" hasCustomPrompt="1"/>
          </p:nvPr>
        </p:nvSpPr>
        <p:spPr>
          <a:xfrm>
            <a:off x="617221" y="212985"/>
            <a:ext cx="10589668" cy="492443"/>
          </a:xfrm>
        </p:spPr>
        <p:txBody>
          <a:bodyPr/>
          <a:lstStyle>
            <a:lvl1pPr>
              <a:defRPr sz="3199" baseline="0"/>
            </a:lvl1pPr>
          </a:lstStyle>
          <a:p>
            <a:r>
              <a:rPr lang="en-US" dirty="0"/>
              <a:t>Take-Away Slide With Bullets</a:t>
            </a:r>
          </a:p>
        </p:txBody>
      </p:sp>
      <p:sp>
        <p:nvSpPr>
          <p:cNvPr id="26" name="Text Placeholder 3">
            <a:extLst>
              <a:ext uri="{FF2B5EF4-FFF2-40B4-BE49-F238E27FC236}">
                <a16:creationId xmlns:a16="http://schemas.microsoft.com/office/drawing/2014/main" id="{4D465602-9518-D549-819E-52FFB5D1AC53}"/>
              </a:ext>
            </a:extLst>
          </p:cNvPr>
          <p:cNvSpPr>
            <a:spLocks noGrp="1"/>
          </p:cNvSpPr>
          <p:nvPr>
            <p:ph type="body" sz="quarter" idx="15" hasCustomPrompt="1"/>
          </p:nvPr>
        </p:nvSpPr>
        <p:spPr>
          <a:xfrm>
            <a:off x="960121" y="1538984"/>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27" name="Text Placeholder 3">
            <a:extLst>
              <a:ext uri="{FF2B5EF4-FFF2-40B4-BE49-F238E27FC236}">
                <a16:creationId xmlns:a16="http://schemas.microsoft.com/office/drawing/2014/main" id="{15273868-A160-3B46-8F69-A41EDF54BDA2}"/>
              </a:ext>
            </a:extLst>
          </p:cNvPr>
          <p:cNvSpPr>
            <a:spLocks noGrp="1"/>
          </p:cNvSpPr>
          <p:nvPr>
            <p:ph type="body" sz="quarter" idx="23" hasCustomPrompt="1"/>
          </p:nvPr>
        </p:nvSpPr>
        <p:spPr>
          <a:xfrm>
            <a:off x="960121" y="3195489"/>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28" name="Text Placeholder 3">
            <a:extLst>
              <a:ext uri="{FF2B5EF4-FFF2-40B4-BE49-F238E27FC236}">
                <a16:creationId xmlns:a16="http://schemas.microsoft.com/office/drawing/2014/main" id="{2C165392-FF16-194E-BB96-47B05786B74E}"/>
              </a:ext>
            </a:extLst>
          </p:cNvPr>
          <p:cNvSpPr>
            <a:spLocks noGrp="1"/>
          </p:cNvSpPr>
          <p:nvPr>
            <p:ph type="body" sz="quarter" idx="25" hasCustomPrompt="1"/>
          </p:nvPr>
        </p:nvSpPr>
        <p:spPr>
          <a:xfrm>
            <a:off x="960121" y="4851993"/>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44" name="Slide Number Placeholder 2">
            <a:extLst>
              <a:ext uri="{FF2B5EF4-FFF2-40B4-BE49-F238E27FC236}">
                <a16:creationId xmlns:a16="http://schemas.microsoft.com/office/drawing/2014/main" id="{7C1986B2-675B-824C-8649-7C9AC5CE346C}"/>
              </a:ext>
            </a:extLst>
          </p:cNvPr>
          <p:cNvSpPr>
            <a:spLocks noGrp="1"/>
          </p:cNvSpPr>
          <p:nvPr>
            <p:ph type="sldNum" sz="quarter" idx="10"/>
          </p:nvPr>
        </p:nvSpPr>
        <p:spPr>
          <a:xfrm>
            <a:off x="647700" y="6356352"/>
            <a:ext cx="2743200" cy="365125"/>
          </a:xfrm>
        </p:spPr>
        <p:txBody>
          <a:bodyPr/>
          <a:lstStyle/>
          <a:p>
            <a:pPr>
              <a:defRPr/>
            </a:pPr>
            <a:r>
              <a:rPr lang="en-US"/>
              <a:t>Data Types 14- </a:t>
            </a:r>
            <a:fld id="{060BD193-E118-4B16-863C-C8C12C675E3E}" type="slidenum">
              <a:rPr lang="en-US" smtClean="0"/>
              <a:pPr>
                <a:defRPr/>
              </a:pPr>
              <a:t>‹#›</a:t>
            </a:fld>
            <a:endParaRPr lang="en-US" dirty="0"/>
          </a:p>
        </p:txBody>
      </p:sp>
      <p:sp>
        <p:nvSpPr>
          <p:cNvPr id="4" name="Content Placeholder 3"/>
          <p:cNvSpPr>
            <a:spLocks noGrp="1"/>
          </p:cNvSpPr>
          <p:nvPr>
            <p:ph sz="quarter" idx="29" hasCustomPrompt="1"/>
          </p:nvPr>
        </p:nvSpPr>
        <p:spPr>
          <a:xfrm>
            <a:off x="966789" y="2074225"/>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4" name="Content Placeholder 3"/>
          <p:cNvSpPr>
            <a:spLocks noGrp="1"/>
          </p:cNvSpPr>
          <p:nvPr>
            <p:ph sz="quarter" idx="30" hasCustomPrompt="1"/>
          </p:nvPr>
        </p:nvSpPr>
        <p:spPr>
          <a:xfrm>
            <a:off x="976949" y="3738837"/>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5" name="Content Placeholder 3"/>
          <p:cNvSpPr>
            <a:spLocks noGrp="1"/>
          </p:cNvSpPr>
          <p:nvPr>
            <p:ph sz="quarter" idx="31" hasCustomPrompt="1"/>
          </p:nvPr>
        </p:nvSpPr>
        <p:spPr>
          <a:xfrm>
            <a:off x="976949" y="5381035"/>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Tree>
    <p:extLst>
      <p:ext uri="{BB962C8B-B14F-4D97-AF65-F5344CB8AC3E}">
        <p14:creationId xmlns:p14="http://schemas.microsoft.com/office/powerpoint/2010/main" val="3119568260"/>
      </p:ext>
    </p:extLst>
  </p:cSld>
  <p:clrMapOvr>
    <a:masterClrMapping/>
  </p:clrMapOvr>
  <p:hf hd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End Slide">
    <p:bg>
      <p:bgPr>
        <a:solidFill>
          <a:srgbClr val="141724"/>
        </a:solidFill>
        <a:effectLst/>
      </p:bgPr>
    </p:bg>
    <p:spTree>
      <p:nvGrpSpPr>
        <p:cNvPr id="1" name=""/>
        <p:cNvGrpSpPr/>
        <p:nvPr/>
      </p:nvGrpSpPr>
      <p:grpSpPr>
        <a:xfrm>
          <a:off x="0" y="0"/>
          <a:ext cx="0" cy="0"/>
          <a:chOff x="0" y="0"/>
          <a:chExt cx="0" cy="0"/>
        </a:xfrm>
      </p:grpSpPr>
      <p:sp>
        <p:nvSpPr>
          <p:cNvPr id="24" name="Rectangle 23"/>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60FB99D6-8BE6-3843-87F0-1BF2F1338A6C}"/>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7E68A1B2-3ABC-9D4A-B378-06C02AF8EB0C}"/>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Right Triangle 5">
            <a:extLst>
              <a:ext uri="{FF2B5EF4-FFF2-40B4-BE49-F238E27FC236}">
                <a16:creationId xmlns:a16="http://schemas.microsoft.com/office/drawing/2014/main" id="{60184228-3525-514A-86C4-3C16B3BD69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DB5B8B0E-1006-BC4A-9FBE-4C9A0F8CB908}"/>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CD6377F4-2164-4C47-B26D-2B2C92B343C5}"/>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ight Triangle 9">
            <a:extLst>
              <a:ext uri="{FF2B5EF4-FFF2-40B4-BE49-F238E27FC236}">
                <a16:creationId xmlns:a16="http://schemas.microsoft.com/office/drawing/2014/main" id="{50D1EABC-9772-9C41-B944-B07DB09ED607}"/>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Right Triangle 12">
            <a:extLst>
              <a:ext uri="{FF2B5EF4-FFF2-40B4-BE49-F238E27FC236}">
                <a16:creationId xmlns:a16="http://schemas.microsoft.com/office/drawing/2014/main" id="{CCEBED41-AE49-0A45-88A5-DA613F2CC363}"/>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1003DCE0-C55E-6448-AC1E-9D71F3EBB562}"/>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ight Triangle 15">
            <a:extLst>
              <a:ext uri="{FF2B5EF4-FFF2-40B4-BE49-F238E27FC236}">
                <a16:creationId xmlns:a16="http://schemas.microsoft.com/office/drawing/2014/main" id="{31979BB4-D02E-AE4E-A8A8-2A7A55AB79CA}"/>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8" name="Right Triangle 17">
            <a:extLst>
              <a:ext uri="{FF2B5EF4-FFF2-40B4-BE49-F238E27FC236}">
                <a16:creationId xmlns:a16="http://schemas.microsoft.com/office/drawing/2014/main" id="{A03168C6-AAF2-8A4D-AE31-BF4FFA4AA02E}"/>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 name="Right Triangle 21">
            <a:extLst>
              <a:ext uri="{FF2B5EF4-FFF2-40B4-BE49-F238E27FC236}">
                <a16:creationId xmlns:a16="http://schemas.microsoft.com/office/drawing/2014/main" id="{0F9A8760-B4C4-654E-B224-4A478CF047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3" name="Right Triangle 22">
            <a:extLst>
              <a:ext uri="{FF2B5EF4-FFF2-40B4-BE49-F238E27FC236}">
                <a16:creationId xmlns:a16="http://schemas.microsoft.com/office/drawing/2014/main" id="{2227A6DD-EC13-EF49-9819-F92827EA4822}"/>
              </a:ext>
            </a:extLst>
          </p:cNvPr>
          <p:cNvSpPr/>
          <p:nvPr/>
        </p:nvSpPr>
        <p:spPr>
          <a:xfrm rot="10800000">
            <a:off x="7412966" y="0"/>
            <a:ext cx="4792936" cy="4792936"/>
          </a:xfrm>
          <a:prstGeom prst="rtTriangle">
            <a:avLst/>
          </a:prstGeom>
          <a:solidFill>
            <a:srgbClr val="EB1B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7" name="Picture 16" descr="11.png"/>
          <p:cNvPicPr>
            <a:picLocks noChangeAspect="1"/>
          </p:cNvPicPr>
          <p:nvPr/>
        </p:nvPicPr>
        <p:blipFill rotWithShape="1">
          <a:blip r:embed="rId2" cstate="print">
            <a:alphaModFix amt="70000"/>
            <a:extLst>
              <a:ext uri="{28A0092B-C50C-407E-A947-70E740481C1C}">
                <a14:useLocalDpi xmlns:a14="http://schemas.microsoft.com/office/drawing/2010/main" val="0"/>
              </a:ext>
            </a:extLst>
          </a:blip>
          <a:srcRect t="-2013" b="2013"/>
          <a:stretch/>
        </p:blipFill>
        <p:spPr>
          <a:xfrm>
            <a:off x="9017001" y="0"/>
            <a:ext cx="3175000" cy="6858000"/>
          </a:xfrm>
          <a:prstGeom prst="rect">
            <a:avLst/>
          </a:prstGeom>
        </p:spPr>
      </p:pic>
      <p:pic>
        <p:nvPicPr>
          <p:cNvPr id="21" name="Picture 20">
            <a:extLst>
              <a:ext uri="{FF2B5EF4-FFF2-40B4-BE49-F238E27FC236}">
                <a16:creationId xmlns:a16="http://schemas.microsoft.com/office/drawing/2014/main" id="{DF656EFA-286F-5E4A-9F0B-E6DE9CBD22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4" name="TextBox 3">
            <a:extLst>
              <a:ext uri="{FF2B5EF4-FFF2-40B4-BE49-F238E27FC236}">
                <a16:creationId xmlns:a16="http://schemas.microsoft.com/office/drawing/2014/main" id="{3388527C-82D0-9645-A44A-89CA1AE03B1F}"/>
              </a:ext>
            </a:extLst>
          </p:cNvPr>
          <p:cNvSpPr txBox="1"/>
          <p:nvPr/>
        </p:nvSpPr>
        <p:spPr>
          <a:xfrm>
            <a:off x="872571" y="2644170"/>
            <a:ext cx="5390207" cy="1569660"/>
          </a:xfrm>
          <a:prstGeom prst="rect">
            <a:avLst/>
          </a:prstGeom>
          <a:noFill/>
        </p:spPr>
        <p:txBody>
          <a:bodyPr wrap="square" rtlCol="0">
            <a:spAutoFit/>
          </a:bodyPr>
          <a:lstStyle/>
          <a:p>
            <a:r>
              <a:rPr lang="en-US" sz="4799" b="1" dirty="0"/>
              <a:t>Adaptable.</a:t>
            </a:r>
            <a:br>
              <a:rPr lang="en-US" sz="4799" b="1" dirty="0"/>
            </a:br>
            <a:r>
              <a:rPr lang="en-US" sz="4799" b="1" dirty="0">
                <a:solidFill>
                  <a:srgbClr val="FF0000"/>
                </a:solidFill>
              </a:rPr>
              <a:t>Intelligent.</a:t>
            </a:r>
            <a:endParaRPr lang="en-US" sz="4799" b="1" dirty="0"/>
          </a:p>
        </p:txBody>
      </p:sp>
    </p:spTree>
    <p:extLst>
      <p:ext uri="{BB962C8B-B14F-4D97-AF65-F5344CB8AC3E}">
        <p14:creationId xmlns:p14="http://schemas.microsoft.com/office/powerpoint/2010/main" val="2104809285"/>
      </p:ext>
    </p:extLst>
  </p:cSld>
  <p:clrMapOvr>
    <a:overrideClrMapping bg1="dk1" tx1="lt1" bg2="dk2" tx2="lt2" accent1="accent1" accent2="accent2" accent3="accent3" accent4="accent4" accent5="accent5" accent6="accent6" hlink="hlink" folHlink="folHlink"/>
  </p:clrMapOvr>
  <p:hf hdr="0" dt="0"/>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Title and Content Standard">
    <p:spTree>
      <p:nvGrpSpPr>
        <p:cNvPr id="1" name=""/>
        <p:cNvGrpSpPr/>
        <p:nvPr/>
      </p:nvGrpSpPr>
      <p:grpSpPr>
        <a:xfrm>
          <a:off x="0" y="0"/>
          <a:ext cx="0" cy="0"/>
          <a:chOff x="0" y="0"/>
          <a:chExt cx="0" cy="0"/>
        </a:xfrm>
      </p:grpSpPr>
      <p:sp>
        <p:nvSpPr>
          <p:cNvPr id="6" name="Rectangle 11"/>
          <p:cNvSpPr>
            <a:spLocks noGrp="1" noChangeArrowheads="1"/>
          </p:cNvSpPr>
          <p:nvPr>
            <p:ph type="title"/>
          </p:nvPr>
        </p:nvSpPr>
        <p:spPr bwMode="auto">
          <a:xfrm>
            <a:off x="1083733" y="209551"/>
            <a:ext cx="10498667" cy="530352"/>
          </a:xfrm>
          <a:prstGeom prst="rect">
            <a:avLst/>
          </a:prstGeom>
          <a:noFill/>
          <a:ln w="9525">
            <a:noFill/>
            <a:miter lim="800000"/>
            <a:headEnd/>
            <a:tailEnd/>
          </a:ln>
        </p:spPr>
        <p:txBody>
          <a:bodyPr vert="horz" wrap="square" lIns="0" tIns="45720" rIns="91440" bIns="45720" numCol="1" anchor="t" anchorCtr="0" compatLnSpc="1">
            <a:prstTxWarp prst="textNoShape">
              <a:avLst/>
            </a:prstTxWarp>
          </a:bodyPr>
          <a:lstStyle/>
          <a:p>
            <a:pPr lvl="0"/>
            <a:r>
              <a:rPr lang="en-US"/>
              <a:t>Click to edit Master title style</a:t>
            </a:r>
            <a:endParaRPr lang="en-US" dirty="0"/>
          </a:p>
        </p:txBody>
      </p:sp>
      <p:sp>
        <p:nvSpPr>
          <p:cNvPr id="7" name="Text Placeholder 2">
            <a:extLst>
              <a:ext uri="{FF2B5EF4-FFF2-40B4-BE49-F238E27FC236}">
                <a16:creationId xmlns:a16="http://schemas.microsoft.com/office/drawing/2014/main" id="{05291621-6843-4BD2-8CFB-1F4A13868121}"/>
              </a:ext>
            </a:extLst>
          </p:cNvPr>
          <p:cNvSpPr>
            <a:spLocks noGrp="1"/>
          </p:cNvSpPr>
          <p:nvPr>
            <p:ph idx="1"/>
          </p:nvPr>
        </p:nvSpPr>
        <p:spPr>
          <a:xfrm>
            <a:off x="1075265" y="1190548"/>
            <a:ext cx="10515600" cy="4756356"/>
          </a:xfrm>
          <a:prstGeom prst="rect">
            <a:avLst/>
          </a:prstGeom>
        </p:spPr>
        <p:txBody>
          <a:bodyPr vert="horz" lIns="9144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8">
            <a:extLst>
              <a:ext uri="{FF2B5EF4-FFF2-40B4-BE49-F238E27FC236}">
                <a16:creationId xmlns:a16="http://schemas.microsoft.com/office/drawing/2014/main" id="{6266F70A-0A22-4E0D-AA56-A28D2301ED83}"/>
              </a:ext>
            </a:extLst>
          </p:cNvPr>
          <p:cNvSpPr>
            <a:spLocks noGrp="1"/>
          </p:cNvSpPr>
          <p:nvPr>
            <p:ph type="sldNum" sz="quarter" idx="10"/>
          </p:nvPr>
        </p:nvSpPr>
        <p:spPr>
          <a:xfrm>
            <a:off x="609600" y="6577016"/>
            <a:ext cx="1724557" cy="244475"/>
          </a:xfrm>
        </p:spPr>
        <p:txBody>
          <a:bodyPr/>
          <a:lstStyle/>
          <a:p>
            <a:pPr>
              <a:defRPr/>
            </a:pPr>
            <a:r>
              <a:rPr lang="en-US" dirty="0"/>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276680844"/>
      </p:ext>
    </p:extLst>
  </p:cSld>
  <p:clrMapOvr>
    <a:masterClrMapping/>
  </p:clrMapOvr>
  <p:hf hdr="0" dt="0"/>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Title No Body Copy">
    <p:spTree>
      <p:nvGrpSpPr>
        <p:cNvPr id="1" name=""/>
        <p:cNvGrpSpPr/>
        <p:nvPr/>
      </p:nvGrpSpPr>
      <p:grpSpPr>
        <a:xfrm>
          <a:off x="0" y="0"/>
          <a:ext cx="0" cy="0"/>
          <a:chOff x="0" y="0"/>
          <a:chExt cx="0" cy="0"/>
        </a:xfrm>
      </p:grpSpPr>
      <p:sp>
        <p:nvSpPr>
          <p:cNvPr id="4" name="Title 1"/>
          <p:cNvSpPr>
            <a:spLocks noGrp="1"/>
          </p:cNvSpPr>
          <p:nvPr>
            <p:ph type="title"/>
          </p:nvPr>
        </p:nvSpPr>
        <p:spPr>
          <a:xfrm>
            <a:off x="1083734" y="209551"/>
            <a:ext cx="11017956" cy="530352"/>
          </a:xfrm>
        </p:spPr>
        <p:txBody>
          <a:bodyPr/>
          <a:lstStyle/>
          <a:p>
            <a:r>
              <a:rPr lang="en-US"/>
              <a:t>Click to edit Master title style</a:t>
            </a:r>
          </a:p>
        </p:txBody>
      </p:sp>
      <p:sp>
        <p:nvSpPr>
          <p:cNvPr id="6" name="Slide Number Placeholder 8">
            <a:extLst>
              <a:ext uri="{FF2B5EF4-FFF2-40B4-BE49-F238E27FC236}">
                <a16:creationId xmlns:a16="http://schemas.microsoft.com/office/drawing/2014/main" id="{BC64BAE6-8F80-43CE-B8E7-6E0B6BFFBD18}"/>
              </a:ext>
            </a:extLst>
          </p:cNvPr>
          <p:cNvSpPr>
            <a:spLocks noGrp="1"/>
          </p:cNvSpPr>
          <p:nvPr>
            <p:ph type="sldNum" sz="quarter" idx="10"/>
          </p:nvPr>
        </p:nvSpPr>
        <p:spPr>
          <a:xfrm>
            <a:off x="609600" y="6577016"/>
            <a:ext cx="2068461" cy="244475"/>
          </a:xfrm>
        </p:spPr>
        <p:txBody>
          <a:bodyPr/>
          <a:lstStyle/>
          <a:p>
            <a:pPr>
              <a:defRPr/>
            </a:pPr>
            <a:r>
              <a:rPr lang="en-US" dirty="0"/>
              <a:t>Data Types 14-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94843879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theme" Target="../theme/theme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image" Target="../media/image7.png"/><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c" descr=" ">
            <a:extLst>
              <a:ext uri="{FF2B5EF4-FFF2-40B4-BE49-F238E27FC236}">
                <a16:creationId xmlns:a16="http://schemas.microsoft.com/office/drawing/2014/main" id="{2512EF35-E7CE-4F2F-A701-CEDB43450107}"/>
              </a:ext>
            </a:extLst>
          </p:cNvPr>
          <p:cNvSpPr txBox="1"/>
          <p:nvPr userDrawn="1"/>
        </p:nvSpPr>
        <p:spPr>
          <a:xfrm>
            <a:off x="0" y="6537960"/>
            <a:ext cx="12192000" cy="223138"/>
          </a:xfrm>
          <a:prstGeom prst="rect">
            <a:avLst/>
          </a:prstGeom>
          <a:noFill/>
        </p:spPr>
        <p:txBody>
          <a:bodyPr vert="horz" rtlCol="0">
            <a:spAutoFit/>
          </a:bodyPr>
          <a:lstStyle/>
          <a:p>
            <a:pPr algn="ctr"/>
            <a:r>
              <a:rPr lang="en-US" sz="850" b="0" i="0" u="none" baseline="0">
                <a:solidFill>
                  <a:srgbClr val="000000"/>
                </a:solidFill>
                <a:latin typeface="Microsoft Sans Serif" panose="020B0604020202020204" pitchFamily="34" charset="0"/>
              </a:rPr>
              <a:t> </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3"/>
          <a:stretch>
            <a:fillRect/>
          </a:stretch>
        </p:blipFill>
        <p:spPr>
          <a:xfrm>
            <a:off x="11028823" y="6279370"/>
            <a:ext cx="576531" cy="357077"/>
          </a:xfrm>
          <a:prstGeom prst="rect">
            <a:avLst/>
          </a:prstGeom>
        </p:spPr>
      </p:pic>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7" r:id="rId10"/>
    <p:sldLayoutId id="2147483988"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1793" y="210312"/>
            <a:ext cx="10541508" cy="502920"/>
          </a:xfrm>
          <a:prstGeom prst="rect">
            <a:avLst/>
          </a:prstGeom>
        </p:spPr>
        <p:txBody>
          <a:bodyPr vert="horz" lIns="91440" tIns="45720" rIns="91440" bIns="45720" rtlCol="0" anchor="t" anchorCtr="0">
            <a:noAutofit/>
          </a:bodyPr>
          <a:lstStyle/>
          <a:p>
            <a:r>
              <a:rPr lang="en-US" altLang="zh-CN"/>
              <a:t>Click to edit Master title style</a:t>
            </a:r>
            <a:endParaRPr lang="en-US" dirty="0"/>
          </a:p>
        </p:txBody>
      </p:sp>
      <p:sp>
        <p:nvSpPr>
          <p:cNvPr id="3" name="Text Placeholder 2"/>
          <p:cNvSpPr>
            <a:spLocks noGrp="1"/>
          </p:cNvSpPr>
          <p:nvPr>
            <p:ph type="body" idx="1"/>
          </p:nvPr>
        </p:nvSpPr>
        <p:spPr>
          <a:xfrm>
            <a:off x="647700" y="1344168"/>
            <a:ext cx="10515600" cy="4756356"/>
          </a:xfrm>
          <a:prstGeom prst="rect">
            <a:avLst/>
          </a:prstGeom>
        </p:spPr>
        <p:txBody>
          <a:bodyPr vert="horz" lIns="9144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5" name="Slide Number Placeholder 4"/>
          <p:cNvSpPr>
            <a:spLocks noGrp="1"/>
          </p:cNvSpPr>
          <p:nvPr>
            <p:ph type="sldNum" sz="quarter" idx="4"/>
          </p:nvPr>
        </p:nvSpPr>
        <p:spPr>
          <a:xfrm>
            <a:off x="647700" y="6356352"/>
            <a:ext cx="2440118" cy="365125"/>
          </a:xfrm>
          <a:prstGeom prst="rect">
            <a:avLst/>
          </a:prstGeom>
        </p:spPr>
        <p:txBody>
          <a:bodyPr vert="horz" lIns="91440" tIns="45720" rIns="91440" bIns="45720" rtlCol="0" anchor="ctr"/>
          <a:lstStyle>
            <a:lvl1pPr algn="l">
              <a:defRPr sz="1200" b="1">
                <a:solidFill>
                  <a:schemeClr val="tx1">
                    <a:tint val="75000"/>
                  </a:schemeClr>
                </a:solidFill>
              </a:defRPr>
            </a:lvl1pPr>
          </a:lstStyle>
          <a:p>
            <a:pPr>
              <a:defRPr/>
            </a:pPr>
            <a:r>
              <a:rPr lang="en-US"/>
              <a:t>Data Types 14- </a:t>
            </a:r>
            <a:fld id="{060BD193-E118-4B16-863C-C8C12C675E3E}" type="slidenum">
              <a:rPr lang="en-US" smtClean="0"/>
              <a:pPr>
                <a:defRPr/>
              </a:pPr>
              <a:t>‹#›</a:t>
            </a:fld>
            <a:endParaRPr lang="en-US" dirty="0"/>
          </a:p>
        </p:txBody>
      </p:sp>
      <p:pic>
        <p:nvPicPr>
          <p:cNvPr id="26" name="Picture 25">
            <a:extLst>
              <a:ext uri="{FF2B5EF4-FFF2-40B4-BE49-F238E27FC236}">
                <a16:creationId xmlns:a16="http://schemas.microsoft.com/office/drawing/2014/main" id="{44F068DF-C691-E142-9A8F-9F62E4FF6DFA}"/>
              </a:ext>
            </a:extLst>
          </p:cNvPr>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10989131" y="6517141"/>
            <a:ext cx="950976" cy="192980"/>
          </a:xfrm>
          <a:prstGeom prst="rect">
            <a:avLst/>
          </a:prstGeom>
        </p:spPr>
      </p:pic>
      <p:sp>
        <p:nvSpPr>
          <p:cNvPr id="8" name="TextBox 7">
            <a:extLst>
              <a:ext uri="{FF2B5EF4-FFF2-40B4-BE49-F238E27FC236}">
                <a16:creationId xmlns:a16="http://schemas.microsoft.com/office/drawing/2014/main" id="{3203AE73-DD10-4698-81E5-1DBDABF7F47A}"/>
              </a:ext>
            </a:extLst>
          </p:cNvPr>
          <p:cNvSpPr txBox="1"/>
          <p:nvPr userDrawn="1"/>
        </p:nvSpPr>
        <p:spPr>
          <a:xfrm>
            <a:off x="4566725" y="6560157"/>
            <a:ext cx="3058549" cy="24622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n-US" altLang="zh-CN" sz="1000" dirty="0"/>
              <a:t>© Copyright 2018 Xilinx</a:t>
            </a:r>
          </a:p>
        </p:txBody>
      </p:sp>
    </p:spTree>
    <p:extLst>
      <p:ext uri="{BB962C8B-B14F-4D97-AF65-F5344CB8AC3E}">
        <p14:creationId xmlns:p14="http://schemas.microsoft.com/office/powerpoint/2010/main" val="600065561"/>
      </p:ext>
    </p:extLst>
  </p:cSld>
  <p:clrMap bg1="lt1" tx1="dk1" bg2="lt2" tx2="dk2" accent1="accent1" accent2="accent2" accent3="accent3" accent4="accent4" accent5="accent5" accent6="accent6" hlink="hlink" folHlink="folHlink"/>
  <p:sldLayoutIdLst>
    <p:sldLayoutId id="2147483990" r:id="rId1"/>
    <p:sldLayoutId id="2147483991" r:id="rId2"/>
    <p:sldLayoutId id="2147483992" r:id="rId3"/>
    <p:sldLayoutId id="2147483993" r:id="rId4"/>
    <p:sldLayoutId id="2147483994" r:id="rId5"/>
    <p:sldLayoutId id="2147483995" r:id="rId6"/>
    <p:sldLayoutId id="2147483996" r:id="rId7"/>
    <p:sldLayoutId id="2147483997" r:id="rId8"/>
    <p:sldLayoutId id="2147483998" r:id="rId9"/>
    <p:sldLayoutId id="2147483999" r:id="rId10"/>
    <p:sldLayoutId id="2147484000" r:id="rId11"/>
    <p:sldLayoutId id="2147484001" r:id="rId12"/>
    <p:sldLayoutId id="2147484002" r:id="rId13"/>
    <p:sldLayoutId id="2147484003" r:id="rId14"/>
    <p:sldLayoutId id="2147484004" r:id="rId15"/>
    <p:sldLayoutId id="2147484005" r:id="rId16"/>
    <p:sldLayoutId id="2147484006" r:id="rId17"/>
    <p:sldLayoutId id="2147484007" r:id="rId18"/>
    <p:sldLayoutId id="2147484008" r:id="rId19"/>
    <p:sldLayoutId id="2147484009" r:id="rId20"/>
  </p:sldLayoutIdLst>
  <p:hf hdr="0" dt="0"/>
  <p:txStyles>
    <p:titleStyle>
      <a:lvl1pPr algn="l" defTabSz="914126" rtl="0" eaLnBrk="1" latinLnBrk="0" hangingPunct="1">
        <a:lnSpc>
          <a:spcPct val="90000"/>
        </a:lnSpc>
        <a:spcBef>
          <a:spcPct val="0"/>
        </a:spcBef>
        <a:buNone/>
        <a:defRPr lang="en-US" sz="3199" b="1" i="0" kern="1200" dirty="0" smtClean="0">
          <a:solidFill>
            <a:srgbClr val="EC1C24"/>
          </a:solidFill>
          <a:latin typeface="Arial" charset="0"/>
          <a:ea typeface="+mj-ea"/>
          <a:cs typeface="Arial" charset="0"/>
        </a:defRPr>
      </a:lvl1pPr>
    </p:titleStyle>
    <p:body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lumMod val="50000"/>
            </a:schemeClr>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23"/>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999"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0.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2.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22.xml"/><Relationship Id="rId4" Type="http://schemas.openxmlformats.org/officeDocument/2006/relationships/image" Target="../media/image20.png"/></Relationships>
</file>

<file path=ppt/slides/_rels/slide4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Data Types</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6" name="Slide Number Placeholder 5"/>
          <p:cNvSpPr>
            <a:spLocks noGrp="1"/>
          </p:cNvSpPr>
          <p:nvPr>
            <p:ph type="sldNum" sz="quarter" idx="10"/>
          </p:nvPr>
        </p:nvSpPr>
        <p:spPr>
          <a:xfrm>
            <a:off x="579120" y="6325606"/>
            <a:ext cx="1386839" cy="365125"/>
          </a:xfrm>
        </p:spPr>
        <p:txBody>
          <a:bodyPr/>
          <a:lstStyle/>
          <a:p>
            <a:pPr>
              <a:defRPr/>
            </a:pPr>
            <a:r>
              <a:rPr lang="en-US" dirty="0"/>
              <a:t>Data Types 14- </a:t>
            </a:r>
            <a:fld id="{060BD193-E118-4B16-863C-C8C12C675E3E}" type="slidenum">
              <a:rPr lang="en-US" smtClean="0"/>
              <a:pPr>
                <a:defRPr/>
              </a:pPr>
              <a:t>2</a:t>
            </a:fld>
            <a:endParaRPr lang="en-US" dirty="0"/>
          </a:p>
        </p:txBody>
      </p:sp>
      <p:sp>
        <p:nvSpPr>
          <p:cNvPr id="2" name="Content Placeholder 1"/>
          <p:cNvSpPr>
            <a:spLocks noGrp="1"/>
          </p:cNvSpPr>
          <p:nvPr>
            <p:ph idx="4294967295"/>
          </p:nvPr>
        </p:nvSpPr>
        <p:spPr>
          <a:xfrm>
            <a:off x="579121" y="1327150"/>
            <a:ext cx="10927079" cy="4268788"/>
          </a:xfrm>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endParaRPr lang="en-US" altLang="zh-CN" dirty="0">
              <a:solidFill>
                <a:schemeClr val="tx1"/>
              </a:solidFill>
            </a:endParaRPr>
          </a:p>
          <a:p>
            <a:pPr lvl="1"/>
            <a:r>
              <a:rPr lang="en-US" dirty="0"/>
              <a:t>State various data types of C, C++ </a:t>
            </a:r>
          </a:p>
          <a:p>
            <a:pPr lvl="1"/>
            <a:r>
              <a:rPr lang="en-US" dirty="0"/>
              <a:t>Identify advantages and pitfalls of using arbitrary precision </a:t>
            </a:r>
          </a:p>
          <a:p>
            <a:pPr lvl="1"/>
            <a:r>
              <a:rPr lang="en-US" dirty="0"/>
              <a:t>List various supported quantization and overflow modes</a:t>
            </a:r>
          </a:p>
          <a:p>
            <a:pPr lvl="1"/>
            <a:r>
              <a:rPr lang="en-US" dirty="0"/>
              <a:t>Describe the floating point support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6" name="Slide Number Placeholder 5"/>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a:t>
            </a:fld>
            <a:endParaRPr lang="en-US" dirty="0">
              <a:solidFill>
                <a:srgbClr val="0C0C0C">
                  <a:tint val="75000"/>
                </a:srgbClr>
              </a:solidFill>
              <a:latin typeface="Arial"/>
            </a:endParaRPr>
          </a:p>
        </p:txBody>
      </p:sp>
      <p:sp>
        <p:nvSpPr>
          <p:cNvPr id="2" name="Content Placeholder 1"/>
          <p:cNvSpPr>
            <a:spLocks noGrp="1"/>
          </p:cNvSpPr>
          <p:nvPr>
            <p:ph idx="4294967295"/>
          </p:nvPr>
        </p:nvSpPr>
        <p:spPr>
          <a:xfrm>
            <a:off x="1689101" y="1327150"/>
            <a:ext cx="10501312" cy="4268788"/>
          </a:xfrm>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State various data types of C, C++</a:t>
            </a:r>
            <a:r>
              <a:rPr lang="en-US" strike="sngStrike" dirty="0"/>
              <a:t>,</a:t>
            </a:r>
            <a:r>
              <a:rPr lang="en-US" strike="sngStrike" dirty="0">
                <a:highlight>
                  <a:srgbClr val="FFFF00"/>
                </a:highlight>
              </a:rPr>
              <a:t> and </a:t>
            </a:r>
            <a:r>
              <a:rPr lang="en-US" strike="sngStrike" dirty="0" err="1">
                <a:highlight>
                  <a:srgbClr val="FFFF00"/>
                </a:highlight>
              </a:rPr>
              <a:t>SystemC</a:t>
            </a:r>
            <a:r>
              <a:rPr lang="en-US" strike="sngStrike" dirty="0">
                <a:highlight>
                  <a:srgbClr val="FFFF00"/>
                </a:highlight>
              </a:rPr>
              <a:t> </a:t>
            </a:r>
            <a:r>
              <a:rPr lang="en-US" dirty="0"/>
              <a:t>are supported </a:t>
            </a:r>
          </a:p>
          <a:p>
            <a:pPr lvl="1"/>
            <a:r>
              <a:rPr lang="en-US" dirty="0"/>
              <a:t>Identify advantages and pitfalls of using arbitrary precision </a:t>
            </a:r>
          </a:p>
          <a:p>
            <a:pPr lvl="1"/>
            <a:r>
              <a:rPr lang="en-US" dirty="0"/>
              <a:t>List various supported quantization and overflow modes</a:t>
            </a:r>
          </a:p>
          <a:p>
            <a:pPr lvl="1"/>
            <a:r>
              <a:rPr lang="en-US" dirty="0"/>
              <a:t>Describe the floating point support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03D3C-7632-490E-8C0C-FEB269678B86}"/>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CD8BCA27-F58A-4157-8471-E27233D9CC85}"/>
              </a:ext>
            </a:extLst>
          </p:cNvPr>
          <p:cNvSpPr>
            <a:spLocks noGrp="1"/>
          </p:cNvSpPr>
          <p:nvPr>
            <p:ph idx="1"/>
          </p:nvPr>
        </p:nvSpPr>
        <p:spPr/>
        <p:txBody>
          <a:bodyPr/>
          <a:lstStyle/>
          <a:p>
            <a:r>
              <a:rPr lang="en-US" altLang="zh-CN" i="1" dirty="0"/>
              <a:t>C and C++ Data Types</a:t>
            </a:r>
          </a:p>
          <a:p>
            <a:r>
              <a:rPr lang="en-US" altLang="zh-CN" dirty="0"/>
              <a:t>Arbitrary Precision Data Types</a:t>
            </a:r>
          </a:p>
          <a:p>
            <a:r>
              <a:rPr lang="en-US" altLang="zh-CN" dirty="0"/>
              <a:t>Floating Point Support</a:t>
            </a:r>
          </a:p>
          <a:p>
            <a:r>
              <a:rPr lang="en-US" altLang="zh-CN" dirty="0"/>
              <a:t>Summary</a:t>
            </a:r>
            <a:endParaRPr lang="zh-CN" altLang="en-US" dirty="0"/>
          </a:p>
        </p:txBody>
      </p:sp>
    </p:spTree>
    <p:extLst>
      <p:ext uri="{BB962C8B-B14F-4D97-AF65-F5344CB8AC3E}">
        <p14:creationId xmlns:p14="http://schemas.microsoft.com/office/powerpoint/2010/main" val="145352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Types and Bit-Accuracy</a:t>
            </a:r>
          </a:p>
        </p:txBody>
      </p:sp>
      <p:sp>
        <p:nvSpPr>
          <p:cNvPr id="9" name="Slide Number Placeholder 8"/>
          <p:cNvSpPr>
            <a:spLocks noGrp="1"/>
          </p:cNvSpPr>
          <p:nvPr>
            <p:ph type="sldNum" sz="quarter" idx="10"/>
          </p:nvPr>
        </p:nvSpPr>
        <p:spPr>
          <a:xfrm>
            <a:off x="579120" y="6325606"/>
            <a:ext cx="1463039" cy="365125"/>
          </a:xfrm>
        </p:spPr>
        <p:txBody>
          <a:bodyPr/>
          <a:lstStyle/>
          <a:p>
            <a:pPr>
              <a:defRPr/>
            </a:pPr>
            <a:r>
              <a:rPr lang="en-US" dirty="0"/>
              <a:t>Data Types 14- </a:t>
            </a:r>
            <a:fld id="{060BD193-E118-4B16-863C-C8C12C675E3E}" type="slidenum">
              <a:rPr lang="en-US" smtClean="0"/>
              <a:pPr>
                <a:defRPr/>
              </a:pPr>
              <a:t>5</a:t>
            </a:fld>
            <a:endParaRPr lang="en-US" dirty="0"/>
          </a:p>
        </p:txBody>
      </p:sp>
      <p:sp>
        <p:nvSpPr>
          <p:cNvPr id="3" name="Content Placeholder 2"/>
          <p:cNvSpPr>
            <a:spLocks noGrp="1"/>
          </p:cNvSpPr>
          <p:nvPr>
            <p:ph idx="4294967295"/>
          </p:nvPr>
        </p:nvSpPr>
        <p:spPr>
          <a:xfrm>
            <a:off x="579121" y="1294606"/>
            <a:ext cx="11384279" cy="4268788"/>
          </a:xfrm>
        </p:spPr>
        <p:txBody>
          <a:bodyPr>
            <a:normAutofit/>
          </a:bodyPr>
          <a:lstStyle/>
          <a:p>
            <a:r>
              <a:rPr lang="en-US" dirty="0"/>
              <a:t>C and C++ have standard types created on the 8-bit boundary</a:t>
            </a:r>
          </a:p>
          <a:p>
            <a:pPr lvl="1"/>
            <a:r>
              <a:rPr lang="en-US" dirty="0"/>
              <a:t>char (8-bit), short (16-bit), int (32-bit), long </a:t>
            </a:r>
            <a:r>
              <a:rPr lang="en-US" dirty="0" err="1"/>
              <a:t>long</a:t>
            </a:r>
            <a:r>
              <a:rPr lang="en-US" dirty="0"/>
              <a:t> (64-bit)</a:t>
            </a:r>
          </a:p>
          <a:p>
            <a:pPr lvl="2"/>
            <a:r>
              <a:rPr lang="en-US" dirty="0"/>
              <a:t>Also provides </a:t>
            </a:r>
            <a:r>
              <a:rPr lang="en-US" dirty="0" err="1"/>
              <a:t>stdint.h</a:t>
            </a:r>
            <a:r>
              <a:rPr lang="en-US" dirty="0"/>
              <a:t> (for C), and </a:t>
            </a:r>
            <a:r>
              <a:rPr lang="en-US" dirty="0" err="1"/>
              <a:t>stdint.h</a:t>
            </a:r>
            <a:r>
              <a:rPr lang="en-US" dirty="0"/>
              <a:t> and </a:t>
            </a:r>
            <a:r>
              <a:rPr lang="en-US" dirty="0" err="1"/>
              <a:t>cstdint</a:t>
            </a:r>
            <a:r>
              <a:rPr lang="en-US" dirty="0"/>
              <a:t> (for C++)</a:t>
            </a:r>
          </a:p>
          <a:p>
            <a:pPr lvl="2"/>
            <a:r>
              <a:rPr lang="en-US" dirty="0"/>
              <a:t>Types: int8_t, uint16_t, uint32_t, int_64_t etc. </a:t>
            </a:r>
          </a:p>
          <a:p>
            <a:pPr lvl="1"/>
            <a:r>
              <a:rPr lang="en-US" dirty="0"/>
              <a:t>They result in hardware which is not bit-accurate and can give sub-standard </a:t>
            </a:r>
            <a:r>
              <a:rPr lang="en-US" dirty="0" err="1"/>
              <a:t>QoR</a:t>
            </a:r>
            <a:endParaRPr lang="en-US" dirty="0"/>
          </a:p>
          <a:p>
            <a:r>
              <a:rPr lang="en-US" dirty="0" err="1"/>
              <a:t>Vitis</a:t>
            </a:r>
            <a:r>
              <a:rPr lang="en-US" dirty="0"/>
              <a:t> HLS provides </a:t>
            </a:r>
            <a:r>
              <a:rPr lang="en-US" altLang="zh-CN" dirty="0"/>
              <a:t>both integer and fixed-point arbitrary precision</a:t>
            </a:r>
            <a:r>
              <a:rPr lang="en-US" dirty="0"/>
              <a:t> types for C++</a:t>
            </a:r>
          </a:p>
          <a:p>
            <a:pPr lvl="1"/>
            <a:r>
              <a:rPr lang="en-US" dirty="0"/>
              <a:t>Allow any arbitrary bit-width to be specified</a:t>
            </a:r>
          </a:p>
          <a:p>
            <a:pPr lvl="1"/>
            <a:r>
              <a:rPr lang="en-US" dirty="0">
                <a:sym typeface="Wingdings" pitchFamily="2" charset="2"/>
              </a:rPr>
              <a:t>Hence designers can improve the </a:t>
            </a:r>
            <a:r>
              <a:rPr lang="en-US" dirty="0" err="1">
                <a:sym typeface="Wingdings" pitchFamily="2" charset="2"/>
              </a:rPr>
              <a:t>QoR</a:t>
            </a:r>
            <a:r>
              <a:rPr lang="en-US" dirty="0">
                <a:sym typeface="Wingdings" pitchFamily="2" charset="2"/>
              </a:rPr>
              <a:t> of the hardware by specifying exact data widths</a:t>
            </a:r>
          </a:p>
          <a:p>
            <a:pPr lvl="2"/>
            <a:r>
              <a:rPr lang="en-US" dirty="0">
                <a:sym typeface="Wingdings" pitchFamily="2" charset="2"/>
              </a:rPr>
              <a:t>Can be specified in the code and simulated to ensure there is no loss of accuracy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Types and Bit-Accuracy</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6</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845344" y="1294606"/>
            <a:ext cx="10501312" cy="4268788"/>
          </a:xfrm>
        </p:spPr>
        <p:txBody>
          <a:bodyPr>
            <a:normAutofit/>
          </a:bodyPr>
          <a:lstStyle/>
          <a:p>
            <a:r>
              <a:rPr lang="en-US" dirty="0"/>
              <a:t>C and C++ have standard types created on the 8-bit boundary</a:t>
            </a:r>
          </a:p>
          <a:p>
            <a:pPr lvl="1"/>
            <a:r>
              <a:rPr lang="en-US" dirty="0"/>
              <a:t>char (8-bit), short (16-bit), int (32-bit), long </a:t>
            </a:r>
            <a:r>
              <a:rPr lang="en-US" dirty="0" err="1"/>
              <a:t>long</a:t>
            </a:r>
            <a:r>
              <a:rPr lang="en-US" dirty="0"/>
              <a:t> (64-bit)</a:t>
            </a:r>
          </a:p>
          <a:p>
            <a:pPr lvl="2"/>
            <a:r>
              <a:rPr lang="en-US" dirty="0"/>
              <a:t>Also provides </a:t>
            </a:r>
            <a:r>
              <a:rPr lang="en-US" dirty="0" err="1"/>
              <a:t>stdint.h</a:t>
            </a:r>
            <a:r>
              <a:rPr lang="en-US" dirty="0"/>
              <a:t> (for C), and </a:t>
            </a:r>
            <a:r>
              <a:rPr lang="en-US" dirty="0" err="1"/>
              <a:t>stdint.h</a:t>
            </a:r>
            <a:r>
              <a:rPr lang="en-US" dirty="0"/>
              <a:t> and </a:t>
            </a:r>
            <a:r>
              <a:rPr lang="en-US" dirty="0" err="1"/>
              <a:t>cstdint</a:t>
            </a:r>
            <a:r>
              <a:rPr lang="en-US" dirty="0"/>
              <a:t> (for C++)</a:t>
            </a:r>
          </a:p>
          <a:p>
            <a:pPr lvl="2"/>
            <a:r>
              <a:rPr lang="en-US" dirty="0"/>
              <a:t>Types: int8_t, uint16_t, uint32_t, int_64_t etc. </a:t>
            </a:r>
          </a:p>
          <a:p>
            <a:pPr lvl="1"/>
            <a:r>
              <a:rPr lang="en-US" dirty="0"/>
              <a:t>They result in hardware which is not bit-accurate and can give sub-standard </a:t>
            </a:r>
            <a:r>
              <a:rPr lang="en-US" dirty="0" err="1"/>
              <a:t>QoR</a:t>
            </a:r>
            <a:endParaRPr lang="en-US" dirty="0"/>
          </a:p>
          <a:p>
            <a:r>
              <a:rPr lang="en-US" dirty="0" err="1">
                <a:highlight>
                  <a:srgbClr val="FFFF00"/>
                </a:highlight>
              </a:rPr>
              <a:t>Vitis</a:t>
            </a:r>
            <a:r>
              <a:rPr lang="en-US" dirty="0"/>
              <a:t> HLS provides</a:t>
            </a:r>
            <a:r>
              <a:rPr lang="en-US" dirty="0">
                <a:highlight>
                  <a:srgbClr val="FFFF00"/>
                </a:highlight>
              </a:rPr>
              <a:t> </a:t>
            </a:r>
            <a:r>
              <a:rPr lang="en-US" altLang="zh-CN" dirty="0">
                <a:highlight>
                  <a:srgbClr val="FFFF00"/>
                </a:highlight>
              </a:rPr>
              <a:t>both integer and fixed-point arbitrary precision</a:t>
            </a:r>
            <a:r>
              <a:rPr lang="en-US" dirty="0">
                <a:highlight>
                  <a:srgbClr val="FFFF00"/>
                </a:highlight>
              </a:rPr>
              <a:t> types for C++</a:t>
            </a:r>
          </a:p>
          <a:p>
            <a:pPr lvl="1"/>
            <a:r>
              <a:rPr lang="en-US" dirty="0"/>
              <a:t>Allow any arbitrary bit-width to be specified</a:t>
            </a:r>
          </a:p>
          <a:p>
            <a:pPr lvl="1"/>
            <a:r>
              <a:rPr lang="en-US" dirty="0">
                <a:sym typeface="Wingdings" pitchFamily="2" charset="2"/>
              </a:rPr>
              <a:t>Hence designers can improve the </a:t>
            </a:r>
            <a:r>
              <a:rPr lang="en-US" dirty="0" err="1">
                <a:sym typeface="Wingdings" pitchFamily="2" charset="2"/>
              </a:rPr>
              <a:t>QoR</a:t>
            </a:r>
            <a:r>
              <a:rPr lang="en-US" dirty="0">
                <a:sym typeface="Wingdings" pitchFamily="2" charset="2"/>
              </a:rPr>
              <a:t> of the hardware by specifying exact data widths</a:t>
            </a:r>
          </a:p>
          <a:p>
            <a:pPr lvl="2"/>
            <a:r>
              <a:rPr lang="en-US" dirty="0">
                <a:sym typeface="Wingdings" pitchFamily="2" charset="2"/>
              </a:rPr>
              <a:t>Can be specified in the code and simulated to ensure there is no loss of accuracy</a:t>
            </a:r>
          </a:p>
          <a:p>
            <a:r>
              <a:rPr lang="en-US" strike="sngStrike" dirty="0" err="1">
                <a:highlight>
                  <a:srgbClr val="FFFF00"/>
                </a:highlight>
              </a:rPr>
              <a:t>Vitis</a:t>
            </a:r>
            <a:r>
              <a:rPr lang="en-US" strike="sngStrike" dirty="0"/>
              <a:t> HLS also provides half-precision floating-point data types</a:t>
            </a:r>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6</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Why is arbitrary precision Needed?</a:t>
            </a:r>
          </a:p>
        </p:txBody>
      </p:sp>
      <p:sp>
        <p:nvSpPr>
          <p:cNvPr id="8" name="Slide Number Placeholder 7"/>
          <p:cNvSpPr>
            <a:spLocks noGrp="1"/>
          </p:cNvSpPr>
          <p:nvPr>
            <p:ph type="sldNum" sz="quarter" idx="10"/>
          </p:nvPr>
        </p:nvSpPr>
        <p:spPr>
          <a:xfrm>
            <a:off x="579120" y="6325606"/>
            <a:ext cx="1386839" cy="365125"/>
          </a:xfrm>
        </p:spPr>
        <p:txBody>
          <a:bodyPr/>
          <a:lstStyle/>
          <a:p>
            <a:pPr>
              <a:defRPr/>
            </a:pPr>
            <a:r>
              <a:rPr lang="en-US" dirty="0"/>
              <a:t>Data Types 14- </a:t>
            </a:r>
            <a:fld id="{060BD193-E118-4B16-863C-C8C12C675E3E}" type="slidenum">
              <a:rPr lang="en-US" smtClean="0"/>
              <a:pPr>
                <a:defRPr/>
              </a:pPr>
              <a:t>7</a:t>
            </a:fld>
            <a:endParaRPr lang="en-US" dirty="0"/>
          </a:p>
        </p:txBody>
      </p:sp>
      <p:sp>
        <p:nvSpPr>
          <p:cNvPr id="3" name="Content Placeholder 2"/>
          <p:cNvSpPr>
            <a:spLocks noGrp="1"/>
          </p:cNvSpPr>
          <p:nvPr>
            <p:ph idx="4294967295"/>
          </p:nvPr>
        </p:nvSpPr>
        <p:spPr>
          <a:xfrm>
            <a:off x="1003301" y="1067752"/>
            <a:ext cx="10501312" cy="5120693"/>
          </a:xfrm>
        </p:spPr>
        <p:txBody>
          <a:bodyPr>
            <a:normAutofit fontScale="92500" lnSpcReduction="20000"/>
          </a:bodyPr>
          <a:lstStyle/>
          <a:p>
            <a:r>
              <a:rPr lang="en-US" dirty="0"/>
              <a:t>Code using native C </a:t>
            </a:r>
            <a:r>
              <a:rPr lang="en-US" dirty="0" err="1"/>
              <a:t>int</a:t>
            </a:r>
            <a:r>
              <a:rPr lang="en-US" dirty="0"/>
              <a:t> type</a:t>
            </a:r>
          </a:p>
          <a:p>
            <a:endParaRPr lang="en-US" dirty="0"/>
          </a:p>
          <a:p>
            <a:endParaRPr lang="en-US" dirty="0"/>
          </a:p>
          <a:p>
            <a:pPr marL="0" indent="0">
              <a:buNone/>
            </a:pPr>
            <a:endParaRPr lang="en-US" dirty="0"/>
          </a:p>
          <a:p>
            <a:r>
              <a:rPr lang="en-US" dirty="0"/>
              <a:t>However, if the inputs will only have a max range of 8-bit</a:t>
            </a:r>
          </a:p>
          <a:p>
            <a:pPr lvl="1"/>
            <a:r>
              <a:rPr lang="en-US" sz="2100" dirty="0"/>
              <a:t>Arbitrary precision data-types should be used</a:t>
            </a:r>
          </a:p>
          <a:p>
            <a:pPr lvl="1"/>
            <a:endParaRPr lang="en-US" sz="2100" dirty="0"/>
          </a:p>
          <a:p>
            <a:pPr lvl="1"/>
            <a:endParaRPr lang="en-US" sz="2100" dirty="0"/>
          </a:p>
          <a:p>
            <a:pPr lvl="1"/>
            <a:endParaRPr lang="en-US" sz="2100" dirty="0"/>
          </a:p>
          <a:p>
            <a:pPr lvl="1"/>
            <a:endParaRPr lang="en-US" sz="2100" dirty="0"/>
          </a:p>
          <a:p>
            <a:pPr lvl="1"/>
            <a:endParaRPr lang="en-US" sz="2100" dirty="0"/>
          </a:p>
          <a:p>
            <a:pPr lvl="1"/>
            <a:endParaRPr lang="en-US" sz="2100" dirty="0"/>
          </a:p>
          <a:p>
            <a:pPr lvl="1"/>
            <a:r>
              <a:rPr lang="en-US" sz="2100" dirty="0"/>
              <a:t>It will result in smaller &amp; faster hardware with the full required precision</a:t>
            </a:r>
          </a:p>
          <a:p>
            <a:pPr lvl="1"/>
            <a:r>
              <a:rPr lang="en-US" sz="2100" dirty="0"/>
              <a:t>Full precision can be simulated/validated with C simulation and hardware will behave the same</a:t>
            </a:r>
          </a:p>
          <a:p>
            <a:pPr lvl="1"/>
            <a:endParaRPr lang="en-US" sz="2100" dirty="0"/>
          </a:p>
        </p:txBody>
      </p:sp>
      <p:pic>
        <p:nvPicPr>
          <p:cNvPr id="126978" name="Picture 2"/>
          <p:cNvPicPr>
            <a:picLocks noChangeAspect="1" noChangeArrowheads="1"/>
          </p:cNvPicPr>
          <p:nvPr/>
        </p:nvPicPr>
        <p:blipFill>
          <a:blip r:embed="rId3"/>
          <a:srcRect/>
          <a:stretch>
            <a:fillRect/>
          </a:stretch>
        </p:blipFill>
        <p:spPr bwMode="auto">
          <a:xfrm>
            <a:off x="1403351" y="1478000"/>
            <a:ext cx="7962900" cy="1431925"/>
          </a:xfrm>
          <a:prstGeom prst="rect">
            <a:avLst/>
          </a:prstGeom>
          <a:noFill/>
          <a:ln w="9525">
            <a:noFill/>
            <a:miter lim="800000"/>
            <a:headEnd/>
            <a:tailEnd/>
          </a:ln>
        </p:spPr>
      </p:pic>
      <p:pic>
        <p:nvPicPr>
          <p:cNvPr id="126979" name="Picture 3"/>
          <p:cNvPicPr>
            <a:picLocks noChangeAspect="1" noChangeArrowheads="1"/>
          </p:cNvPicPr>
          <p:nvPr/>
        </p:nvPicPr>
        <p:blipFill>
          <a:blip r:embed="rId4"/>
          <a:srcRect/>
          <a:stretch>
            <a:fillRect/>
          </a:stretch>
        </p:blipFill>
        <p:spPr bwMode="auto">
          <a:xfrm>
            <a:off x="1435894" y="3673758"/>
            <a:ext cx="7948612" cy="1425575"/>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is arbitrary precision Needed?</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8</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204913"/>
            <a:ext cx="10501312" cy="4906962"/>
          </a:xfrm>
        </p:spPr>
        <p:txBody>
          <a:bodyPr>
            <a:normAutofit fontScale="85000" lnSpcReduction="20000"/>
          </a:bodyPr>
          <a:lstStyle/>
          <a:p>
            <a:r>
              <a:rPr lang="en-US" sz="2400" dirty="0"/>
              <a:t>Code using native C </a:t>
            </a:r>
            <a:r>
              <a:rPr lang="en-US" sz="2400" dirty="0" err="1"/>
              <a:t>int</a:t>
            </a:r>
            <a:r>
              <a:rPr lang="en-US" sz="2400" dirty="0"/>
              <a:t> type</a:t>
            </a:r>
          </a:p>
          <a:p>
            <a:endParaRPr lang="en-US" sz="2400" dirty="0"/>
          </a:p>
          <a:p>
            <a:endParaRPr lang="en-US" sz="2400" dirty="0"/>
          </a:p>
          <a:p>
            <a:endParaRPr lang="en-US" sz="2400" dirty="0"/>
          </a:p>
          <a:p>
            <a:endParaRPr lang="en-US" sz="2400" dirty="0"/>
          </a:p>
          <a:p>
            <a:r>
              <a:rPr lang="en-US" sz="2400" dirty="0"/>
              <a:t>However, if the inputs will only have a max range of 8-bit</a:t>
            </a:r>
            <a:endParaRPr lang="en-US" dirty="0"/>
          </a:p>
          <a:p>
            <a:pPr lvl="1"/>
            <a:r>
              <a:rPr lang="en-US" sz="2100" dirty="0"/>
              <a:t>Arbitrary precision data-types should be used</a:t>
            </a:r>
          </a:p>
          <a:p>
            <a:pPr lvl="1"/>
            <a:endParaRPr lang="en-US" sz="2100" dirty="0"/>
          </a:p>
          <a:p>
            <a:pPr lvl="1"/>
            <a:endParaRPr lang="en-US" sz="2100" dirty="0"/>
          </a:p>
          <a:p>
            <a:pPr lvl="1"/>
            <a:endParaRPr lang="en-US" sz="2100" dirty="0"/>
          </a:p>
          <a:p>
            <a:pPr lvl="1"/>
            <a:endParaRPr lang="en-US" sz="2100" dirty="0"/>
          </a:p>
          <a:p>
            <a:pPr lvl="1"/>
            <a:endParaRPr lang="en-US" sz="2100" dirty="0"/>
          </a:p>
          <a:p>
            <a:pPr lvl="1"/>
            <a:endParaRPr lang="en-US" sz="2100" dirty="0"/>
          </a:p>
          <a:p>
            <a:pPr lvl="1"/>
            <a:r>
              <a:rPr lang="en-US" sz="2100" dirty="0"/>
              <a:t>It will result in smaller &amp; faster hardware with the full required precision</a:t>
            </a:r>
          </a:p>
          <a:p>
            <a:pPr lvl="1"/>
            <a:r>
              <a:rPr lang="en-US" sz="2100" strike="sngStrike" dirty="0"/>
              <a:t>With arbitrary precision types on function interfaces, </a:t>
            </a:r>
            <a:r>
              <a:rPr lang="en-US" sz="2100" strike="sngStrike" dirty="0" err="1">
                <a:highlight>
                  <a:srgbClr val="FFFF00"/>
                </a:highlight>
              </a:rPr>
              <a:t>Vitis</a:t>
            </a:r>
            <a:r>
              <a:rPr lang="en-US" sz="2100" strike="sngStrike" dirty="0"/>
              <a:t> HLS can propagate the correct bit-widths throughout the design</a:t>
            </a:r>
          </a:p>
          <a:p>
            <a:pPr lvl="1"/>
            <a:endParaRPr lang="en-US" sz="2100" dirty="0"/>
          </a:p>
        </p:txBody>
      </p:sp>
      <p:pic>
        <p:nvPicPr>
          <p:cNvPr id="126978" name="Picture 2"/>
          <p:cNvPicPr>
            <a:picLocks noChangeAspect="1" noChangeArrowheads="1"/>
          </p:cNvPicPr>
          <p:nvPr/>
        </p:nvPicPr>
        <p:blipFill>
          <a:blip r:embed="rId3"/>
          <a:srcRect/>
          <a:stretch>
            <a:fillRect/>
          </a:stretch>
        </p:blipFill>
        <p:spPr bwMode="auto">
          <a:xfrm>
            <a:off x="2089151" y="1615160"/>
            <a:ext cx="7962900" cy="1431925"/>
          </a:xfrm>
          <a:prstGeom prst="rect">
            <a:avLst/>
          </a:prstGeom>
          <a:noFill/>
          <a:ln w="9525">
            <a:noFill/>
            <a:miter lim="800000"/>
            <a:headEnd/>
            <a:tailEnd/>
          </a:ln>
        </p:spPr>
      </p:pic>
      <p:pic>
        <p:nvPicPr>
          <p:cNvPr id="126979" name="Picture 3"/>
          <p:cNvPicPr>
            <a:picLocks noChangeAspect="1" noChangeArrowheads="1"/>
          </p:cNvPicPr>
          <p:nvPr/>
        </p:nvPicPr>
        <p:blipFill>
          <a:blip r:embed="rId4"/>
          <a:srcRect/>
          <a:stretch>
            <a:fillRect/>
          </a:stretch>
        </p:blipFill>
        <p:spPr bwMode="auto">
          <a:xfrm>
            <a:off x="2121694" y="3810918"/>
            <a:ext cx="7948612" cy="142557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&amp; C Types</a:t>
            </a:r>
          </a:p>
        </p:txBody>
      </p:sp>
      <p:sp>
        <p:nvSpPr>
          <p:cNvPr id="8" name="Slide Number Placeholder 7"/>
          <p:cNvSpPr>
            <a:spLocks noGrp="1"/>
          </p:cNvSpPr>
          <p:nvPr>
            <p:ph type="sldNum" sz="quarter" idx="10"/>
          </p:nvPr>
        </p:nvSpPr>
        <p:spPr>
          <a:xfrm>
            <a:off x="579120" y="6325606"/>
            <a:ext cx="1409699" cy="365125"/>
          </a:xfrm>
        </p:spPr>
        <p:txBody>
          <a:bodyPr/>
          <a:lstStyle/>
          <a:p>
            <a:pPr>
              <a:defRPr/>
            </a:pPr>
            <a:r>
              <a:rPr lang="en-US" dirty="0"/>
              <a:t>Data Types 14- </a:t>
            </a:r>
            <a:fld id="{060BD193-E118-4B16-863C-C8C12C675E3E}" type="slidenum">
              <a:rPr lang="en-US" smtClean="0"/>
              <a:pPr>
                <a:defRPr/>
              </a:pPr>
              <a:t>9</a:t>
            </a:fld>
            <a:endParaRPr lang="en-US" dirty="0"/>
          </a:p>
        </p:txBody>
      </p:sp>
      <p:sp>
        <p:nvSpPr>
          <p:cNvPr id="3" name="Content Placeholder 2"/>
          <p:cNvSpPr>
            <a:spLocks noGrp="1"/>
          </p:cNvSpPr>
          <p:nvPr>
            <p:ph idx="4294967295"/>
          </p:nvPr>
        </p:nvSpPr>
        <p:spPr>
          <a:xfrm>
            <a:off x="411480" y="1327150"/>
            <a:ext cx="11778933" cy="4268788"/>
          </a:xfrm>
        </p:spPr>
        <p:txBody>
          <a:bodyPr>
            <a:normAutofit/>
          </a:bodyPr>
          <a:lstStyle/>
          <a:p>
            <a:r>
              <a:rPr lang="en-US" dirty="0"/>
              <a:t>There are 3 basic types you can use for HLS</a:t>
            </a:r>
          </a:p>
          <a:p>
            <a:pPr lvl="1"/>
            <a:r>
              <a:rPr lang="en-US" dirty="0"/>
              <a:t>Standard C/C++ Types</a:t>
            </a:r>
          </a:p>
          <a:p>
            <a:pPr lvl="1"/>
            <a:r>
              <a:rPr lang="en-US" dirty="0"/>
              <a:t>Vitis HLS enhancements to C++: </a:t>
            </a:r>
            <a:r>
              <a:rPr lang="en-US" dirty="0" err="1"/>
              <a:t>ap_int</a:t>
            </a:r>
            <a:r>
              <a:rPr lang="en-US" dirty="0"/>
              <a:t>,</a:t>
            </a:r>
          </a:p>
          <a:p>
            <a:pPr lvl="1"/>
            <a:r>
              <a:rPr lang="en-US" dirty="0"/>
              <a:t>Vitis HLS enhancements to C++: </a:t>
            </a:r>
            <a:r>
              <a:rPr lang="en-US" dirty="0" err="1"/>
              <a:t>ap_fixed</a:t>
            </a:r>
            <a:endParaRPr lang="en-US" dirty="0"/>
          </a:p>
          <a:p>
            <a:pPr marL="232845" lvl="1" indent="0">
              <a:buNone/>
            </a:pPr>
            <a:endParaRPr lang="en-US" strike="sngStrike" dirty="0">
              <a:sym typeface="Wingdings" pitchFamily="2" charset="2"/>
            </a:endParaRPr>
          </a:p>
          <a:p>
            <a:endParaRPr lang="en-US" dirty="0"/>
          </a:p>
          <a:p>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&amp; C Types</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10</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There are 4 basic types you can use for HLS</a:t>
            </a:r>
          </a:p>
          <a:p>
            <a:pPr lvl="1"/>
            <a:r>
              <a:rPr lang="en-US" dirty="0"/>
              <a:t>Standard C/C++ Types</a:t>
            </a:r>
          </a:p>
          <a:p>
            <a:pPr lvl="1"/>
            <a:r>
              <a:rPr lang="en-US" strike="sngStrike" dirty="0" err="1"/>
              <a:t>Vivado</a:t>
            </a:r>
            <a:r>
              <a:rPr lang="en-US" strike="sngStrike" dirty="0"/>
              <a:t> HLS enhancements to C: apint</a:t>
            </a:r>
          </a:p>
          <a:p>
            <a:pPr lvl="1"/>
            <a:r>
              <a:rPr lang="en-US" dirty="0" err="1"/>
              <a:t>Vivado</a:t>
            </a:r>
            <a:r>
              <a:rPr lang="en-US" dirty="0"/>
              <a:t> HLS enhancements to C++: ap_int, ap_fixed</a:t>
            </a:r>
          </a:p>
          <a:p>
            <a:pPr lvl="1"/>
            <a:r>
              <a:rPr lang="en-US" strike="sngStrike" dirty="0"/>
              <a:t>SystemC types </a:t>
            </a:r>
            <a:endParaRPr lang="en-US" strike="sngStrike" dirty="0">
              <a:sym typeface="Wingdings" pitchFamily="2" charset="2"/>
            </a:endParaRPr>
          </a:p>
          <a:p>
            <a:endParaRPr lang="en-US" dirty="0"/>
          </a:p>
          <a:p>
            <a:endParaRPr lang="en-US" dirty="0"/>
          </a:p>
        </p:txBody>
      </p:sp>
      <p:sp>
        <p:nvSpPr>
          <p:cNvPr id="7"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10</a:t>
            </a:fld>
            <a:endParaRPr lang="en-US" sz="1000" dirty="0">
              <a:solidFill>
                <a:srgbClr val="FFFFFF"/>
              </a:solidFill>
              <a:latin typeface="Arial" charset="0"/>
              <a:ea typeface="ＭＳ Ｐゴシック" pitchFamily="34" charset="-128"/>
              <a:cs typeface="Arial" charset="0"/>
            </a:endParaRPr>
          </a:p>
        </p:txBody>
      </p:sp>
      <p:pic>
        <p:nvPicPr>
          <p:cNvPr id="1026" name="Picture 2"/>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06971" y="3066428"/>
            <a:ext cx="7494888" cy="33213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C7778-FF89-4A52-BFA5-577DEC625D84}"/>
              </a:ext>
            </a:extLst>
          </p:cNvPr>
          <p:cNvSpPr>
            <a:spLocks noGrp="1"/>
          </p:cNvSpPr>
          <p:nvPr>
            <p:ph type="title"/>
          </p:nvPr>
        </p:nvSpPr>
        <p:spPr/>
        <p:txBody>
          <a:bodyPr/>
          <a:lstStyle/>
          <a:p>
            <a:r>
              <a:rPr lang="en-US" altLang="zh-CN" dirty="0"/>
              <a:t>Arbitrary Precision Data Types</a:t>
            </a:r>
            <a:endParaRPr lang="zh-CN" altLang="en-US" dirty="0"/>
          </a:p>
        </p:txBody>
      </p:sp>
    </p:spTree>
    <p:extLst>
      <p:ext uri="{BB962C8B-B14F-4D97-AF65-F5344CB8AC3E}">
        <p14:creationId xmlns:p14="http://schemas.microsoft.com/office/powerpoint/2010/main" val="1844497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Arbitrary Precision : C apint types </a:t>
            </a:r>
          </a:p>
        </p:txBody>
      </p:sp>
      <p:sp>
        <p:nvSpPr>
          <p:cNvPr id="13" name="Slide Number Placeholder 12"/>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12</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For C </a:t>
            </a:r>
          </a:p>
          <a:p>
            <a:pPr lvl="1"/>
            <a:r>
              <a:rPr lang="en-US" dirty="0" err="1"/>
              <a:t>Vivado</a:t>
            </a:r>
            <a:r>
              <a:rPr lang="en-US" dirty="0"/>
              <a:t> HLS types apint can be used</a:t>
            </a:r>
          </a:p>
          <a:p>
            <a:pPr lvl="1"/>
            <a:r>
              <a:rPr lang="en-US" dirty="0"/>
              <a:t>Range: 1 to 1024 bits</a:t>
            </a:r>
          </a:p>
          <a:p>
            <a:pPr lvl="1"/>
            <a:r>
              <a:rPr lang="en-US" dirty="0"/>
              <a:t>Specify the integers as shown and just use them like any other variable</a:t>
            </a:r>
          </a:p>
          <a:p>
            <a:pPr lvl="1"/>
            <a:endParaRPr lang="en-US" dirty="0"/>
          </a:p>
          <a:p>
            <a:endParaRPr lang="en-US" dirty="0"/>
          </a:p>
          <a:p>
            <a:endParaRPr lang="en-US" dirty="0"/>
          </a:p>
          <a:p>
            <a:r>
              <a:rPr lang="en-US" dirty="0"/>
              <a:t>There are two issues to be aware of </a:t>
            </a:r>
          </a:p>
          <a:p>
            <a:pPr lvl="1"/>
            <a:r>
              <a:rPr lang="en-US" dirty="0"/>
              <a:t>C compilation : YOU MUST use </a:t>
            </a:r>
            <a:r>
              <a:rPr lang="en-US" dirty="0" err="1"/>
              <a:t>apcc</a:t>
            </a:r>
            <a:r>
              <a:rPr lang="en-US" dirty="0"/>
              <a:t> to simulate (no debugger support)</a:t>
            </a:r>
          </a:p>
          <a:p>
            <a:pPr lvl="1"/>
            <a:r>
              <a:rPr lang="en-US" dirty="0"/>
              <a:t>Be aware of integer promotion issues</a:t>
            </a:r>
          </a:p>
          <a:p>
            <a:endParaRPr lang="en-US" dirty="0"/>
          </a:p>
        </p:txBody>
      </p:sp>
      <p:sp>
        <p:nvSpPr>
          <p:cNvPr id="66" name="TextBox 65"/>
          <p:cNvSpPr txBox="1"/>
          <p:nvPr/>
        </p:nvSpPr>
        <p:spPr>
          <a:xfrm>
            <a:off x="1219428" y="5448412"/>
            <a:ext cx="5784846" cy="584775"/>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600" b="1" dirty="0">
                <a:solidFill>
                  <a:srgbClr val="0C0C0C"/>
                </a:solidFill>
                <a:latin typeface="Arial"/>
              </a:rPr>
              <a:t>Failure to use </a:t>
            </a:r>
            <a:r>
              <a:rPr lang="en-US" sz="1600" b="1" dirty="0" err="1">
                <a:solidFill>
                  <a:srgbClr val="0C0C0C"/>
                </a:solidFill>
                <a:latin typeface="Arial"/>
              </a:rPr>
              <a:t>apcc</a:t>
            </a:r>
            <a:r>
              <a:rPr lang="en-US" sz="1600" b="1" dirty="0">
                <a:solidFill>
                  <a:srgbClr val="0C0C0C"/>
                </a:solidFill>
                <a:latin typeface="Arial"/>
              </a:rPr>
              <a:t> to compile the C will result in INCORRECT results</a:t>
            </a:r>
          </a:p>
        </p:txBody>
      </p:sp>
      <p:sp>
        <p:nvSpPr>
          <p:cNvPr id="67" name="TextBox 66"/>
          <p:cNvSpPr txBox="1"/>
          <p:nvPr/>
        </p:nvSpPr>
        <p:spPr>
          <a:xfrm>
            <a:off x="7374883" y="5466297"/>
            <a:ext cx="3788307" cy="584775"/>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600" b="1" dirty="0">
                <a:solidFill>
                  <a:srgbClr val="0C0C0C"/>
                </a:solidFill>
                <a:latin typeface="Arial"/>
              </a:rPr>
              <a:t>This only applies to C</a:t>
            </a:r>
          </a:p>
          <a:p>
            <a:pPr algn="ctr" defTabSz="914400"/>
            <a:r>
              <a:rPr lang="en-US" sz="1600" b="1" dirty="0">
                <a:solidFill>
                  <a:srgbClr val="0C0C0C"/>
                </a:solidFill>
                <a:latin typeface="Arial"/>
              </a:rPr>
              <a:t>NOT C++ or SystemC</a:t>
            </a:r>
          </a:p>
        </p:txBody>
      </p:sp>
      <p:sp>
        <p:nvSpPr>
          <p:cNvPr id="10"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12</a:t>
            </a:fld>
            <a:endParaRPr lang="en-US" sz="1000" dirty="0">
              <a:solidFill>
                <a:srgbClr val="FFFFFF"/>
              </a:solidFill>
              <a:latin typeface="Arial" charset="0"/>
              <a:ea typeface="ＭＳ Ｐゴシック" pitchFamily="34" charset="-128"/>
              <a:cs typeface="Arial" charset="0"/>
            </a:endParaRPr>
          </a:p>
        </p:txBody>
      </p:sp>
      <p:sp>
        <p:nvSpPr>
          <p:cNvPr id="11" name="TextBox 10">
            <a:extLst>
              <a:ext uri="{FF2B5EF4-FFF2-40B4-BE49-F238E27FC236}">
                <a16:creationId xmlns:a16="http://schemas.microsoft.com/office/drawing/2014/main" id="{8CAA85A8-BCBA-45C3-B1FB-578EE367465D}"/>
              </a:ext>
            </a:extLst>
          </p:cNvPr>
          <p:cNvSpPr txBox="1"/>
          <p:nvPr/>
        </p:nvSpPr>
        <p:spPr>
          <a:xfrm>
            <a:off x="3209242" y="2888516"/>
            <a:ext cx="4453820" cy="92333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#include </a:t>
            </a:r>
            <a:r>
              <a:rPr lang="en-US" sz="900" b="1" kern="0" dirty="0" err="1">
                <a:solidFill>
                  <a:srgbClr val="000000"/>
                </a:solidFill>
                <a:latin typeface="Arial"/>
              </a:rPr>
              <a:t>ap_cint.h</a:t>
            </a:r>
            <a:endParaRPr lang="en-US" sz="900" b="1" kern="0" dirty="0">
              <a:solidFill>
                <a:srgbClr val="000000"/>
              </a:solidFill>
              <a:latin typeface="Arial"/>
            </a:endParaRP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void foo_top (…)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int9 	var1; 	         // 9-bit</a:t>
            </a:r>
          </a:p>
          <a:p>
            <a:pPr defTabSz="914400" fontAlgn="base">
              <a:spcBef>
                <a:spcPct val="0"/>
              </a:spcBef>
              <a:spcAft>
                <a:spcPct val="0"/>
              </a:spcAft>
              <a:defRPr/>
            </a:pPr>
            <a:r>
              <a:rPr lang="en-US" sz="900" b="1" kern="0" dirty="0">
                <a:solidFill>
                  <a:srgbClr val="000000"/>
                </a:solidFill>
                <a:latin typeface="Arial"/>
              </a:rPr>
              <a:t>    uint10 	var2; 	         // 10-bit unsigned</a:t>
            </a:r>
          </a:p>
        </p:txBody>
      </p:sp>
      <p:sp>
        <p:nvSpPr>
          <p:cNvPr id="12" name="TextBox 11">
            <a:extLst>
              <a:ext uri="{FF2B5EF4-FFF2-40B4-BE49-F238E27FC236}">
                <a16:creationId xmlns:a16="http://schemas.microsoft.com/office/drawing/2014/main" id="{9BFF62CC-FC96-42D7-88E3-A57255CDECCF}"/>
              </a:ext>
            </a:extLst>
          </p:cNvPr>
          <p:cNvSpPr txBox="1"/>
          <p:nvPr/>
        </p:nvSpPr>
        <p:spPr>
          <a:xfrm>
            <a:off x="5359363" y="2813316"/>
            <a:ext cx="2098927" cy="26161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Include header file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Using </a:t>
            </a:r>
            <a:r>
              <a:rPr lang="en-US" strike="sngStrike" dirty="0" err="1"/>
              <a:t>apcc</a:t>
            </a:r>
            <a:endParaRPr lang="en-US" strike="sngStrike" dirty="0"/>
          </a:p>
        </p:txBody>
      </p:sp>
      <p:sp>
        <p:nvSpPr>
          <p:cNvPr id="63" name="Slide Number Placeholder 62"/>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13</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116014"/>
            <a:ext cx="10501312" cy="4625975"/>
          </a:xfrm>
        </p:spPr>
        <p:txBody>
          <a:bodyPr>
            <a:normAutofit fontScale="92500" lnSpcReduction="20000"/>
          </a:bodyPr>
          <a:lstStyle/>
          <a:p>
            <a:r>
              <a:rPr lang="en-US" dirty="0" err="1"/>
              <a:t>apcc</a:t>
            </a:r>
            <a:endParaRPr lang="en-US" dirty="0"/>
          </a:p>
          <a:p>
            <a:pPr lvl="1"/>
            <a:r>
              <a:rPr lang="en-US" sz="1900" dirty="0"/>
              <a:t>Command line compatible with gcc</a:t>
            </a:r>
          </a:p>
          <a:p>
            <a:pPr lvl="1"/>
            <a:r>
              <a:rPr lang="en-US" sz="1900" dirty="0"/>
              <a:t>Required to support arbitrary precision for C </a:t>
            </a:r>
          </a:p>
          <a:p>
            <a:pPr lvl="1"/>
            <a:r>
              <a:rPr lang="en-US" sz="1900" dirty="0"/>
              <a:t>Use </a:t>
            </a:r>
            <a:r>
              <a:rPr lang="en-US" sz="1900" dirty="0" err="1"/>
              <a:t>apcc</a:t>
            </a:r>
            <a:r>
              <a:rPr lang="en-US" sz="1900" dirty="0"/>
              <a:t> at the </a:t>
            </a:r>
            <a:r>
              <a:rPr lang="en-US" sz="1900" dirty="0" err="1"/>
              <a:t>Vivado</a:t>
            </a:r>
            <a:r>
              <a:rPr lang="en-US" sz="1900" dirty="0"/>
              <a:t> HLS CLI (shell)</a:t>
            </a:r>
          </a:p>
          <a:p>
            <a:pPr lvl="1"/>
            <a:endParaRPr lang="en-US" dirty="0"/>
          </a:p>
          <a:p>
            <a:pPr lvl="1"/>
            <a:endParaRPr lang="en-US" dirty="0"/>
          </a:p>
          <a:p>
            <a:pPr lvl="1"/>
            <a:r>
              <a:rPr lang="en-US" sz="1900" dirty="0"/>
              <a:t>HLS uses </a:t>
            </a:r>
            <a:r>
              <a:rPr lang="en-US" sz="1900" dirty="0" err="1"/>
              <a:t>apcc</a:t>
            </a:r>
            <a:r>
              <a:rPr lang="en-US" sz="1900" dirty="0"/>
              <a:t> automatically when it sees arbitrary precision is used in C model</a:t>
            </a:r>
            <a:endParaRPr lang="en-US" dirty="0"/>
          </a:p>
          <a:p>
            <a:r>
              <a:rPr lang="en-US" dirty="0" err="1"/>
              <a:t>apcc</a:t>
            </a:r>
            <a:r>
              <a:rPr lang="en-US" dirty="0"/>
              <a:t> understands bit-accurate types</a:t>
            </a:r>
          </a:p>
          <a:p>
            <a:endParaRPr lang="en-US" dirty="0"/>
          </a:p>
          <a:p>
            <a:endParaRPr lang="en-US" dirty="0"/>
          </a:p>
          <a:p>
            <a:endParaRPr lang="en-US" dirty="0"/>
          </a:p>
          <a:p>
            <a:pPr marL="0" indent="0">
              <a:buNone/>
            </a:pPr>
            <a:endParaRPr lang="en-US" dirty="0"/>
          </a:p>
          <a:p>
            <a:pPr lvl="1"/>
            <a:r>
              <a:rPr lang="en-US" dirty="0"/>
              <a:t>Once you create bit-accurate types you must re-validate the C</a:t>
            </a:r>
          </a:p>
          <a:p>
            <a:pPr lvl="1"/>
            <a:r>
              <a:rPr lang="en-US" dirty="0"/>
              <a:t>It’s the only way to discover rounding and truncation issues</a:t>
            </a:r>
          </a:p>
          <a:p>
            <a:pPr lvl="2"/>
            <a:r>
              <a:rPr lang="en-US" dirty="0"/>
              <a:t>It’s fast in C !!!</a:t>
            </a:r>
          </a:p>
        </p:txBody>
      </p:sp>
      <p:sp>
        <p:nvSpPr>
          <p:cNvPr id="60" name="TextBox 59">
            <a:extLst>
              <a:ext uri="{FF2B5EF4-FFF2-40B4-BE49-F238E27FC236}">
                <a16:creationId xmlns:a16="http://schemas.microsoft.com/office/drawing/2014/main" id="{EFFEAB32-208C-4D4B-AC4B-0B0B7450059C}"/>
              </a:ext>
            </a:extLst>
          </p:cNvPr>
          <p:cNvSpPr txBox="1"/>
          <p:nvPr/>
        </p:nvSpPr>
        <p:spPr>
          <a:xfrm>
            <a:off x="720701" y="3457514"/>
            <a:ext cx="2610860"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#include “</a:t>
            </a:r>
            <a:r>
              <a:rPr lang="en-US" sz="900" b="1" kern="0" dirty="0" err="1">
                <a:solidFill>
                  <a:srgbClr val="000000"/>
                </a:solidFill>
                <a:latin typeface="Consolas" pitchFamily="49" charset="0"/>
                <a:ea typeface="ＭＳ Ｐゴシック" pitchFamily="18" charset="-128"/>
              </a:rPr>
              <a:t>ap_cint.h</a:t>
            </a:r>
            <a:r>
              <a:rPr lang="en-US" sz="900" b="1" kern="0" dirty="0">
                <a:solidFill>
                  <a:srgbClr val="000000"/>
                </a:solidFill>
                <a:latin typeface="Consolas" pitchFamily="49" charset="0"/>
                <a:ea typeface="ＭＳ Ｐゴシック" pitchFamily="18" charset="-128"/>
              </a:rPr>
              <a:t>”</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int3 ex_bit_accurate (</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  int3 x1,</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  int3 y1</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  ) {</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  return x1+y1;</a:t>
            </a:r>
          </a:p>
          <a:p>
            <a:pPr defTabSz="914400" fontAlgn="base">
              <a:spcBef>
                <a:spcPct val="0"/>
              </a:spcBef>
              <a:spcAft>
                <a:spcPct val="0"/>
              </a:spcAft>
              <a:defRPr/>
            </a:pPr>
            <a:r>
              <a:rPr lang="en-US" sz="900" b="1" kern="0" dirty="0">
                <a:solidFill>
                  <a:srgbClr val="000000"/>
                </a:solidFill>
                <a:latin typeface="Consolas" pitchFamily="49" charset="0"/>
                <a:ea typeface="ＭＳ Ｐゴシック" pitchFamily="18" charset="-128"/>
              </a:rPr>
              <a:t>}</a:t>
            </a:r>
          </a:p>
        </p:txBody>
      </p:sp>
      <p:grpSp>
        <p:nvGrpSpPr>
          <p:cNvPr id="61" name="Group 48">
            <a:extLst>
              <a:ext uri="{FF2B5EF4-FFF2-40B4-BE49-F238E27FC236}">
                <a16:creationId xmlns:a16="http://schemas.microsoft.com/office/drawing/2014/main" id="{8A48E4B3-7D43-432D-95F4-A1E0BEB6DEF8}"/>
              </a:ext>
            </a:extLst>
          </p:cNvPr>
          <p:cNvGrpSpPr>
            <a:grpSpLocks/>
          </p:cNvGrpSpPr>
          <p:nvPr/>
        </p:nvGrpSpPr>
        <p:grpSpPr bwMode="auto">
          <a:xfrm>
            <a:off x="5842006" y="3789648"/>
            <a:ext cx="2384602" cy="574675"/>
            <a:chOff x="4421383" y="5825550"/>
            <a:chExt cx="1788917" cy="575250"/>
          </a:xfrm>
        </p:grpSpPr>
        <p:grpSp>
          <p:nvGrpSpPr>
            <p:cNvPr id="62" name="Group 25">
              <a:extLst>
                <a:ext uri="{FF2B5EF4-FFF2-40B4-BE49-F238E27FC236}">
                  <a16:creationId xmlns:a16="http://schemas.microsoft.com/office/drawing/2014/main" id="{AA99AA9B-10CC-495D-9233-0BC6AA35265A}"/>
                </a:ext>
              </a:extLst>
            </p:cNvPr>
            <p:cNvGrpSpPr>
              <a:grpSpLocks/>
            </p:cNvGrpSpPr>
            <p:nvPr/>
          </p:nvGrpSpPr>
          <p:grpSpPr bwMode="auto">
            <a:xfrm>
              <a:off x="4838700" y="5825550"/>
              <a:ext cx="1295400" cy="155731"/>
              <a:chOff x="4838700" y="5825550"/>
              <a:chExt cx="1295400" cy="155731"/>
            </a:xfrm>
          </p:grpSpPr>
          <p:sp>
            <p:nvSpPr>
              <p:cNvPr id="84" name="Rectangle 83">
                <a:extLst>
                  <a:ext uri="{FF2B5EF4-FFF2-40B4-BE49-F238E27FC236}">
                    <a16:creationId xmlns:a16="http://schemas.microsoft.com/office/drawing/2014/main" id="{4BD0364A-851B-43D5-8500-D6654139B096}"/>
                  </a:ext>
                </a:extLst>
              </p:cNvPr>
              <p:cNvSpPr/>
              <p:nvPr/>
            </p:nvSpPr>
            <p:spPr>
              <a:xfrm>
                <a:off x="4838700"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5" name="Rectangle 84">
                <a:extLst>
                  <a:ext uri="{FF2B5EF4-FFF2-40B4-BE49-F238E27FC236}">
                    <a16:creationId xmlns:a16="http://schemas.microsoft.com/office/drawing/2014/main" id="{6AFA5DA1-8682-41EC-9ED7-61F0AF3C8953}"/>
                  </a:ext>
                </a:extLst>
              </p:cNvPr>
              <p:cNvSpPr/>
              <p:nvPr/>
            </p:nvSpPr>
            <p:spPr>
              <a:xfrm>
                <a:off x="57070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6" name="Rectangle 85">
                <a:extLst>
                  <a:ext uri="{FF2B5EF4-FFF2-40B4-BE49-F238E27FC236}">
                    <a16:creationId xmlns:a16="http://schemas.microsoft.com/office/drawing/2014/main" id="{D53BB60E-11F7-40C2-B83B-40486455421F}"/>
                  </a:ext>
                </a:extLst>
              </p:cNvPr>
              <p:cNvSpPr/>
              <p:nvPr/>
            </p:nvSpPr>
            <p:spPr>
              <a:xfrm>
                <a:off x="58594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87" name="Rectangle 86">
                <a:extLst>
                  <a:ext uri="{FF2B5EF4-FFF2-40B4-BE49-F238E27FC236}">
                    <a16:creationId xmlns:a16="http://schemas.microsoft.com/office/drawing/2014/main" id="{AED78A94-DEC5-4FE1-A7BF-BCEC85FE0014}"/>
                  </a:ext>
                </a:extLst>
              </p:cNvPr>
              <p:cNvSpPr/>
              <p:nvPr/>
            </p:nvSpPr>
            <p:spPr>
              <a:xfrm>
                <a:off x="60118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8" name="Rectangle 87">
                <a:extLst>
                  <a:ext uri="{FF2B5EF4-FFF2-40B4-BE49-F238E27FC236}">
                    <a16:creationId xmlns:a16="http://schemas.microsoft.com/office/drawing/2014/main" id="{D92C5E7A-440A-4C46-8DA7-0F65EA193BCF}"/>
                  </a:ext>
                </a:extLst>
              </p:cNvPr>
              <p:cNvSpPr/>
              <p:nvPr/>
            </p:nvSpPr>
            <p:spPr>
              <a:xfrm>
                <a:off x="49831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9" name="Rectangle 88">
                <a:extLst>
                  <a:ext uri="{FF2B5EF4-FFF2-40B4-BE49-F238E27FC236}">
                    <a16:creationId xmlns:a16="http://schemas.microsoft.com/office/drawing/2014/main" id="{3FA0648A-2932-4760-A0F5-7294A0218E9C}"/>
                  </a:ext>
                </a:extLst>
              </p:cNvPr>
              <p:cNvSpPr/>
              <p:nvPr/>
            </p:nvSpPr>
            <p:spPr>
              <a:xfrm>
                <a:off x="54022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90" name="Rectangle 89">
                <a:extLst>
                  <a:ext uri="{FF2B5EF4-FFF2-40B4-BE49-F238E27FC236}">
                    <a16:creationId xmlns:a16="http://schemas.microsoft.com/office/drawing/2014/main" id="{A890B170-6CAA-4E89-BB3D-22AC68751364}"/>
                  </a:ext>
                </a:extLst>
              </p:cNvPr>
              <p:cNvSpPr/>
              <p:nvPr/>
            </p:nvSpPr>
            <p:spPr>
              <a:xfrm>
                <a:off x="5546725"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91" name="Rectangle 90">
                <a:extLst>
                  <a:ext uri="{FF2B5EF4-FFF2-40B4-BE49-F238E27FC236}">
                    <a16:creationId xmlns:a16="http://schemas.microsoft.com/office/drawing/2014/main" id="{BD52D0B8-287C-4948-94AF-8F1E319CBB0F}"/>
                  </a:ext>
                </a:extLst>
              </p:cNvPr>
              <p:cNvSpPr/>
              <p:nvPr/>
            </p:nvSpPr>
            <p:spPr>
              <a:xfrm>
                <a:off x="52117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a:t>
                </a:r>
              </a:p>
            </p:txBody>
          </p:sp>
        </p:grpSp>
        <p:grpSp>
          <p:nvGrpSpPr>
            <p:cNvPr id="64" name="Group 26">
              <a:extLst>
                <a:ext uri="{FF2B5EF4-FFF2-40B4-BE49-F238E27FC236}">
                  <a16:creationId xmlns:a16="http://schemas.microsoft.com/office/drawing/2014/main" id="{B430B396-441C-489F-82B4-C5CC4112F66F}"/>
                </a:ext>
              </a:extLst>
            </p:cNvPr>
            <p:cNvGrpSpPr>
              <a:grpSpLocks/>
            </p:cNvGrpSpPr>
            <p:nvPr/>
          </p:nvGrpSpPr>
          <p:grpSpPr bwMode="auto">
            <a:xfrm>
              <a:off x="4838700" y="6016240"/>
              <a:ext cx="1295400" cy="155731"/>
              <a:chOff x="4838700" y="5825740"/>
              <a:chExt cx="1295400" cy="155731"/>
            </a:xfrm>
          </p:grpSpPr>
          <p:sp>
            <p:nvSpPr>
              <p:cNvPr id="76" name="Rectangle 75">
                <a:extLst>
                  <a:ext uri="{FF2B5EF4-FFF2-40B4-BE49-F238E27FC236}">
                    <a16:creationId xmlns:a16="http://schemas.microsoft.com/office/drawing/2014/main" id="{096A443D-62F8-4306-AC13-6FE024497B71}"/>
                  </a:ext>
                </a:extLst>
              </p:cNvPr>
              <p:cNvSpPr/>
              <p:nvPr/>
            </p:nvSpPr>
            <p:spPr>
              <a:xfrm>
                <a:off x="4838700"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7" name="Rectangle 76">
                <a:extLst>
                  <a:ext uri="{FF2B5EF4-FFF2-40B4-BE49-F238E27FC236}">
                    <a16:creationId xmlns:a16="http://schemas.microsoft.com/office/drawing/2014/main" id="{27E14D38-7019-4427-B07D-FCC361F9A56E}"/>
                  </a:ext>
                </a:extLst>
              </p:cNvPr>
              <p:cNvSpPr/>
              <p:nvPr/>
            </p:nvSpPr>
            <p:spPr>
              <a:xfrm>
                <a:off x="57070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8" name="Rectangle 77">
                <a:extLst>
                  <a:ext uri="{FF2B5EF4-FFF2-40B4-BE49-F238E27FC236}">
                    <a16:creationId xmlns:a16="http://schemas.microsoft.com/office/drawing/2014/main" id="{A2C2C804-E1CB-410B-8A81-7A1CAA09FEF0}"/>
                  </a:ext>
                </a:extLst>
              </p:cNvPr>
              <p:cNvSpPr/>
              <p:nvPr/>
            </p:nvSpPr>
            <p:spPr>
              <a:xfrm>
                <a:off x="58594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79" name="Rectangle 78">
                <a:extLst>
                  <a:ext uri="{FF2B5EF4-FFF2-40B4-BE49-F238E27FC236}">
                    <a16:creationId xmlns:a16="http://schemas.microsoft.com/office/drawing/2014/main" id="{94D883E8-24E8-4CFD-A9B9-7A3BA094477F}"/>
                  </a:ext>
                </a:extLst>
              </p:cNvPr>
              <p:cNvSpPr/>
              <p:nvPr/>
            </p:nvSpPr>
            <p:spPr>
              <a:xfrm>
                <a:off x="60118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0" name="Rectangle 79">
                <a:extLst>
                  <a:ext uri="{FF2B5EF4-FFF2-40B4-BE49-F238E27FC236}">
                    <a16:creationId xmlns:a16="http://schemas.microsoft.com/office/drawing/2014/main" id="{953D2264-7D08-4FE4-A55C-07D0C7642A29}"/>
                  </a:ext>
                </a:extLst>
              </p:cNvPr>
              <p:cNvSpPr/>
              <p:nvPr/>
            </p:nvSpPr>
            <p:spPr>
              <a:xfrm>
                <a:off x="49831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1" name="Rectangle 80">
                <a:extLst>
                  <a:ext uri="{FF2B5EF4-FFF2-40B4-BE49-F238E27FC236}">
                    <a16:creationId xmlns:a16="http://schemas.microsoft.com/office/drawing/2014/main" id="{74B82352-F176-4E78-9A8E-2307284F7CE6}"/>
                  </a:ext>
                </a:extLst>
              </p:cNvPr>
              <p:cNvSpPr/>
              <p:nvPr/>
            </p:nvSpPr>
            <p:spPr>
              <a:xfrm>
                <a:off x="54022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2" name="Rectangle 81">
                <a:extLst>
                  <a:ext uri="{FF2B5EF4-FFF2-40B4-BE49-F238E27FC236}">
                    <a16:creationId xmlns:a16="http://schemas.microsoft.com/office/drawing/2014/main" id="{864E88E3-AD6B-4558-9F10-019766180CDE}"/>
                  </a:ext>
                </a:extLst>
              </p:cNvPr>
              <p:cNvSpPr/>
              <p:nvPr/>
            </p:nvSpPr>
            <p:spPr>
              <a:xfrm>
                <a:off x="5546725"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83" name="Rectangle 82">
                <a:extLst>
                  <a:ext uri="{FF2B5EF4-FFF2-40B4-BE49-F238E27FC236}">
                    <a16:creationId xmlns:a16="http://schemas.microsoft.com/office/drawing/2014/main" id="{583731E9-5057-4E84-A6BC-7CFBCE5EECD1}"/>
                  </a:ext>
                </a:extLst>
              </p:cNvPr>
              <p:cNvSpPr/>
              <p:nvPr/>
            </p:nvSpPr>
            <p:spPr>
              <a:xfrm>
                <a:off x="52117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a:t>
                </a:r>
              </a:p>
            </p:txBody>
          </p:sp>
        </p:grpSp>
        <p:grpSp>
          <p:nvGrpSpPr>
            <p:cNvPr id="65" name="Group 35">
              <a:extLst>
                <a:ext uri="{FF2B5EF4-FFF2-40B4-BE49-F238E27FC236}">
                  <a16:creationId xmlns:a16="http://schemas.microsoft.com/office/drawing/2014/main" id="{15BE4C00-E3E9-42DF-B4A9-D6BF23A97922}"/>
                </a:ext>
              </a:extLst>
            </p:cNvPr>
            <p:cNvGrpSpPr>
              <a:grpSpLocks/>
            </p:cNvGrpSpPr>
            <p:nvPr/>
          </p:nvGrpSpPr>
          <p:grpSpPr bwMode="auto">
            <a:xfrm>
              <a:off x="4838700" y="6245069"/>
              <a:ext cx="1295400" cy="155731"/>
              <a:chOff x="4838700" y="5825969"/>
              <a:chExt cx="1295400" cy="155731"/>
            </a:xfrm>
          </p:grpSpPr>
          <p:sp>
            <p:nvSpPr>
              <p:cNvPr id="68" name="Rectangle 67">
                <a:extLst>
                  <a:ext uri="{FF2B5EF4-FFF2-40B4-BE49-F238E27FC236}">
                    <a16:creationId xmlns:a16="http://schemas.microsoft.com/office/drawing/2014/main" id="{1E89AE1B-0148-4F44-97D0-11945C6FAEA2}"/>
                  </a:ext>
                </a:extLst>
              </p:cNvPr>
              <p:cNvSpPr/>
              <p:nvPr/>
            </p:nvSpPr>
            <p:spPr>
              <a:xfrm>
                <a:off x="4838700"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69" name="Rectangle 68">
                <a:extLst>
                  <a:ext uri="{FF2B5EF4-FFF2-40B4-BE49-F238E27FC236}">
                    <a16:creationId xmlns:a16="http://schemas.microsoft.com/office/drawing/2014/main" id="{F6EB5C24-03F6-49D9-82B1-C7103AD36CEA}"/>
                  </a:ext>
                </a:extLst>
              </p:cNvPr>
              <p:cNvSpPr/>
              <p:nvPr/>
            </p:nvSpPr>
            <p:spPr>
              <a:xfrm>
                <a:off x="57070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70" name="Rectangle 69">
                <a:extLst>
                  <a:ext uri="{FF2B5EF4-FFF2-40B4-BE49-F238E27FC236}">
                    <a16:creationId xmlns:a16="http://schemas.microsoft.com/office/drawing/2014/main" id="{DEA59A6A-4990-4140-8713-E2F9023B58E1}"/>
                  </a:ext>
                </a:extLst>
              </p:cNvPr>
              <p:cNvSpPr/>
              <p:nvPr/>
            </p:nvSpPr>
            <p:spPr>
              <a:xfrm>
                <a:off x="58594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1" name="Rectangle 70">
                <a:extLst>
                  <a:ext uri="{FF2B5EF4-FFF2-40B4-BE49-F238E27FC236}">
                    <a16:creationId xmlns:a16="http://schemas.microsoft.com/office/drawing/2014/main" id="{3BD68597-3791-42C2-8EF8-8E5548ED6672}"/>
                  </a:ext>
                </a:extLst>
              </p:cNvPr>
              <p:cNvSpPr/>
              <p:nvPr/>
            </p:nvSpPr>
            <p:spPr>
              <a:xfrm>
                <a:off x="60118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2" name="Rectangle 71">
                <a:extLst>
                  <a:ext uri="{FF2B5EF4-FFF2-40B4-BE49-F238E27FC236}">
                    <a16:creationId xmlns:a16="http://schemas.microsoft.com/office/drawing/2014/main" id="{FD430B65-F027-4D5F-BE19-77245FD9BC1B}"/>
                  </a:ext>
                </a:extLst>
              </p:cNvPr>
              <p:cNvSpPr/>
              <p:nvPr/>
            </p:nvSpPr>
            <p:spPr>
              <a:xfrm>
                <a:off x="49831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3" name="Rectangle 72">
                <a:extLst>
                  <a:ext uri="{FF2B5EF4-FFF2-40B4-BE49-F238E27FC236}">
                    <a16:creationId xmlns:a16="http://schemas.microsoft.com/office/drawing/2014/main" id="{A0B5DCC8-ACDE-47CC-9F2E-E3FABEE874AA}"/>
                  </a:ext>
                </a:extLst>
              </p:cNvPr>
              <p:cNvSpPr/>
              <p:nvPr/>
            </p:nvSpPr>
            <p:spPr>
              <a:xfrm>
                <a:off x="54022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4" name="Rectangle 73">
                <a:extLst>
                  <a:ext uri="{FF2B5EF4-FFF2-40B4-BE49-F238E27FC236}">
                    <a16:creationId xmlns:a16="http://schemas.microsoft.com/office/drawing/2014/main" id="{E525BE68-2292-4F9D-94BC-1F29923B0754}"/>
                  </a:ext>
                </a:extLst>
              </p:cNvPr>
              <p:cNvSpPr/>
              <p:nvPr/>
            </p:nvSpPr>
            <p:spPr>
              <a:xfrm>
                <a:off x="5546725"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75" name="Rectangle 74">
                <a:extLst>
                  <a:ext uri="{FF2B5EF4-FFF2-40B4-BE49-F238E27FC236}">
                    <a16:creationId xmlns:a16="http://schemas.microsoft.com/office/drawing/2014/main" id="{5EFE8F6B-DF27-4813-A93E-631E2FF561FF}"/>
                  </a:ext>
                </a:extLst>
              </p:cNvPr>
              <p:cNvSpPr/>
              <p:nvPr/>
            </p:nvSpPr>
            <p:spPr>
              <a:xfrm>
                <a:off x="52117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a:t>
                </a:r>
              </a:p>
            </p:txBody>
          </p:sp>
        </p:grpSp>
        <p:cxnSp>
          <p:nvCxnSpPr>
            <p:cNvPr id="66" name="Straight Connector 65">
              <a:extLst>
                <a:ext uri="{FF2B5EF4-FFF2-40B4-BE49-F238E27FC236}">
                  <a16:creationId xmlns:a16="http://schemas.microsoft.com/office/drawing/2014/main" id="{C899414D-42EC-41A2-8955-CCCEE7A665F9}"/>
                </a:ext>
              </a:extLst>
            </p:cNvPr>
            <p:cNvCxnSpPr/>
            <p:nvPr/>
          </p:nvCxnSpPr>
          <p:spPr>
            <a:xfrm>
              <a:off x="4686300" y="6210109"/>
              <a:ext cx="15240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67" name="TextBox 53">
              <a:extLst>
                <a:ext uri="{FF2B5EF4-FFF2-40B4-BE49-F238E27FC236}">
                  <a16:creationId xmlns:a16="http://schemas.microsoft.com/office/drawing/2014/main" id="{2796D445-3874-4457-BBCB-1D5DED1B1CE0}"/>
                </a:ext>
              </a:extLst>
            </p:cNvPr>
            <p:cNvSpPr txBox="1">
              <a:spLocks noChangeArrowheads="1"/>
            </p:cNvSpPr>
            <p:nvPr/>
          </p:nvSpPr>
          <p:spPr bwMode="auto">
            <a:xfrm>
              <a:off x="4421383" y="6019800"/>
              <a:ext cx="239551" cy="369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fontAlgn="base">
                <a:spcBef>
                  <a:spcPct val="0"/>
                </a:spcBef>
                <a:spcAft>
                  <a:spcPct val="0"/>
                </a:spcAft>
                <a:defRPr>
                  <a:solidFill>
                    <a:schemeClr val="tx1"/>
                  </a:solidFill>
                  <a:latin typeface="Arial" pitchFamily="34" charset="0"/>
                  <a:ea typeface="ＭＳ Ｐゴシック" pitchFamily="34" charset="-128"/>
                </a:defRPr>
              </a:lvl6pPr>
              <a:lvl7pPr marL="2971800" indent="-228600" defTabSz="457200" fontAlgn="base">
                <a:spcBef>
                  <a:spcPct val="0"/>
                </a:spcBef>
                <a:spcAft>
                  <a:spcPct val="0"/>
                </a:spcAft>
                <a:defRPr>
                  <a:solidFill>
                    <a:schemeClr val="tx1"/>
                  </a:solidFill>
                  <a:latin typeface="Arial" pitchFamily="34" charset="0"/>
                  <a:ea typeface="ＭＳ Ｐゴシック" pitchFamily="34" charset="-128"/>
                </a:defRPr>
              </a:lvl7pPr>
              <a:lvl8pPr marL="3429000" indent="-228600" defTabSz="457200" fontAlgn="base">
                <a:spcBef>
                  <a:spcPct val="0"/>
                </a:spcBef>
                <a:spcAft>
                  <a:spcPct val="0"/>
                </a:spcAft>
                <a:defRPr>
                  <a:solidFill>
                    <a:schemeClr val="tx1"/>
                  </a:solidFill>
                  <a:latin typeface="Arial" pitchFamily="34" charset="0"/>
                  <a:ea typeface="ＭＳ Ｐゴシック" pitchFamily="34" charset="-128"/>
                </a:defRPr>
              </a:lvl8pPr>
              <a:lvl9pPr marL="3886200" indent="-228600" defTabSz="457200" fontAlgn="base">
                <a:spcBef>
                  <a:spcPct val="0"/>
                </a:spcBef>
                <a:spcAft>
                  <a:spcPct val="0"/>
                </a:spcAft>
                <a:defRPr>
                  <a:solidFill>
                    <a:schemeClr val="tx1"/>
                  </a:solidFill>
                  <a:latin typeface="Arial" pitchFamily="34" charset="0"/>
                  <a:ea typeface="ＭＳ Ｐゴシック" pitchFamily="34" charset="-128"/>
                </a:defRPr>
              </a:lvl9pPr>
            </a:lstStyle>
            <a:p>
              <a:pPr algn="ctr" defTabSz="914400" fontAlgn="base">
                <a:spcBef>
                  <a:spcPct val="0"/>
                </a:spcBef>
                <a:spcAft>
                  <a:spcPct val="0"/>
                </a:spcAft>
                <a:defRPr/>
              </a:pPr>
              <a:r>
                <a:rPr lang="en-US" kern="0" dirty="0">
                  <a:solidFill>
                    <a:srgbClr val="000000"/>
                  </a:solidFill>
                </a:rPr>
                <a:t>+</a:t>
              </a:r>
            </a:p>
          </p:txBody>
        </p:sp>
      </p:grpSp>
      <p:sp>
        <p:nvSpPr>
          <p:cNvPr id="92" name="TextBox 91">
            <a:extLst>
              <a:ext uri="{FF2B5EF4-FFF2-40B4-BE49-F238E27FC236}">
                <a16:creationId xmlns:a16="http://schemas.microsoft.com/office/drawing/2014/main" id="{3EC4CD19-6486-4AA0-8640-C39ECE6C1D1E}"/>
              </a:ext>
            </a:extLst>
          </p:cNvPr>
          <p:cNvSpPr txBox="1"/>
          <p:nvPr/>
        </p:nvSpPr>
        <p:spPr>
          <a:xfrm>
            <a:off x="6625454" y="3472844"/>
            <a:ext cx="1263487" cy="276999"/>
          </a:xfrm>
          <a:prstGeom prst="rect">
            <a:avLst/>
          </a:prstGeom>
          <a:noFill/>
        </p:spPr>
        <p:txBody>
          <a:bodyPr wrap="none" rtlCol="0">
            <a:spAutoFit/>
          </a:bodyPr>
          <a:lstStyle/>
          <a:p>
            <a:pPr algn="ctr" defTabSz="914400" fontAlgn="base">
              <a:spcBef>
                <a:spcPct val="0"/>
              </a:spcBef>
              <a:spcAft>
                <a:spcPct val="0"/>
              </a:spcAft>
              <a:defRPr/>
            </a:pPr>
            <a:r>
              <a:rPr lang="en-US" sz="1200" b="1" u="sng" kern="0" dirty="0">
                <a:solidFill>
                  <a:srgbClr val="000000"/>
                </a:solidFill>
                <a:latin typeface="Arial"/>
              </a:rPr>
              <a:t>gcc simulation</a:t>
            </a:r>
          </a:p>
        </p:txBody>
      </p:sp>
      <p:sp>
        <p:nvSpPr>
          <p:cNvPr id="93" name="Right Arrow 230">
            <a:extLst>
              <a:ext uri="{FF2B5EF4-FFF2-40B4-BE49-F238E27FC236}">
                <a16:creationId xmlns:a16="http://schemas.microsoft.com/office/drawing/2014/main" id="{81F11019-BD5A-44EB-A999-1FB689C21F16}"/>
              </a:ext>
            </a:extLst>
          </p:cNvPr>
          <p:cNvSpPr/>
          <p:nvPr/>
        </p:nvSpPr>
        <p:spPr>
          <a:xfrm>
            <a:off x="4457815" y="3773184"/>
            <a:ext cx="71670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94" name="TextBox 93">
            <a:extLst>
              <a:ext uri="{FF2B5EF4-FFF2-40B4-BE49-F238E27FC236}">
                <a16:creationId xmlns:a16="http://schemas.microsoft.com/office/drawing/2014/main" id="{233DCDEC-0D8F-477D-B2C7-F5F53DFEC1BE}"/>
              </a:ext>
            </a:extLst>
          </p:cNvPr>
          <p:cNvSpPr txBox="1"/>
          <p:nvPr/>
        </p:nvSpPr>
        <p:spPr>
          <a:xfrm>
            <a:off x="8204651" y="3749038"/>
            <a:ext cx="269625" cy="461665"/>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2</a:t>
            </a:r>
          </a:p>
          <a:p>
            <a:pPr algn="ctr" defTabSz="914400" fontAlgn="base">
              <a:spcBef>
                <a:spcPct val="0"/>
              </a:spcBef>
              <a:spcAft>
                <a:spcPct val="0"/>
              </a:spcAft>
              <a:defRPr/>
            </a:pPr>
            <a:r>
              <a:rPr lang="en-US" sz="1200" b="1" kern="0" dirty="0">
                <a:solidFill>
                  <a:srgbClr val="000000"/>
                </a:solidFill>
                <a:latin typeface="Arial"/>
              </a:rPr>
              <a:t>2</a:t>
            </a:r>
          </a:p>
        </p:txBody>
      </p:sp>
      <p:sp>
        <p:nvSpPr>
          <p:cNvPr id="95" name="TextBox 94">
            <a:extLst>
              <a:ext uri="{FF2B5EF4-FFF2-40B4-BE49-F238E27FC236}">
                <a16:creationId xmlns:a16="http://schemas.microsoft.com/office/drawing/2014/main" id="{8E9BD117-3642-4C1A-8F30-556A066CA592}"/>
              </a:ext>
            </a:extLst>
          </p:cNvPr>
          <p:cNvSpPr txBox="1"/>
          <p:nvPr/>
        </p:nvSpPr>
        <p:spPr>
          <a:xfrm>
            <a:off x="8204651" y="4164134"/>
            <a:ext cx="269625"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4</a:t>
            </a:r>
          </a:p>
        </p:txBody>
      </p:sp>
      <p:sp>
        <p:nvSpPr>
          <p:cNvPr id="96" name="Rectangle 95">
            <a:extLst>
              <a:ext uri="{FF2B5EF4-FFF2-40B4-BE49-F238E27FC236}">
                <a16:creationId xmlns:a16="http://schemas.microsoft.com/office/drawing/2014/main" id="{63D0A3A0-ABF2-4003-9F56-103470D31415}"/>
              </a:ext>
            </a:extLst>
          </p:cNvPr>
          <p:cNvSpPr/>
          <p:nvPr/>
        </p:nvSpPr>
        <p:spPr bwMode="auto">
          <a:xfrm>
            <a:off x="9552338" y="37968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97" name="Rectangle 96">
            <a:extLst>
              <a:ext uri="{FF2B5EF4-FFF2-40B4-BE49-F238E27FC236}">
                <a16:creationId xmlns:a16="http://schemas.microsoft.com/office/drawing/2014/main" id="{59B1A121-B8EA-4BFF-BD06-2C6544B39D0C}"/>
              </a:ext>
            </a:extLst>
          </p:cNvPr>
          <p:cNvSpPr/>
          <p:nvPr/>
        </p:nvSpPr>
        <p:spPr bwMode="auto">
          <a:xfrm>
            <a:off x="9755485" y="37968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98" name="Rectangle 97">
            <a:extLst>
              <a:ext uri="{FF2B5EF4-FFF2-40B4-BE49-F238E27FC236}">
                <a16:creationId xmlns:a16="http://schemas.microsoft.com/office/drawing/2014/main" id="{4267D0A8-E4FE-41DD-8D7B-F869A1D16066}"/>
              </a:ext>
            </a:extLst>
          </p:cNvPr>
          <p:cNvSpPr/>
          <p:nvPr/>
        </p:nvSpPr>
        <p:spPr bwMode="auto">
          <a:xfrm>
            <a:off x="9958632" y="37968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99" name="Rectangle 98">
            <a:extLst>
              <a:ext uri="{FF2B5EF4-FFF2-40B4-BE49-F238E27FC236}">
                <a16:creationId xmlns:a16="http://schemas.microsoft.com/office/drawing/2014/main" id="{C2909B7C-A4EB-4A1C-B8E5-7BD0F99547AC}"/>
              </a:ext>
            </a:extLst>
          </p:cNvPr>
          <p:cNvSpPr/>
          <p:nvPr/>
        </p:nvSpPr>
        <p:spPr bwMode="auto">
          <a:xfrm>
            <a:off x="9552338" y="3987372"/>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00" name="Rectangle 99">
            <a:extLst>
              <a:ext uri="{FF2B5EF4-FFF2-40B4-BE49-F238E27FC236}">
                <a16:creationId xmlns:a16="http://schemas.microsoft.com/office/drawing/2014/main" id="{BBEFA3D3-059F-4A94-A620-7A74A5148D7C}"/>
              </a:ext>
            </a:extLst>
          </p:cNvPr>
          <p:cNvSpPr/>
          <p:nvPr/>
        </p:nvSpPr>
        <p:spPr bwMode="auto">
          <a:xfrm>
            <a:off x="9755485" y="3987372"/>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101" name="Rectangle 100">
            <a:extLst>
              <a:ext uri="{FF2B5EF4-FFF2-40B4-BE49-F238E27FC236}">
                <a16:creationId xmlns:a16="http://schemas.microsoft.com/office/drawing/2014/main" id="{FE471070-2961-45EF-A2A8-2C8D03451118}"/>
              </a:ext>
            </a:extLst>
          </p:cNvPr>
          <p:cNvSpPr/>
          <p:nvPr/>
        </p:nvSpPr>
        <p:spPr bwMode="auto">
          <a:xfrm>
            <a:off x="9958632" y="3987372"/>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02" name="Rectangle 101">
            <a:extLst>
              <a:ext uri="{FF2B5EF4-FFF2-40B4-BE49-F238E27FC236}">
                <a16:creationId xmlns:a16="http://schemas.microsoft.com/office/drawing/2014/main" id="{9270B73D-7F6D-4BA6-B74C-10553488E5A7}"/>
              </a:ext>
            </a:extLst>
          </p:cNvPr>
          <p:cNvSpPr/>
          <p:nvPr/>
        </p:nvSpPr>
        <p:spPr bwMode="auto">
          <a:xfrm>
            <a:off x="9552338" y="42159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103" name="Rectangle 102">
            <a:extLst>
              <a:ext uri="{FF2B5EF4-FFF2-40B4-BE49-F238E27FC236}">
                <a16:creationId xmlns:a16="http://schemas.microsoft.com/office/drawing/2014/main" id="{082F659A-D7BD-419E-A9D2-833D5CFA107D}"/>
              </a:ext>
            </a:extLst>
          </p:cNvPr>
          <p:cNvSpPr/>
          <p:nvPr/>
        </p:nvSpPr>
        <p:spPr bwMode="auto">
          <a:xfrm>
            <a:off x="9755485" y="42159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04" name="Rectangle 103">
            <a:extLst>
              <a:ext uri="{FF2B5EF4-FFF2-40B4-BE49-F238E27FC236}">
                <a16:creationId xmlns:a16="http://schemas.microsoft.com/office/drawing/2014/main" id="{C70FA15D-BB34-4EEF-A320-D80D01F354B8}"/>
              </a:ext>
            </a:extLst>
          </p:cNvPr>
          <p:cNvSpPr/>
          <p:nvPr/>
        </p:nvSpPr>
        <p:spPr bwMode="auto">
          <a:xfrm>
            <a:off x="9958632" y="4215973"/>
            <a:ext cx="162940" cy="155575"/>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cxnSp>
        <p:nvCxnSpPr>
          <p:cNvPr id="105" name="Straight Connector 104">
            <a:extLst>
              <a:ext uri="{FF2B5EF4-FFF2-40B4-BE49-F238E27FC236}">
                <a16:creationId xmlns:a16="http://schemas.microsoft.com/office/drawing/2014/main" id="{DCA8EAC6-72E3-471E-B45B-13F5CC95050C}"/>
              </a:ext>
            </a:extLst>
          </p:cNvPr>
          <p:cNvCxnSpPr/>
          <p:nvPr/>
        </p:nvCxnSpPr>
        <p:spPr bwMode="auto">
          <a:xfrm>
            <a:off x="9423567" y="4180923"/>
            <a:ext cx="799578" cy="125"/>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106" name="TextBox 46">
            <a:extLst>
              <a:ext uri="{FF2B5EF4-FFF2-40B4-BE49-F238E27FC236}">
                <a16:creationId xmlns:a16="http://schemas.microsoft.com/office/drawing/2014/main" id="{CD5AC25F-4667-41B6-953C-D5F351C7212D}"/>
              </a:ext>
            </a:extLst>
          </p:cNvPr>
          <p:cNvSpPr txBox="1">
            <a:spLocks noChangeArrowheads="1"/>
          </p:cNvSpPr>
          <p:nvPr/>
        </p:nvSpPr>
        <p:spPr bwMode="auto">
          <a:xfrm>
            <a:off x="9102278" y="3990928"/>
            <a:ext cx="3193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fontAlgn="base">
              <a:spcBef>
                <a:spcPct val="0"/>
              </a:spcBef>
              <a:spcAft>
                <a:spcPct val="0"/>
              </a:spcAft>
              <a:defRPr>
                <a:solidFill>
                  <a:schemeClr val="tx1"/>
                </a:solidFill>
                <a:latin typeface="Arial" pitchFamily="34" charset="0"/>
                <a:ea typeface="ＭＳ Ｐゴシック" pitchFamily="34" charset="-128"/>
              </a:defRPr>
            </a:lvl6pPr>
            <a:lvl7pPr marL="2971800" indent="-228600" defTabSz="457200" fontAlgn="base">
              <a:spcBef>
                <a:spcPct val="0"/>
              </a:spcBef>
              <a:spcAft>
                <a:spcPct val="0"/>
              </a:spcAft>
              <a:defRPr>
                <a:solidFill>
                  <a:schemeClr val="tx1"/>
                </a:solidFill>
                <a:latin typeface="Arial" pitchFamily="34" charset="0"/>
                <a:ea typeface="ＭＳ Ｐゴシック" pitchFamily="34" charset="-128"/>
              </a:defRPr>
            </a:lvl7pPr>
            <a:lvl8pPr marL="3429000" indent="-228600" defTabSz="457200" fontAlgn="base">
              <a:spcBef>
                <a:spcPct val="0"/>
              </a:spcBef>
              <a:spcAft>
                <a:spcPct val="0"/>
              </a:spcAft>
              <a:defRPr>
                <a:solidFill>
                  <a:schemeClr val="tx1"/>
                </a:solidFill>
                <a:latin typeface="Arial" pitchFamily="34" charset="0"/>
                <a:ea typeface="ＭＳ Ｐゴシック" pitchFamily="34" charset="-128"/>
              </a:defRPr>
            </a:lvl8pPr>
            <a:lvl9pPr marL="3886200" indent="-228600" defTabSz="457200" fontAlgn="base">
              <a:spcBef>
                <a:spcPct val="0"/>
              </a:spcBef>
              <a:spcAft>
                <a:spcPct val="0"/>
              </a:spcAft>
              <a:defRPr>
                <a:solidFill>
                  <a:schemeClr val="tx1"/>
                </a:solidFill>
                <a:latin typeface="Arial" pitchFamily="34" charset="0"/>
                <a:ea typeface="ＭＳ Ｐゴシック" pitchFamily="34" charset="-128"/>
              </a:defRPr>
            </a:lvl9pPr>
          </a:lstStyle>
          <a:p>
            <a:pPr algn="ctr" defTabSz="914400" fontAlgn="base">
              <a:spcBef>
                <a:spcPct val="0"/>
              </a:spcBef>
              <a:spcAft>
                <a:spcPct val="0"/>
              </a:spcAft>
              <a:defRPr/>
            </a:pPr>
            <a:r>
              <a:rPr lang="en-US" kern="0" dirty="0">
                <a:solidFill>
                  <a:srgbClr val="000000"/>
                </a:solidFill>
              </a:rPr>
              <a:t>+</a:t>
            </a:r>
          </a:p>
        </p:txBody>
      </p:sp>
      <p:sp>
        <p:nvSpPr>
          <p:cNvPr id="107" name="TextBox 106">
            <a:extLst>
              <a:ext uri="{FF2B5EF4-FFF2-40B4-BE49-F238E27FC236}">
                <a16:creationId xmlns:a16="http://schemas.microsoft.com/office/drawing/2014/main" id="{E0C28CC9-B025-4D31-9BA6-17767B4C7D08}"/>
              </a:ext>
            </a:extLst>
          </p:cNvPr>
          <p:cNvSpPr txBox="1"/>
          <p:nvPr/>
        </p:nvSpPr>
        <p:spPr>
          <a:xfrm>
            <a:off x="9500105" y="3528038"/>
            <a:ext cx="1348446" cy="276999"/>
          </a:xfrm>
          <a:prstGeom prst="rect">
            <a:avLst/>
          </a:prstGeom>
          <a:noFill/>
        </p:spPr>
        <p:txBody>
          <a:bodyPr wrap="none" rtlCol="0">
            <a:spAutoFit/>
          </a:bodyPr>
          <a:lstStyle/>
          <a:p>
            <a:pPr algn="ctr" defTabSz="914400" fontAlgn="base">
              <a:spcBef>
                <a:spcPct val="0"/>
              </a:spcBef>
              <a:spcAft>
                <a:spcPct val="0"/>
              </a:spcAft>
              <a:defRPr/>
            </a:pPr>
            <a:r>
              <a:rPr lang="en-US" sz="1200" b="1" u="sng" kern="0" dirty="0" err="1">
                <a:solidFill>
                  <a:srgbClr val="000000"/>
                </a:solidFill>
                <a:latin typeface="Arial"/>
              </a:rPr>
              <a:t>apcc</a:t>
            </a:r>
            <a:r>
              <a:rPr lang="en-US" sz="1200" b="1" u="sng" kern="0" dirty="0">
                <a:solidFill>
                  <a:srgbClr val="000000"/>
                </a:solidFill>
                <a:latin typeface="Arial"/>
              </a:rPr>
              <a:t> simulation</a:t>
            </a:r>
          </a:p>
        </p:txBody>
      </p:sp>
      <p:sp>
        <p:nvSpPr>
          <p:cNvPr id="108" name="TextBox 107">
            <a:extLst>
              <a:ext uri="{FF2B5EF4-FFF2-40B4-BE49-F238E27FC236}">
                <a16:creationId xmlns:a16="http://schemas.microsoft.com/office/drawing/2014/main" id="{B4D85B0B-0531-456D-BFF1-8C11905A8972}"/>
              </a:ext>
            </a:extLst>
          </p:cNvPr>
          <p:cNvSpPr txBox="1"/>
          <p:nvPr/>
        </p:nvSpPr>
        <p:spPr>
          <a:xfrm>
            <a:off x="10219279" y="3757068"/>
            <a:ext cx="269625" cy="461665"/>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2</a:t>
            </a:r>
          </a:p>
          <a:p>
            <a:pPr algn="ctr" defTabSz="914400" fontAlgn="base">
              <a:spcBef>
                <a:spcPct val="0"/>
              </a:spcBef>
              <a:spcAft>
                <a:spcPct val="0"/>
              </a:spcAft>
              <a:defRPr/>
            </a:pPr>
            <a:r>
              <a:rPr lang="en-US" sz="1200" b="1" kern="0" dirty="0">
                <a:solidFill>
                  <a:srgbClr val="000000"/>
                </a:solidFill>
                <a:latin typeface="Arial"/>
              </a:rPr>
              <a:t>2</a:t>
            </a:r>
          </a:p>
        </p:txBody>
      </p:sp>
      <p:sp>
        <p:nvSpPr>
          <p:cNvPr id="109" name="TextBox 108">
            <a:extLst>
              <a:ext uri="{FF2B5EF4-FFF2-40B4-BE49-F238E27FC236}">
                <a16:creationId xmlns:a16="http://schemas.microsoft.com/office/drawing/2014/main" id="{9D739AC8-2E56-4C9C-A058-C0EED09AD70B}"/>
              </a:ext>
            </a:extLst>
          </p:cNvPr>
          <p:cNvSpPr txBox="1"/>
          <p:nvPr/>
        </p:nvSpPr>
        <p:spPr>
          <a:xfrm>
            <a:off x="10166576" y="4172164"/>
            <a:ext cx="320922"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-4</a:t>
            </a:r>
          </a:p>
        </p:txBody>
      </p:sp>
      <p:sp>
        <p:nvSpPr>
          <p:cNvPr id="110" name="TextBox 109">
            <a:extLst>
              <a:ext uri="{FF2B5EF4-FFF2-40B4-BE49-F238E27FC236}">
                <a16:creationId xmlns:a16="http://schemas.microsoft.com/office/drawing/2014/main" id="{55A5428A-147E-4F51-A64F-99B193A8C1CE}"/>
              </a:ext>
            </a:extLst>
          </p:cNvPr>
          <p:cNvSpPr txBox="1"/>
          <p:nvPr/>
        </p:nvSpPr>
        <p:spPr>
          <a:xfrm>
            <a:off x="5639019" y="3765634"/>
            <a:ext cx="354584" cy="461665"/>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x1</a:t>
            </a:r>
          </a:p>
          <a:p>
            <a:pPr algn="r" defTabSz="914400" fontAlgn="base">
              <a:spcBef>
                <a:spcPct val="0"/>
              </a:spcBef>
              <a:spcAft>
                <a:spcPct val="0"/>
              </a:spcAft>
              <a:defRPr/>
            </a:pPr>
            <a:r>
              <a:rPr lang="en-US" sz="1200" b="1" kern="0" dirty="0">
                <a:solidFill>
                  <a:srgbClr val="000000"/>
                </a:solidFill>
                <a:latin typeface="Arial"/>
              </a:rPr>
              <a:t>y1</a:t>
            </a:r>
          </a:p>
        </p:txBody>
      </p:sp>
      <p:sp>
        <p:nvSpPr>
          <p:cNvPr id="111" name="TextBox 110">
            <a:extLst>
              <a:ext uri="{FF2B5EF4-FFF2-40B4-BE49-F238E27FC236}">
                <a16:creationId xmlns:a16="http://schemas.microsoft.com/office/drawing/2014/main" id="{95812F11-FA04-49D4-BE2B-524B5B72D143}"/>
              </a:ext>
            </a:extLst>
          </p:cNvPr>
          <p:cNvSpPr txBox="1"/>
          <p:nvPr/>
        </p:nvSpPr>
        <p:spPr>
          <a:xfrm>
            <a:off x="5364908" y="4180730"/>
            <a:ext cx="628697"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return</a:t>
            </a:r>
          </a:p>
        </p:txBody>
      </p:sp>
      <p:sp>
        <p:nvSpPr>
          <p:cNvPr id="112" name="TextBox 111">
            <a:extLst>
              <a:ext uri="{FF2B5EF4-FFF2-40B4-BE49-F238E27FC236}">
                <a16:creationId xmlns:a16="http://schemas.microsoft.com/office/drawing/2014/main" id="{DAFFB21C-1099-4F24-936E-488621C781EB}"/>
              </a:ext>
            </a:extLst>
          </p:cNvPr>
          <p:cNvSpPr txBox="1"/>
          <p:nvPr/>
        </p:nvSpPr>
        <p:spPr>
          <a:xfrm>
            <a:off x="3126789" y="3751242"/>
            <a:ext cx="1228639" cy="43088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Given: x1=2 </a:t>
            </a:r>
          </a:p>
          <a:p>
            <a:pPr algn="ctr" defTabSz="914400" fontAlgn="base">
              <a:spcBef>
                <a:spcPct val="0"/>
              </a:spcBef>
              <a:spcAft>
                <a:spcPct val="0"/>
              </a:spcAft>
              <a:defRPr/>
            </a:pPr>
            <a:r>
              <a:rPr lang="en-US" sz="1100" b="1" kern="0" dirty="0">
                <a:solidFill>
                  <a:srgbClr val="000000"/>
                </a:solidFill>
                <a:latin typeface="Arial"/>
              </a:rPr>
              <a:t>y1=2</a:t>
            </a:r>
          </a:p>
        </p:txBody>
      </p:sp>
      <p:sp>
        <p:nvSpPr>
          <p:cNvPr id="113" name="TextBox 112">
            <a:extLst>
              <a:ext uri="{FF2B5EF4-FFF2-40B4-BE49-F238E27FC236}">
                <a16:creationId xmlns:a16="http://schemas.microsoft.com/office/drawing/2014/main" id="{A6D3DAAC-F824-4D4E-9976-DD0088B59A03}"/>
              </a:ext>
            </a:extLst>
          </p:cNvPr>
          <p:cNvSpPr txBox="1"/>
          <p:nvPr/>
        </p:nvSpPr>
        <p:spPr>
          <a:xfrm>
            <a:off x="10601014" y="3866458"/>
            <a:ext cx="1331027" cy="43088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Simulates as hardware</a:t>
            </a:r>
          </a:p>
        </p:txBody>
      </p:sp>
      <p:sp>
        <p:nvSpPr>
          <p:cNvPr id="114" name="&quot;No&quot; Symbol 251">
            <a:extLst>
              <a:ext uri="{FF2B5EF4-FFF2-40B4-BE49-F238E27FC236}">
                <a16:creationId xmlns:a16="http://schemas.microsoft.com/office/drawing/2014/main" id="{8AB00431-7244-4EC8-913A-0CC9D7C87AA2}"/>
              </a:ext>
            </a:extLst>
          </p:cNvPr>
          <p:cNvSpPr/>
          <p:nvPr/>
        </p:nvSpPr>
        <p:spPr>
          <a:xfrm>
            <a:off x="8450896" y="4173698"/>
            <a:ext cx="358353" cy="268835"/>
          </a:xfrm>
          <a:prstGeom prst="noSmoking">
            <a:avLst/>
          </a:prstGeom>
          <a:solidFill>
            <a:srgbClr val="FF0000"/>
          </a:solidFill>
          <a:ln w="19050">
            <a:solidFill>
              <a:srgbClr val="000000"/>
            </a:solid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prst="angle"/>
          </a:sp3d>
        </p:spPr>
        <p:txBody>
          <a:bodyPr rtlCol="0" anchor="ctr"/>
          <a:lstStyle/>
          <a:p>
            <a:pPr algn="ctr" defTabSz="914400" fontAlgn="base">
              <a:spcBef>
                <a:spcPct val="0"/>
              </a:spcBef>
              <a:spcAft>
                <a:spcPct val="0"/>
              </a:spcAft>
              <a:defRPr/>
            </a:pPr>
            <a:endParaRPr lang="en-US" kern="0" dirty="0">
              <a:solidFill>
                <a:srgbClr val="FF0000"/>
              </a:solidFill>
              <a:latin typeface="Arial"/>
            </a:endParaRPr>
          </a:p>
        </p:txBody>
      </p:sp>
      <p:sp>
        <p:nvSpPr>
          <p:cNvPr id="115" name="TextBox 114">
            <a:extLst>
              <a:ext uri="{FF2B5EF4-FFF2-40B4-BE49-F238E27FC236}">
                <a16:creationId xmlns:a16="http://schemas.microsoft.com/office/drawing/2014/main" id="{0BB56DCC-F1CD-4B20-B4EC-75EF55A7EF03}"/>
              </a:ext>
            </a:extLst>
          </p:cNvPr>
          <p:cNvSpPr txBox="1"/>
          <p:nvPr/>
        </p:nvSpPr>
        <p:spPr>
          <a:xfrm>
            <a:off x="1656312" y="2245732"/>
            <a:ext cx="4505013" cy="276999"/>
          </a:xfrm>
          <a:prstGeom prst="rect">
            <a:avLst/>
          </a:prstGeom>
          <a:solidFill>
            <a:srgbClr val="008CA8">
              <a:lumMod val="75000"/>
            </a:srgbClr>
          </a:solidFill>
          <a:ln w="12700" cap="flat" cmpd="sng" algn="ctr">
            <a:solidFill>
              <a:srgbClr val="000000"/>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FFFFFF"/>
                </a:solidFill>
                <a:latin typeface="Arial"/>
              </a:rPr>
              <a:t>shell&gt; </a:t>
            </a:r>
            <a:r>
              <a:rPr lang="en-US" sz="1200" b="1" kern="0" dirty="0" err="1">
                <a:solidFill>
                  <a:srgbClr val="FFFFFF"/>
                </a:solidFill>
                <a:latin typeface="Arial"/>
              </a:rPr>
              <a:t>apcc</a:t>
            </a:r>
            <a:r>
              <a:rPr lang="en-US" sz="1200" kern="0" dirty="0">
                <a:solidFill>
                  <a:srgbClr val="FFFFFF"/>
                </a:solidFill>
                <a:latin typeface="Arial"/>
              </a:rPr>
              <a:t> –o my_test test.c test_tb.c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1000"/>
                                        <p:tgtEl>
                                          <p:spTgt spid="114"/>
                                        </p:tgtEl>
                                      </p:cBhvr>
                                    </p:animEffect>
                                    <p:anim calcmode="lin" valueType="num">
                                      <p:cBhvr>
                                        <p:cTn id="8" dur="1000" fill="hold"/>
                                        <p:tgtEl>
                                          <p:spTgt spid="114"/>
                                        </p:tgtEl>
                                        <p:attrNameLst>
                                          <p:attrName>ppt_x</p:attrName>
                                        </p:attrNameLst>
                                      </p:cBhvr>
                                      <p:tavLst>
                                        <p:tav tm="0">
                                          <p:val>
                                            <p:strVal val="#ppt_x"/>
                                          </p:val>
                                        </p:tav>
                                        <p:tav tm="100000">
                                          <p:val>
                                            <p:strVal val="#ppt_x"/>
                                          </p:val>
                                        </p:tav>
                                      </p:tavLst>
                                    </p:anim>
                                    <p:anim calcmode="lin" valueType="num">
                                      <p:cBhvr>
                                        <p:cTn id="9" dur="1000" fill="hold"/>
                                        <p:tgtEl>
                                          <p:spTgt spid="1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Integer Promotion</a:t>
            </a:r>
          </a:p>
        </p:txBody>
      </p:sp>
      <p:sp>
        <p:nvSpPr>
          <p:cNvPr id="98" name="Slide Number Placeholder 9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14</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Integer promotion </a:t>
            </a:r>
          </a:p>
          <a:p>
            <a:pPr lvl="1"/>
            <a:r>
              <a:rPr lang="en-US" dirty="0"/>
              <a:t>The </a:t>
            </a:r>
            <a:r>
              <a:rPr lang="en-US" dirty="0" err="1"/>
              <a:t>apcc</a:t>
            </a:r>
            <a:r>
              <a:rPr lang="en-US" dirty="0"/>
              <a:t> utility must still obey standard C/gcc rules and protocols</a:t>
            </a:r>
          </a:p>
          <a:p>
            <a:pPr lvl="1"/>
            <a:r>
              <a:rPr lang="en-US" dirty="0"/>
              <a:t>Integer promotion:</a:t>
            </a:r>
          </a:p>
          <a:p>
            <a:pPr lvl="2"/>
            <a:r>
              <a:rPr lang="en-US" dirty="0"/>
              <a:t>If the operator result is a larger type </a:t>
            </a:r>
            <a:r>
              <a:rPr lang="en-US" dirty="0">
                <a:sym typeface="Wingdings" pitchFamily="2" charset="2"/>
              </a:rPr>
              <a:t> </a:t>
            </a:r>
          </a:p>
          <a:p>
            <a:pPr lvl="2"/>
            <a:r>
              <a:rPr lang="en-US" dirty="0">
                <a:sym typeface="Wingdings" pitchFamily="2" charset="2"/>
              </a:rPr>
              <a:t>T</a:t>
            </a:r>
            <a:r>
              <a:rPr lang="en-US" dirty="0"/>
              <a:t>he result is promoted to the target type (on 8, 16, 32 or 64 boundaries)</a:t>
            </a:r>
          </a:p>
          <a:p>
            <a:endParaRPr lang="en-US" dirty="0"/>
          </a:p>
          <a:p>
            <a:endParaRPr lang="en-US" dirty="0"/>
          </a:p>
        </p:txBody>
      </p:sp>
      <p:sp>
        <p:nvSpPr>
          <p:cNvPr id="94" name="Right Arrow 95">
            <a:extLst>
              <a:ext uri="{FF2B5EF4-FFF2-40B4-BE49-F238E27FC236}">
                <a16:creationId xmlns:a16="http://schemas.microsoft.com/office/drawing/2014/main" id="{774EFC4C-2863-4015-A5DD-C29F80F84DEF}"/>
              </a:ext>
            </a:extLst>
          </p:cNvPr>
          <p:cNvSpPr/>
          <p:nvPr/>
        </p:nvSpPr>
        <p:spPr>
          <a:xfrm>
            <a:off x="5003915" y="4005075"/>
            <a:ext cx="71670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grpSp>
        <p:nvGrpSpPr>
          <p:cNvPr id="99" name="Group 25">
            <a:extLst>
              <a:ext uri="{FF2B5EF4-FFF2-40B4-BE49-F238E27FC236}">
                <a16:creationId xmlns:a16="http://schemas.microsoft.com/office/drawing/2014/main" id="{C48A5033-D854-4CD3-80D9-58A31348557F}"/>
              </a:ext>
            </a:extLst>
          </p:cNvPr>
          <p:cNvGrpSpPr>
            <a:grpSpLocks/>
          </p:cNvGrpSpPr>
          <p:nvPr/>
        </p:nvGrpSpPr>
        <p:grpSpPr bwMode="auto">
          <a:xfrm>
            <a:off x="6574408" y="3745209"/>
            <a:ext cx="1550625" cy="156158"/>
            <a:chOff x="4970828" y="5824966"/>
            <a:chExt cx="1163272" cy="156315"/>
          </a:xfrm>
        </p:grpSpPr>
        <p:sp>
          <p:nvSpPr>
            <p:cNvPr id="100" name="Rectangle 99">
              <a:extLst>
                <a:ext uri="{FF2B5EF4-FFF2-40B4-BE49-F238E27FC236}">
                  <a16:creationId xmlns:a16="http://schemas.microsoft.com/office/drawing/2014/main" id="{EC1EDDE5-2FA6-42AF-8935-D76CB9A443C1}"/>
                </a:ext>
              </a:extLst>
            </p:cNvPr>
            <p:cNvSpPr/>
            <p:nvPr/>
          </p:nvSpPr>
          <p:spPr>
            <a:xfrm>
              <a:off x="5113330"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01" name="Rectangle 100">
              <a:extLst>
                <a:ext uri="{FF2B5EF4-FFF2-40B4-BE49-F238E27FC236}">
                  <a16:creationId xmlns:a16="http://schemas.microsoft.com/office/drawing/2014/main" id="{EDCEA405-AB23-4265-9000-6718898A1F0C}"/>
                </a:ext>
              </a:extLst>
            </p:cNvPr>
            <p:cNvSpPr/>
            <p:nvPr/>
          </p:nvSpPr>
          <p:spPr>
            <a:xfrm>
              <a:off x="57070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11" name="Rectangle 110">
              <a:extLst>
                <a:ext uri="{FF2B5EF4-FFF2-40B4-BE49-F238E27FC236}">
                  <a16:creationId xmlns:a16="http://schemas.microsoft.com/office/drawing/2014/main" id="{09FE5E0B-3EDA-4676-92C6-D056969F74FD}"/>
                </a:ext>
              </a:extLst>
            </p:cNvPr>
            <p:cNvSpPr/>
            <p:nvPr/>
          </p:nvSpPr>
          <p:spPr>
            <a:xfrm>
              <a:off x="58594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19" name="Rectangle 118">
              <a:extLst>
                <a:ext uri="{FF2B5EF4-FFF2-40B4-BE49-F238E27FC236}">
                  <a16:creationId xmlns:a16="http://schemas.microsoft.com/office/drawing/2014/main" id="{12F437B3-1C34-4FC2-A694-40E6F5654CD3}"/>
                </a:ext>
              </a:extLst>
            </p:cNvPr>
            <p:cNvSpPr/>
            <p:nvPr/>
          </p:nvSpPr>
          <p:spPr>
            <a:xfrm>
              <a:off x="60118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27" name="Rectangle 126">
              <a:extLst>
                <a:ext uri="{FF2B5EF4-FFF2-40B4-BE49-F238E27FC236}">
                  <a16:creationId xmlns:a16="http://schemas.microsoft.com/office/drawing/2014/main" id="{6CDFF2F9-68C9-48A1-B4D8-FD54032496A1}"/>
                </a:ext>
              </a:extLst>
            </p:cNvPr>
            <p:cNvSpPr/>
            <p:nvPr/>
          </p:nvSpPr>
          <p:spPr>
            <a:xfrm>
              <a:off x="525779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33" name="Rectangle 132">
              <a:extLst>
                <a:ext uri="{FF2B5EF4-FFF2-40B4-BE49-F238E27FC236}">
                  <a16:creationId xmlns:a16="http://schemas.microsoft.com/office/drawing/2014/main" id="{D7E125F8-9326-4EE5-A423-C3965AEE12AD}"/>
                </a:ext>
              </a:extLst>
            </p:cNvPr>
            <p:cNvSpPr/>
            <p:nvPr/>
          </p:nvSpPr>
          <p:spPr>
            <a:xfrm>
              <a:off x="54022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134" name="Rectangle 133">
              <a:extLst>
                <a:ext uri="{FF2B5EF4-FFF2-40B4-BE49-F238E27FC236}">
                  <a16:creationId xmlns:a16="http://schemas.microsoft.com/office/drawing/2014/main" id="{A117868C-B1BD-4A35-94AB-B37E04FD0D50}"/>
                </a:ext>
              </a:extLst>
            </p:cNvPr>
            <p:cNvSpPr/>
            <p:nvPr/>
          </p:nvSpPr>
          <p:spPr>
            <a:xfrm>
              <a:off x="5546725"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36" name="Rectangle 135">
              <a:extLst>
                <a:ext uri="{FF2B5EF4-FFF2-40B4-BE49-F238E27FC236}">
                  <a16:creationId xmlns:a16="http://schemas.microsoft.com/office/drawing/2014/main" id="{90064216-D7F6-4F0E-A156-6EE02073C6F3}"/>
                </a:ext>
              </a:extLst>
            </p:cNvPr>
            <p:cNvSpPr/>
            <p:nvPr/>
          </p:nvSpPr>
          <p:spPr>
            <a:xfrm>
              <a:off x="4970828" y="5824966"/>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grpSp>
        <p:nvGrpSpPr>
          <p:cNvPr id="140" name="Group 26">
            <a:extLst>
              <a:ext uri="{FF2B5EF4-FFF2-40B4-BE49-F238E27FC236}">
                <a16:creationId xmlns:a16="http://schemas.microsoft.com/office/drawing/2014/main" id="{25A2F763-6B7D-4AF1-9BFC-91769D51425A}"/>
              </a:ext>
            </a:extLst>
          </p:cNvPr>
          <p:cNvGrpSpPr>
            <a:grpSpLocks/>
          </p:cNvGrpSpPr>
          <p:nvPr/>
        </p:nvGrpSpPr>
        <p:grpSpPr bwMode="auto">
          <a:xfrm>
            <a:off x="6574408" y="3935705"/>
            <a:ext cx="1550625" cy="156163"/>
            <a:chOff x="4970828" y="5825151"/>
            <a:chExt cx="1163272" cy="156320"/>
          </a:xfrm>
        </p:grpSpPr>
        <p:sp>
          <p:nvSpPr>
            <p:cNvPr id="141" name="Rectangle 140">
              <a:extLst>
                <a:ext uri="{FF2B5EF4-FFF2-40B4-BE49-F238E27FC236}">
                  <a16:creationId xmlns:a16="http://schemas.microsoft.com/office/drawing/2014/main" id="{17D21089-8FD0-49F7-A542-32563FE803AA}"/>
                </a:ext>
              </a:extLst>
            </p:cNvPr>
            <p:cNvSpPr/>
            <p:nvPr/>
          </p:nvSpPr>
          <p:spPr>
            <a:xfrm>
              <a:off x="5113330"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2" name="Rectangle 141">
              <a:extLst>
                <a:ext uri="{FF2B5EF4-FFF2-40B4-BE49-F238E27FC236}">
                  <a16:creationId xmlns:a16="http://schemas.microsoft.com/office/drawing/2014/main" id="{4CEF114C-9FD1-464D-85C5-198E560E4B70}"/>
                </a:ext>
              </a:extLst>
            </p:cNvPr>
            <p:cNvSpPr/>
            <p:nvPr/>
          </p:nvSpPr>
          <p:spPr>
            <a:xfrm>
              <a:off x="57070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3" name="Rectangle 142">
              <a:extLst>
                <a:ext uri="{FF2B5EF4-FFF2-40B4-BE49-F238E27FC236}">
                  <a16:creationId xmlns:a16="http://schemas.microsoft.com/office/drawing/2014/main" id="{7A7CAD0D-E9C9-4E04-8C33-D76454F23F8B}"/>
                </a:ext>
              </a:extLst>
            </p:cNvPr>
            <p:cNvSpPr/>
            <p:nvPr/>
          </p:nvSpPr>
          <p:spPr>
            <a:xfrm>
              <a:off x="58594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4" name="Rectangle 143">
              <a:extLst>
                <a:ext uri="{FF2B5EF4-FFF2-40B4-BE49-F238E27FC236}">
                  <a16:creationId xmlns:a16="http://schemas.microsoft.com/office/drawing/2014/main" id="{9E961CB4-203D-4B48-92F2-E25FB1382432}"/>
                </a:ext>
              </a:extLst>
            </p:cNvPr>
            <p:cNvSpPr/>
            <p:nvPr/>
          </p:nvSpPr>
          <p:spPr>
            <a:xfrm>
              <a:off x="60118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5" name="Rectangle 144">
              <a:extLst>
                <a:ext uri="{FF2B5EF4-FFF2-40B4-BE49-F238E27FC236}">
                  <a16:creationId xmlns:a16="http://schemas.microsoft.com/office/drawing/2014/main" id="{550E334C-09FA-4C50-BE86-93738627F331}"/>
                </a:ext>
              </a:extLst>
            </p:cNvPr>
            <p:cNvSpPr/>
            <p:nvPr/>
          </p:nvSpPr>
          <p:spPr>
            <a:xfrm>
              <a:off x="525779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46" name="Rectangle 145">
              <a:extLst>
                <a:ext uri="{FF2B5EF4-FFF2-40B4-BE49-F238E27FC236}">
                  <a16:creationId xmlns:a16="http://schemas.microsoft.com/office/drawing/2014/main" id="{07FE4287-472F-468E-9D12-FC4CFD8F7E73}"/>
                </a:ext>
              </a:extLst>
            </p:cNvPr>
            <p:cNvSpPr/>
            <p:nvPr/>
          </p:nvSpPr>
          <p:spPr>
            <a:xfrm>
              <a:off x="54022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148" name="Rectangle 147">
              <a:extLst>
                <a:ext uri="{FF2B5EF4-FFF2-40B4-BE49-F238E27FC236}">
                  <a16:creationId xmlns:a16="http://schemas.microsoft.com/office/drawing/2014/main" id="{BABA6916-B024-48E1-8725-A9FEC2E4C42C}"/>
                </a:ext>
              </a:extLst>
            </p:cNvPr>
            <p:cNvSpPr/>
            <p:nvPr/>
          </p:nvSpPr>
          <p:spPr>
            <a:xfrm>
              <a:off x="5546725"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53" name="Rectangle 152">
              <a:extLst>
                <a:ext uri="{FF2B5EF4-FFF2-40B4-BE49-F238E27FC236}">
                  <a16:creationId xmlns:a16="http://schemas.microsoft.com/office/drawing/2014/main" id="{455BCB48-C771-473C-B8FE-94D5A33A6546}"/>
                </a:ext>
              </a:extLst>
            </p:cNvPr>
            <p:cNvSpPr/>
            <p:nvPr/>
          </p:nvSpPr>
          <p:spPr>
            <a:xfrm>
              <a:off x="4970828" y="5825151"/>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grpSp>
        <p:nvGrpSpPr>
          <p:cNvPr id="154" name="Group 35">
            <a:extLst>
              <a:ext uri="{FF2B5EF4-FFF2-40B4-BE49-F238E27FC236}">
                <a16:creationId xmlns:a16="http://schemas.microsoft.com/office/drawing/2014/main" id="{5222F5E2-F7D1-4CE5-89AF-FE92879E9509}"/>
              </a:ext>
            </a:extLst>
          </p:cNvPr>
          <p:cNvGrpSpPr>
            <a:grpSpLocks/>
          </p:cNvGrpSpPr>
          <p:nvPr/>
        </p:nvGrpSpPr>
        <p:grpSpPr bwMode="auto">
          <a:xfrm>
            <a:off x="6381841" y="4164308"/>
            <a:ext cx="1743193" cy="156158"/>
            <a:chOff x="4826365" y="5825385"/>
            <a:chExt cx="1307735" cy="156315"/>
          </a:xfrm>
        </p:grpSpPr>
        <p:sp>
          <p:nvSpPr>
            <p:cNvPr id="155" name="Rectangle 154">
              <a:extLst>
                <a:ext uri="{FF2B5EF4-FFF2-40B4-BE49-F238E27FC236}">
                  <a16:creationId xmlns:a16="http://schemas.microsoft.com/office/drawing/2014/main" id="{F67DF8AE-D08B-4E27-A279-B2B557FE20C5}"/>
                </a:ext>
              </a:extLst>
            </p:cNvPr>
            <p:cNvSpPr/>
            <p:nvPr/>
          </p:nvSpPr>
          <p:spPr>
            <a:xfrm>
              <a:off x="5113330"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56" name="Rectangle 155">
              <a:extLst>
                <a:ext uri="{FF2B5EF4-FFF2-40B4-BE49-F238E27FC236}">
                  <a16:creationId xmlns:a16="http://schemas.microsoft.com/office/drawing/2014/main" id="{A1DCF4BD-D38B-4599-B916-E201D1DE5649}"/>
                </a:ext>
              </a:extLst>
            </p:cNvPr>
            <p:cNvSpPr/>
            <p:nvPr/>
          </p:nvSpPr>
          <p:spPr>
            <a:xfrm>
              <a:off x="57070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66" name="Rectangle 165">
              <a:extLst>
                <a:ext uri="{FF2B5EF4-FFF2-40B4-BE49-F238E27FC236}">
                  <a16:creationId xmlns:a16="http://schemas.microsoft.com/office/drawing/2014/main" id="{3648018F-24B4-4EA6-B391-6D49E2911154}"/>
                </a:ext>
              </a:extLst>
            </p:cNvPr>
            <p:cNvSpPr/>
            <p:nvPr/>
          </p:nvSpPr>
          <p:spPr>
            <a:xfrm>
              <a:off x="58594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84" name="Rectangle 183">
              <a:extLst>
                <a:ext uri="{FF2B5EF4-FFF2-40B4-BE49-F238E27FC236}">
                  <a16:creationId xmlns:a16="http://schemas.microsoft.com/office/drawing/2014/main" id="{49ED77CA-AED5-4BB0-A625-21CE3C4F7AD8}"/>
                </a:ext>
              </a:extLst>
            </p:cNvPr>
            <p:cNvSpPr/>
            <p:nvPr/>
          </p:nvSpPr>
          <p:spPr>
            <a:xfrm>
              <a:off x="60118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87" name="Rectangle 186">
              <a:extLst>
                <a:ext uri="{FF2B5EF4-FFF2-40B4-BE49-F238E27FC236}">
                  <a16:creationId xmlns:a16="http://schemas.microsoft.com/office/drawing/2014/main" id="{6E650B0F-021B-4951-9F2E-CBD5FC4B135A}"/>
                </a:ext>
              </a:extLst>
            </p:cNvPr>
            <p:cNvSpPr/>
            <p:nvPr/>
          </p:nvSpPr>
          <p:spPr>
            <a:xfrm>
              <a:off x="525779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90" name="Rectangle 189">
              <a:extLst>
                <a:ext uri="{FF2B5EF4-FFF2-40B4-BE49-F238E27FC236}">
                  <a16:creationId xmlns:a16="http://schemas.microsoft.com/office/drawing/2014/main" id="{B7444819-69B2-41D0-AF30-6E8764A5F905}"/>
                </a:ext>
              </a:extLst>
            </p:cNvPr>
            <p:cNvSpPr/>
            <p:nvPr/>
          </p:nvSpPr>
          <p:spPr>
            <a:xfrm>
              <a:off x="54022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91" name="Rectangle 190">
              <a:extLst>
                <a:ext uri="{FF2B5EF4-FFF2-40B4-BE49-F238E27FC236}">
                  <a16:creationId xmlns:a16="http://schemas.microsoft.com/office/drawing/2014/main" id="{D3603CE6-0D79-43A8-B875-D98F9AFF4380}"/>
                </a:ext>
              </a:extLst>
            </p:cNvPr>
            <p:cNvSpPr/>
            <p:nvPr/>
          </p:nvSpPr>
          <p:spPr>
            <a:xfrm>
              <a:off x="5546725"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199" name="Rectangle 198">
              <a:extLst>
                <a:ext uri="{FF2B5EF4-FFF2-40B4-BE49-F238E27FC236}">
                  <a16:creationId xmlns:a16="http://schemas.microsoft.com/office/drawing/2014/main" id="{0B63FAB2-ED29-4D53-9479-E71E50D99CBC}"/>
                </a:ext>
              </a:extLst>
            </p:cNvPr>
            <p:cNvSpPr/>
            <p:nvPr/>
          </p:nvSpPr>
          <p:spPr>
            <a:xfrm>
              <a:off x="4826365" y="5825386"/>
              <a:ext cx="122238" cy="155731"/>
            </a:xfrm>
            <a:prstGeom prst="rect">
              <a:avLst/>
            </a:prstGeom>
            <a:gradFill rotWithShape="1">
              <a:gsLst>
                <a:gs pos="0">
                  <a:srgbClr val="B20838">
                    <a:shade val="51000"/>
                    <a:satMod val="130000"/>
                  </a:srgbClr>
                </a:gs>
                <a:gs pos="80000">
                  <a:srgbClr val="B20838">
                    <a:shade val="93000"/>
                    <a:satMod val="130000"/>
                  </a:srgbClr>
                </a:gs>
                <a:gs pos="100000">
                  <a:srgbClr val="B20838">
                    <a:shade val="94000"/>
                    <a:satMod val="135000"/>
                  </a:srgb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204" name="Rectangle 203">
              <a:extLst>
                <a:ext uri="{FF2B5EF4-FFF2-40B4-BE49-F238E27FC236}">
                  <a16:creationId xmlns:a16="http://schemas.microsoft.com/office/drawing/2014/main" id="{D494FAA7-6E83-4EB1-BD96-2F16D65F2A69}"/>
                </a:ext>
              </a:extLst>
            </p:cNvPr>
            <p:cNvSpPr/>
            <p:nvPr/>
          </p:nvSpPr>
          <p:spPr>
            <a:xfrm>
              <a:off x="4970828" y="5825385"/>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cxnSp>
        <p:nvCxnSpPr>
          <p:cNvPr id="205" name="Straight Connector 204">
            <a:extLst>
              <a:ext uri="{FF2B5EF4-FFF2-40B4-BE49-F238E27FC236}">
                <a16:creationId xmlns:a16="http://schemas.microsoft.com/office/drawing/2014/main" id="{67D44C57-FEE0-4251-ACF2-E059417459F4}"/>
              </a:ext>
            </a:extLst>
          </p:cNvPr>
          <p:cNvCxnSpPr/>
          <p:nvPr/>
        </p:nvCxnSpPr>
        <p:spPr bwMode="auto">
          <a:xfrm>
            <a:off x="6351968" y="4120292"/>
            <a:ext cx="1874638" cy="9689"/>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206" name="TextBox 53">
            <a:extLst>
              <a:ext uri="{FF2B5EF4-FFF2-40B4-BE49-F238E27FC236}">
                <a16:creationId xmlns:a16="http://schemas.microsoft.com/office/drawing/2014/main" id="{3AF9854F-D243-45AC-B77D-D465E350D4D3}"/>
              </a:ext>
            </a:extLst>
          </p:cNvPr>
          <p:cNvSpPr txBox="1">
            <a:spLocks noChangeArrowheads="1"/>
          </p:cNvSpPr>
          <p:nvPr/>
        </p:nvSpPr>
        <p:spPr bwMode="auto">
          <a:xfrm>
            <a:off x="6104314" y="3991617"/>
            <a:ext cx="27443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fontAlgn="base">
              <a:spcBef>
                <a:spcPct val="0"/>
              </a:spcBef>
              <a:spcAft>
                <a:spcPct val="0"/>
              </a:spcAft>
              <a:defRPr>
                <a:solidFill>
                  <a:schemeClr val="tx1"/>
                </a:solidFill>
                <a:latin typeface="Arial" pitchFamily="34" charset="0"/>
                <a:ea typeface="ＭＳ Ｐゴシック" pitchFamily="34" charset="-128"/>
              </a:defRPr>
            </a:lvl6pPr>
            <a:lvl7pPr marL="2971800" indent="-228600" defTabSz="457200" fontAlgn="base">
              <a:spcBef>
                <a:spcPct val="0"/>
              </a:spcBef>
              <a:spcAft>
                <a:spcPct val="0"/>
              </a:spcAft>
              <a:defRPr>
                <a:solidFill>
                  <a:schemeClr val="tx1"/>
                </a:solidFill>
                <a:latin typeface="Arial" pitchFamily="34" charset="0"/>
                <a:ea typeface="ＭＳ Ｐゴシック" pitchFamily="34" charset="-128"/>
              </a:defRPr>
            </a:lvl7pPr>
            <a:lvl8pPr marL="3429000" indent="-228600" defTabSz="457200" fontAlgn="base">
              <a:spcBef>
                <a:spcPct val="0"/>
              </a:spcBef>
              <a:spcAft>
                <a:spcPct val="0"/>
              </a:spcAft>
              <a:defRPr>
                <a:solidFill>
                  <a:schemeClr val="tx1"/>
                </a:solidFill>
                <a:latin typeface="Arial" pitchFamily="34" charset="0"/>
                <a:ea typeface="ＭＳ Ｐゴシック" pitchFamily="34" charset="-128"/>
              </a:defRPr>
            </a:lvl8pPr>
            <a:lvl9pPr marL="3886200" indent="-228600" defTabSz="457200" fontAlgn="base">
              <a:spcBef>
                <a:spcPct val="0"/>
              </a:spcBef>
              <a:spcAft>
                <a:spcPct val="0"/>
              </a:spcAft>
              <a:defRPr>
                <a:solidFill>
                  <a:schemeClr val="tx1"/>
                </a:solidFill>
                <a:latin typeface="Arial" pitchFamily="34" charset="0"/>
                <a:ea typeface="ＭＳ Ｐゴシック" pitchFamily="34" charset="-128"/>
              </a:defRPr>
            </a:lvl9pPr>
          </a:lstStyle>
          <a:p>
            <a:pPr algn="ctr" defTabSz="914400" fontAlgn="base">
              <a:spcBef>
                <a:spcPct val="0"/>
              </a:spcBef>
              <a:spcAft>
                <a:spcPct val="0"/>
              </a:spcAft>
              <a:defRPr/>
            </a:pPr>
            <a:r>
              <a:rPr lang="en-US" kern="0" dirty="0">
                <a:solidFill>
                  <a:srgbClr val="000000"/>
                </a:solidFill>
              </a:rPr>
              <a:t>*</a:t>
            </a:r>
          </a:p>
        </p:txBody>
      </p:sp>
      <p:sp>
        <p:nvSpPr>
          <p:cNvPr id="207" name="TextBox 206">
            <a:extLst>
              <a:ext uri="{FF2B5EF4-FFF2-40B4-BE49-F238E27FC236}">
                <a16:creationId xmlns:a16="http://schemas.microsoft.com/office/drawing/2014/main" id="{FC5AA641-428F-4270-8F85-B9274FE9E91A}"/>
              </a:ext>
            </a:extLst>
          </p:cNvPr>
          <p:cNvSpPr txBox="1"/>
          <p:nvPr/>
        </p:nvSpPr>
        <p:spPr>
          <a:xfrm>
            <a:off x="6740234" y="3429002"/>
            <a:ext cx="1159292" cy="276999"/>
          </a:xfrm>
          <a:prstGeom prst="rect">
            <a:avLst/>
          </a:prstGeom>
          <a:noFill/>
        </p:spPr>
        <p:txBody>
          <a:bodyPr wrap="none" rtlCol="0">
            <a:spAutoFit/>
          </a:bodyPr>
          <a:lstStyle/>
          <a:p>
            <a:pPr algn="ctr" defTabSz="914400" fontAlgn="base">
              <a:spcBef>
                <a:spcPct val="0"/>
              </a:spcBef>
              <a:spcAft>
                <a:spcPct val="0"/>
              </a:spcAft>
              <a:defRPr/>
            </a:pPr>
            <a:r>
              <a:rPr lang="en-US" sz="1200" b="1" u="sng" kern="0" dirty="0">
                <a:solidFill>
                  <a:srgbClr val="000000"/>
                </a:solidFill>
                <a:latin typeface="Arial"/>
              </a:rPr>
              <a:t>Result in Hex</a:t>
            </a:r>
          </a:p>
        </p:txBody>
      </p:sp>
      <p:sp>
        <p:nvSpPr>
          <p:cNvPr id="208" name="TextBox 207">
            <a:extLst>
              <a:ext uri="{FF2B5EF4-FFF2-40B4-BE49-F238E27FC236}">
                <a16:creationId xmlns:a16="http://schemas.microsoft.com/office/drawing/2014/main" id="{59B1D608-374B-4BEB-B363-D718C822ABE5}"/>
              </a:ext>
            </a:extLst>
          </p:cNvPr>
          <p:cNvSpPr txBox="1"/>
          <p:nvPr/>
        </p:nvSpPr>
        <p:spPr>
          <a:xfrm>
            <a:off x="8143734" y="3705196"/>
            <a:ext cx="1279833" cy="461665"/>
          </a:xfrm>
          <a:prstGeom prst="rect">
            <a:avLst/>
          </a:prstGeom>
          <a:noFill/>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65536</a:t>
            </a:r>
          </a:p>
          <a:p>
            <a:pPr algn="ctr" defTabSz="914400" fontAlgn="base">
              <a:spcBef>
                <a:spcPct val="0"/>
              </a:spcBef>
              <a:spcAft>
                <a:spcPct val="0"/>
              </a:spcAft>
              <a:defRPr/>
            </a:pPr>
            <a:r>
              <a:rPr lang="en-US" sz="1200" b="1" kern="0" dirty="0">
                <a:solidFill>
                  <a:srgbClr val="000000"/>
                </a:solidFill>
                <a:latin typeface="Arial"/>
              </a:rPr>
              <a:t>65536</a:t>
            </a:r>
          </a:p>
        </p:txBody>
      </p:sp>
      <p:sp>
        <p:nvSpPr>
          <p:cNvPr id="209" name="TextBox 208">
            <a:extLst>
              <a:ext uri="{FF2B5EF4-FFF2-40B4-BE49-F238E27FC236}">
                <a16:creationId xmlns:a16="http://schemas.microsoft.com/office/drawing/2014/main" id="{48D156C8-7D2A-4536-A978-62A0D86CB6BC}"/>
              </a:ext>
            </a:extLst>
          </p:cNvPr>
          <p:cNvSpPr txBox="1"/>
          <p:nvPr/>
        </p:nvSpPr>
        <p:spPr>
          <a:xfrm>
            <a:off x="8188626" y="4120292"/>
            <a:ext cx="269625"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0</a:t>
            </a:r>
          </a:p>
        </p:txBody>
      </p:sp>
      <p:sp>
        <p:nvSpPr>
          <p:cNvPr id="210" name="TextBox 209">
            <a:extLst>
              <a:ext uri="{FF2B5EF4-FFF2-40B4-BE49-F238E27FC236}">
                <a16:creationId xmlns:a16="http://schemas.microsoft.com/office/drawing/2014/main" id="{B96117A6-0DEA-414C-A617-3C9F12C079C7}"/>
              </a:ext>
            </a:extLst>
          </p:cNvPr>
          <p:cNvSpPr txBox="1"/>
          <p:nvPr/>
        </p:nvSpPr>
        <p:spPr>
          <a:xfrm>
            <a:off x="6037811" y="3697837"/>
            <a:ext cx="279243" cy="461665"/>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a</a:t>
            </a:r>
          </a:p>
          <a:p>
            <a:pPr algn="r" defTabSz="914400" fontAlgn="base">
              <a:spcBef>
                <a:spcPct val="0"/>
              </a:spcBef>
              <a:spcAft>
                <a:spcPct val="0"/>
              </a:spcAft>
              <a:defRPr/>
            </a:pPr>
            <a:r>
              <a:rPr lang="en-US" sz="1200" b="1" kern="0" dirty="0">
                <a:solidFill>
                  <a:srgbClr val="000000"/>
                </a:solidFill>
                <a:latin typeface="Arial"/>
              </a:rPr>
              <a:t>b</a:t>
            </a:r>
          </a:p>
        </p:txBody>
      </p:sp>
      <p:sp>
        <p:nvSpPr>
          <p:cNvPr id="211" name="&quot;No&quot; Symbol 131">
            <a:extLst>
              <a:ext uri="{FF2B5EF4-FFF2-40B4-BE49-F238E27FC236}">
                <a16:creationId xmlns:a16="http://schemas.microsoft.com/office/drawing/2014/main" id="{C5BB33D5-1A20-49D6-B879-366AC29D02B4}"/>
              </a:ext>
            </a:extLst>
          </p:cNvPr>
          <p:cNvSpPr/>
          <p:nvPr/>
        </p:nvSpPr>
        <p:spPr>
          <a:xfrm>
            <a:off x="8502088" y="4312316"/>
            <a:ext cx="351400" cy="373985"/>
          </a:xfrm>
          <a:prstGeom prst="noSmoking">
            <a:avLst/>
          </a:prstGeom>
          <a:solidFill>
            <a:srgbClr val="FF0000"/>
          </a:solidFill>
          <a:ln w="19050">
            <a:solidFill>
              <a:srgbClr val="000000"/>
            </a:solid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prst="angle"/>
          </a:sp3d>
        </p:spPr>
        <p:txBody>
          <a:bodyPr rtlCol="0" anchor="ctr"/>
          <a:lstStyle/>
          <a:p>
            <a:pPr algn="ctr" defTabSz="914400" fontAlgn="base">
              <a:spcBef>
                <a:spcPct val="0"/>
              </a:spcBef>
              <a:spcAft>
                <a:spcPct val="0"/>
              </a:spcAft>
              <a:defRPr/>
            </a:pPr>
            <a:endParaRPr lang="en-US" kern="0" dirty="0">
              <a:solidFill>
                <a:srgbClr val="FF0000"/>
              </a:solidFill>
              <a:latin typeface="Arial"/>
            </a:endParaRPr>
          </a:p>
        </p:txBody>
      </p:sp>
      <p:sp>
        <p:nvSpPr>
          <p:cNvPr id="212" name="TextBox 211">
            <a:extLst>
              <a:ext uri="{FF2B5EF4-FFF2-40B4-BE49-F238E27FC236}">
                <a16:creationId xmlns:a16="http://schemas.microsoft.com/office/drawing/2014/main" id="{609F52D2-8A57-42AF-8EA7-1CE6D92F541D}"/>
              </a:ext>
            </a:extLst>
          </p:cNvPr>
          <p:cNvSpPr txBox="1"/>
          <p:nvPr/>
        </p:nvSpPr>
        <p:spPr>
          <a:xfrm>
            <a:off x="9167601" y="3773305"/>
            <a:ext cx="2508473" cy="600164"/>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Integer promotion promotes a*b to 32-bit then assigns this to tmp: the top-bits are lost</a:t>
            </a:r>
          </a:p>
        </p:txBody>
      </p:sp>
      <p:sp>
        <p:nvSpPr>
          <p:cNvPr id="213" name="Block Arc 212">
            <a:extLst>
              <a:ext uri="{FF2B5EF4-FFF2-40B4-BE49-F238E27FC236}">
                <a16:creationId xmlns:a16="http://schemas.microsoft.com/office/drawing/2014/main" id="{37461E20-1458-4B98-B9BB-A7EED98E06DB}"/>
              </a:ext>
            </a:extLst>
          </p:cNvPr>
          <p:cNvSpPr/>
          <p:nvPr/>
        </p:nvSpPr>
        <p:spPr>
          <a:xfrm rot="16200000" flipH="1">
            <a:off x="628742" y="4018996"/>
            <a:ext cx="1305771" cy="1228640"/>
          </a:xfrm>
          <a:prstGeom prst="blockArc">
            <a:avLst>
              <a:gd name="adj1" fmla="val 10800000"/>
              <a:gd name="adj2" fmla="val 21501057"/>
              <a:gd name="adj3" fmla="val 19150"/>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000000"/>
              </a:solidFill>
              <a:latin typeface="Arial"/>
            </a:endParaRPr>
          </a:p>
        </p:txBody>
      </p:sp>
      <p:sp>
        <p:nvSpPr>
          <p:cNvPr id="214" name="Right Arrow 149">
            <a:extLst>
              <a:ext uri="{FF2B5EF4-FFF2-40B4-BE49-F238E27FC236}">
                <a16:creationId xmlns:a16="http://schemas.microsoft.com/office/drawing/2014/main" id="{AB06BBCF-FC44-45E5-9DFA-9B80F705A149}"/>
              </a:ext>
            </a:extLst>
          </p:cNvPr>
          <p:cNvSpPr/>
          <p:nvPr/>
        </p:nvSpPr>
        <p:spPr>
          <a:xfrm>
            <a:off x="1661682" y="5224782"/>
            <a:ext cx="4156506" cy="464818"/>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215" name="TextBox 214">
            <a:extLst>
              <a:ext uri="{FF2B5EF4-FFF2-40B4-BE49-F238E27FC236}">
                <a16:creationId xmlns:a16="http://schemas.microsoft.com/office/drawing/2014/main" id="{EA81CB1F-E57B-44DA-A87F-DD9ADDCDD593}"/>
              </a:ext>
            </a:extLst>
          </p:cNvPr>
          <p:cNvSpPr txBox="1"/>
          <p:nvPr/>
        </p:nvSpPr>
        <p:spPr>
          <a:xfrm>
            <a:off x="729862" y="5159758"/>
            <a:ext cx="1689380" cy="43088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Solution: cast before the operation</a:t>
            </a:r>
          </a:p>
        </p:txBody>
      </p:sp>
      <p:sp>
        <p:nvSpPr>
          <p:cNvPr id="216" name="TextBox 215">
            <a:extLst>
              <a:ext uri="{FF2B5EF4-FFF2-40B4-BE49-F238E27FC236}">
                <a16:creationId xmlns:a16="http://schemas.microsoft.com/office/drawing/2014/main" id="{247B7F8C-A394-4174-BC79-20A08AFCADB9}"/>
              </a:ext>
            </a:extLst>
          </p:cNvPr>
          <p:cNvSpPr txBox="1"/>
          <p:nvPr/>
        </p:nvSpPr>
        <p:spPr>
          <a:xfrm>
            <a:off x="2777595" y="5326688"/>
            <a:ext cx="2201313" cy="24622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pt-BR" sz="1000" kern="0" dirty="0">
                <a:solidFill>
                  <a:srgbClr val="000000"/>
                </a:solidFill>
                <a:latin typeface="Arial"/>
                <a:ea typeface="ＭＳ Ｐゴシック" pitchFamily="18" charset="-128"/>
              </a:rPr>
              <a:t>tmp = (</a:t>
            </a:r>
            <a:r>
              <a:rPr lang="pt-BR" sz="1000" b="1" kern="0" dirty="0">
                <a:solidFill>
                  <a:srgbClr val="000000"/>
                </a:solidFill>
                <a:latin typeface="Arial"/>
                <a:ea typeface="ＭＳ Ｐゴシック" pitchFamily="18" charset="-128"/>
              </a:rPr>
              <a:t>int36</a:t>
            </a:r>
            <a:r>
              <a:rPr lang="pt-BR" sz="1000" kern="0" dirty="0">
                <a:solidFill>
                  <a:srgbClr val="000000"/>
                </a:solidFill>
                <a:latin typeface="Arial"/>
                <a:ea typeface="ＭＳ Ｐゴシック" pitchFamily="18" charset="-128"/>
              </a:rPr>
              <a:t>)a * (</a:t>
            </a:r>
            <a:r>
              <a:rPr lang="pt-BR" sz="1000" b="1" kern="0" dirty="0">
                <a:solidFill>
                  <a:srgbClr val="000000"/>
                </a:solidFill>
                <a:latin typeface="Arial"/>
                <a:ea typeface="ＭＳ Ｐゴシック" pitchFamily="18" charset="-128"/>
              </a:rPr>
              <a:t>int36</a:t>
            </a:r>
            <a:r>
              <a:rPr lang="pt-BR" sz="1000" kern="0" dirty="0">
                <a:solidFill>
                  <a:srgbClr val="000000"/>
                </a:solidFill>
                <a:latin typeface="Arial"/>
                <a:ea typeface="ＭＳ Ｐゴシック" pitchFamily="18" charset="-128"/>
              </a:rPr>
              <a:t>)b;</a:t>
            </a:r>
          </a:p>
        </p:txBody>
      </p:sp>
      <p:grpSp>
        <p:nvGrpSpPr>
          <p:cNvPr id="217" name="Group 48">
            <a:extLst>
              <a:ext uri="{FF2B5EF4-FFF2-40B4-BE49-F238E27FC236}">
                <a16:creationId xmlns:a16="http://schemas.microsoft.com/office/drawing/2014/main" id="{2ED7B4FF-70F1-4C69-9323-C002918FD37A}"/>
              </a:ext>
            </a:extLst>
          </p:cNvPr>
          <p:cNvGrpSpPr>
            <a:grpSpLocks/>
          </p:cNvGrpSpPr>
          <p:nvPr/>
        </p:nvGrpSpPr>
        <p:grpSpPr bwMode="auto">
          <a:xfrm>
            <a:off x="6104316" y="5094130"/>
            <a:ext cx="2122293" cy="598486"/>
            <a:chOff x="4618166" y="5824966"/>
            <a:chExt cx="1592134" cy="599087"/>
          </a:xfrm>
        </p:grpSpPr>
        <p:grpSp>
          <p:nvGrpSpPr>
            <p:cNvPr id="218" name="Group 25">
              <a:extLst>
                <a:ext uri="{FF2B5EF4-FFF2-40B4-BE49-F238E27FC236}">
                  <a16:creationId xmlns:a16="http://schemas.microsoft.com/office/drawing/2014/main" id="{85503B26-AE90-49F7-A099-F5CE9BFC8C6B}"/>
                </a:ext>
              </a:extLst>
            </p:cNvPr>
            <p:cNvGrpSpPr>
              <a:grpSpLocks/>
            </p:cNvGrpSpPr>
            <p:nvPr/>
          </p:nvGrpSpPr>
          <p:grpSpPr bwMode="auto">
            <a:xfrm>
              <a:off x="4970828" y="5824966"/>
              <a:ext cx="1163272" cy="156315"/>
              <a:chOff x="4970828" y="5824966"/>
              <a:chExt cx="1163272" cy="156315"/>
            </a:xfrm>
          </p:grpSpPr>
          <p:sp>
            <p:nvSpPr>
              <p:cNvPr id="240" name="Rectangle 239">
                <a:extLst>
                  <a:ext uri="{FF2B5EF4-FFF2-40B4-BE49-F238E27FC236}">
                    <a16:creationId xmlns:a16="http://schemas.microsoft.com/office/drawing/2014/main" id="{47D5A26D-94D9-4258-9381-B52EE644D4E5}"/>
                  </a:ext>
                </a:extLst>
              </p:cNvPr>
              <p:cNvSpPr/>
              <p:nvPr/>
            </p:nvSpPr>
            <p:spPr>
              <a:xfrm>
                <a:off x="5113330"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1" name="Rectangle 240">
                <a:extLst>
                  <a:ext uri="{FF2B5EF4-FFF2-40B4-BE49-F238E27FC236}">
                    <a16:creationId xmlns:a16="http://schemas.microsoft.com/office/drawing/2014/main" id="{AB236FE0-8831-414B-9F54-43330F2C3671}"/>
                  </a:ext>
                </a:extLst>
              </p:cNvPr>
              <p:cNvSpPr/>
              <p:nvPr/>
            </p:nvSpPr>
            <p:spPr>
              <a:xfrm>
                <a:off x="57070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2" name="Rectangle 241">
                <a:extLst>
                  <a:ext uri="{FF2B5EF4-FFF2-40B4-BE49-F238E27FC236}">
                    <a16:creationId xmlns:a16="http://schemas.microsoft.com/office/drawing/2014/main" id="{CD502EE8-5947-4E85-A24C-F3E262EA4592}"/>
                  </a:ext>
                </a:extLst>
              </p:cNvPr>
              <p:cNvSpPr/>
              <p:nvPr/>
            </p:nvSpPr>
            <p:spPr>
              <a:xfrm>
                <a:off x="58594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3" name="Rectangle 242">
                <a:extLst>
                  <a:ext uri="{FF2B5EF4-FFF2-40B4-BE49-F238E27FC236}">
                    <a16:creationId xmlns:a16="http://schemas.microsoft.com/office/drawing/2014/main" id="{5A61F0F5-03D0-4147-BF71-2E55B43CA131}"/>
                  </a:ext>
                </a:extLst>
              </p:cNvPr>
              <p:cNvSpPr/>
              <p:nvPr/>
            </p:nvSpPr>
            <p:spPr>
              <a:xfrm>
                <a:off x="6011863" y="582555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4" name="Rectangle 243">
                <a:extLst>
                  <a:ext uri="{FF2B5EF4-FFF2-40B4-BE49-F238E27FC236}">
                    <a16:creationId xmlns:a16="http://schemas.microsoft.com/office/drawing/2014/main" id="{8EC93534-873A-465F-A26B-942C47B5F3C5}"/>
                  </a:ext>
                </a:extLst>
              </p:cNvPr>
              <p:cNvSpPr/>
              <p:nvPr/>
            </p:nvSpPr>
            <p:spPr>
              <a:xfrm>
                <a:off x="525779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5" name="Rectangle 244">
                <a:extLst>
                  <a:ext uri="{FF2B5EF4-FFF2-40B4-BE49-F238E27FC236}">
                    <a16:creationId xmlns:a16="http://schemas.microsoft.com/office/drawing/2014/main" id="{61A66F19-2C19-4E53-BA18-6B672C0D6E39}"/>
                  </a:ext>
                </a:extLst>
              </p:cNvPr>
              <p:cNvSpPr/>
              <p:nvPr/>
            </p:nvSpPr>
            <p:spPr>
              <a:xfrm>
                <a:off x="5402263" y="582555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246" name="Rectangle 245">
                <a:extLst>
                  <a:ext uri="{FF2B5EF4-FFF2-40B4-BE49-F238E27FC236}">
                    <a16:creationId xmlns:a16="http://schemas.microsoft.com/office/drawing/2014/main" id="{80B843A5-D83E-459B-9235-85F1FF99762A}"/>
                  </a:ext>
                </a:extLst>
              </p:cNvPr>
              <p:cNvSpPr/>
              <p:nvPr/>
            </p:nvSpPr>
            <p:spPr>
              <a:xfrm>
                <a:off x="5546725" y="582555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47" name="Rectangle 246">
                <a:extLst>
                  <a:ext uri="{FF2B5EF4-FFF2-40B4-BE49-F238E27FC236}">
                    <a16:creationId xmlns:a16="http://schemas.microsoft.com/office/drawing/2014/main" id="{574F4444-EE8F-4F97-A423-9CF9FC636389}"/>
                  </a:ext>
                </a:extLst>
              </p:cNvPr>
              <p:cNvSpPr/>
              <p:nvPr/>
            </p:nvSpPr>
            <p:spPr>
              <a:xfrm>
                <a:off x="4970828" y="5824966"/>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grpSp>
          <p:nvGrpSpPr>
            <p:cNvPr id="219" name="Group 26">
              <a:extLst>
                <a:ext uri="{FF2B5EF4-FFF2-40B4-BE49-F238E27FC236}">
                  <a16:creationId xmlns:a16="http://schemas.microsoft.com/office/drawing/2014/main" id="{FB9117C5-E319-4FDB-B63D-B68F217B9E46}"/>
                </a:ext>
              </a:extLst>
            </p:cNvPr>
            <p:cNvGrpSpPr>
              <a:grpSpLocks/>
            </p:cNvGrpSpPr>
            <p:nvPr/>
          </p:nvGrpSpPr>
          <p:grpSpPr bwMode="auto">
            <a:xfrm>
              <a:off x="4970828" y="6015651"/>
              <a:ext cx="1163272" cy="156320"/>
              <a:chOff x="4970828" y="5825151"/>
              <a:chExt cx="1163272" cy="156320"/>
            </a:xfrm>
          </p:grpSpPr>
          <p:sp>
            <p:nvSpPr>
              <p:cNvPr id="232" name="Rectangle 231">
                <a:extLst>
                  <a:ext uri="{FF2B5EF4-FFF2-40B4-BE49-F238E27FC236}">
                    <a16:creationId xmlns:a16="http://schemas.microsoft.com/office/drawing/2014/main" id="{71C28EB0-29B4-43A4-A7D8-B21B2BE79D7A}"/>
                  </a:ext>
                </a:extLst>
              </p:cNvPr>
              <p:cNvSpPr/>
              <p:nvPr/>
            </p:nvSpPr>
            <p:spPr>
              <a:xfrm>
                <a:off x="5113330"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3" name="Rectangle 232">
                <a:extLst>
                  <a:ext uri="{FF2B5EF4-FFF2-40B4-BE49-F238E27FC236}">
                    <a16:creationId xmlns:a16="http://schemas.microsoft.com/office/drawing/2014/main" id="{A67A1C1D-D10C-4A53-B25D-72CDFCD15061}"/>
                  </a:ext>
                </a:extLst>
              </p:cNvPr>
              <p:cNvSpPr/>
              <p:nvPr/>
            </p:nvSpPr>
            <p:spPr>
              <a:xfrm>
                <a:off x="57070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4" name="Rectangle 233">
                <a:extLst>
                  <a:ext uri="{FF2B5EF4-FFF2-40B4-BE49-F238E27FC236}">
                    <a16:creationId xmlns:a16="http://schemas.microsoft.com/office/drawing/2014/main" id="{A6071B7F-B9D7-49F8-BA8C-FE8E0F64331A}"/>
                  </a:ext>
                </a:extLst>
              </p:cNvPr>
              <p:cNvSpPr/>
              <p:nvPr/>
            </p:nvSpPr>
            <p:spPr>
              <a:xfrm>
                <a:off x="58594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5" name="Rectangle 234">
                <a:extLst>
                  <a:ext uri="{FF2B5EF4-FFF2-40B4-BE49-F238E27FC236}">
                    <a16:creationId xmlns:a16="http://schemas.microsoft.com/office/drawing/2014/main" id="{DA82378D-7CA8-4AD5-9944-786445DA86BD}"/>
                  </a:ext>
                </a:extLst>
              </p:cNvPr>
              <p:cNvSpPr/>
              <p:nvPr/>
            </p:nvSpPr>
            <p:spPr>
              <a:xfrm>
                <a:off x="6011863" y="5825740"/>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6" name="Rectangle 235">
                <a:extLst>
                  <a:ext uri="{FF2B5EF4-FFF2-40B4-BE49-F238E27FC236}">
                    <a16:creationId xmlns:a16="http://schemas.microsoft.com/office/drawing/2014/main" id="{7706557C-2BBD-4398-BC4B-72ED6E5D10DF}"/>
                  </a:ext>
                </a:extLst>
              </p:cNvPr>
              <p:cNvSpPr/>
              <p:nvPr/>
            </p:nvSpPr>
            <p:spPr>
              <a:xfrm>
                <a:off x="525779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7" name="Rectangle 236">
                <a:extLst>
                  <a:ext uri="{FF2B5EF4-FFF2-40B4-BE49-F238E27FC236}">
                    <a16:creationId xmlns:a16="http://schemas.microsoft.com/office/drawing/2014/main" id="{FA91B5D5-2833-42BE-96F5-354033AE2939}"/>
                  </a:ext>
                </a:extLst>
              </p:cNvPr>
              <p:cNvSpPr/>
              <p:nvPr/>
            </p:nvSpPr>
            <p:spPr>
              <a:xfrm>
                <a:off x="5402263" y="5825740"/>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sp>
            <p:nvSpPr>
              <p:cNvPr id="238" name="Rectangle 237">
                <a:extLst>
                  <a:ext uri="{FF2B5EF4-FFF2-40B4-BE49-F238E27FC236}">
                    <a16:creationId xmlns:a16="http://schemas.microsoft.com/office/drawing/2014/main" id="{EBED9359-D59A-4E81-823A-7FCA79727EC1}"/>
                  </a:ext>
                </a:extLst>
              </p:cNvPr>
              <p:cNvSpPr/>
              <p:nvPr/>
            </p:nvSpPr>
            <p:spPr>
              <a:xfrm>
                <a:off x="5546725" y="5825740"/>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9" name="Rectangle 238">
                <a:extLst>
                  <a:ext uri="{FF2B5EF4-FFF2-40B4-BE49-F238E27FC236}">
                    <a16:creationId xmlns:a16="http://schemas.microsoft.com/office/drawing/2014/main" id="{7DA74E38-CD44-428A-8964-EDF08356BD23}"/>
                  </a:ext>
                </a:extLst>
              </p:cNvPr>
              <p:cNvSpPr/>
              <p:nvPr/>
            </p:nvSpPr>
            <p:spPr>
              <a:xfrm>
                <a:off x="4970828" y="5825151"/>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grpSp>
          <p:nvGrpSpPr>
            <p:cNvPr id="220" name="Group 35">
              <a:extLst>
                <a:ext uri="{FF2B5EF4-FFF2-40B4-BE49-F238E27FC236}">
                  <a16:creationId xmlns:a16="http://schemas.microsoft.com/office/drawing/2014/main" id="{A8A7B02D-044C-47B9-BF90-92997769FF5E}"/>
                </a:ext>
              </a:extLst>
            </p:cNvPr>
            <p:cNvGrpSpPr>
              <a:grpSpLocks/>
            </p:cNvGrpSpPr>
            <p:nvPr/>
          </p:nvGrpSpPr>
          <p:grpSpPr bwMode="auto">
            <a:xfrm>
              <a:off x="4826373" y="6243714"/>
              <a:ext cx="1307727" cy="157086"/>
              <a:chOff x="4826373" y="5824614"/>
              <a:chExt cx="1307727" cy="157086"/>
            </a:xfrm>
          </p:grpSpPr>
          <p:sp>
            <p:nvSpPr>
              <p:cNvPr id="223" name="Rectangle 222">
                <a:extLst>
                  <a:ext uri="{FF2B5EF4-FFF2-40B4-BE49-F238E27FC236}">
                    <a16:creationId xmlns:a16="http://schemas.microsoft.com/office/drawing/2014/main" id="{1D7AA9CD-49A6-4A72-B924-100928D7809F}"/>
                  </a:ext>
                </a:extLst>
              </p:cNvPr>
              <p:cNvSpPr/>
              <p:nvPr/>
            </p:nvSpPr>
            <p:spPr>
              <a:xfrm>
                <a:off x="5113330"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4" name="Rectangle 223">
                <a:extLst>
                  <a:ext uri="{FF2B5EF4-FFF2-40B4-BE49-F238E27FC236}">
                    <a16:creationId xmlns:a16="http://schemas.microsoft.com/office/drawing/2014/main" id="{EF2BFDFB-FDE1-405F-BABF-DA92EDFB76BE}"/>
                  </a:ext>
                </a:extLst>
              </p:cNvPr>
              <p:cNvSpPr/>
              <p:nvPr/>
            </p:nvSpPr>
            <p:spPr>
              <a:xfrm>
                <a:off x="57070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5" name="Rectangle 224">
                <a:extLst>
                  <a:ext uri="{FF2B5EF4-FFF2-40B4-BE49-F238E27FC236}">
                    <a16:creationId xmlns:a16="http://schemas.microsoft.com/office/drawing/2014/main" id="{5A801C2D-2D4D-4EA1-8CDF-D40E1FF7D4F1}"/>
                  </a:ext>
                </a:extLst>
              </p:cNvPr>
              <p:cNvSpPr/>
              <p:nvPr/>
            </p:nvSpPr>
            <p:spPr>
              <a:xfrm>
                <a:off x="58594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6" name="Rectangle 225">
                <a:extLst>
                  <a:ext uri="{FF2B5EF4-FFF2-40B4-BE49-F238E27FC236}">
                    <a16:creationId xmlns:a16="http://schemas.microsoft.com/office/drawing/2014/main" id="{4D0683D7-847D-400E-A8C5-3DAE375268B3}"/>
                  </a:ext>
                </a:extLst>
              </p:cNvPr>
              <p:cNvSpPr/>
              <p:nvPr/>
            </p:nvSpPr>
            <p:spPr>
              <a:xfrm>
                <a:off x="6011863" y="5825969"/>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7" name="Rectangle 226">
                <a:extLst>
                  <a:ext uri="{FF2B5EF4-FFF2-40B4-BE49-F238E27FC236}">
                    <a16:creationId xmlns:a16="http://schemas.microsoft.com/office/drawing/2014/main" id="{D550E9EC-EE0C-4EEE-93C4-8EE0053C9675}"/>
                  </a:ext>
                </a:extLst>
              </p:cNvPr>
              <p:cNvSpPr/>
              <p:nvPr/>
            </p:nvSpPr>
            <p:spPr>
              <a:xfrm>
                <a:off x="525779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8" name="Rectangle 227">
                <a:extLst>
                  <a:ext uri="{FF2B5EF4-FFF2-40B4-BE49-F238E27FC236}">
                    <a16:creationId xmlns:a16="http://schemas.microsoft.com/office/drawing/2014/main" id="{8925A62C-B6F5-4FD2-9B40-84316FAE5216}"/>
                  </a:ext>
                </a:extLst>
              </p:cNvPr>
              <p:cNvSpPr/>
              <p:nvPr/>
            </p:nvSpPr>
            <p:spPr>
              <a:xfrm>
                <a:off x="5402263" y="5825969"/>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29" name="Rectangle 228">
                <a:extLst>
                  <a:ext uri="{FF2B5EF4-FFF2-40B4-BE49-F238E27FC236}">
                    <a16:creationId xmlns:a16="http://schemas.microsoft.com/office/drawing/2014/main" id="{48AF600E-3FBA-4138-A0CE-DE9BCC4E9991}"/>
                  </a:ext>
                </a:extLst>
              </p:cNvPr>
              <p:cNvSpPr/>
              <p:nvPr/>
            </p:nvSpPr>
            <p:spPr>
              <a:xfrm>
                <a:off x="5546725" y="5825969"/>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0" name="Rectangle 229">
                <a:extLst>
                  <a:ext uri="{FF2B5EF4-FFF2-40B4-BE49-F238E27FC236}">
                    <a16:creationId xmlns:a16="http://schemas.microsoft.com/office/drawing/2014/main" id="{9ED8A041-26B8-4F49-8474-05DD67C8625C}"/>
                  </a:ext>
                </a:extLst>
              </p:cNvPr>
              <p:cNvSpPr/>
              <p:nvPr/>
            </p:nvSpPr>
            <p:spPr>
              <a:xfrm>
                <a:off x="4970828" y="5825385"/>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31" name="Rectangle 230">
                <a:extLst>
                  <a:ext uri="{FF2B5EF4-FFF2-40B4-BE49-F238E27FC236}">
                    <a16:creationId xmlns:a16="http://schemas.microsoft.com/office/drawing/2014/main" id="{CF20FBFC-C6DB-4DBE-98CE-CF0B1AFAE389}"/>
                  </a:ext>
                </a:extLst>
              </p:cNvPr>
              <p:cNvSpPr/>
              <p:nvPr/>
            </p:nvSpPr>
            <p:spPr>
              <a:xfrm>
                <a:off x="4826373" y="5824614"/>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1</a:t>
                </a:r>
              </a:p>
            </p:txBody>
          </p:sp>
        </p:grpSp>
        <p:cxnSp>
          <p:nvCxnSpPr>
            <p:cNvPr id="221" name="Straight Connector 220">
              <a:extLst>
                <a:ext uri="{FF2B5EF4-FFF2-40B4-BE49-F238E27FC236}">
                  <a16:creationId xmlns:a16="http://schemas.microsoft.com/office/drawing/2014/main" id="{B1C86BEF-F24D-4AE8-A418-0605C855FE7C}"/>
                </a:ext>
              </a:extLst>
            </p:cNvPr>
            <p:cNvCxnSpPr/>
            <p:nvPr/>
          </p:nvCxnSpPr>
          <p:spPr>
            <a:xfrm>
              <a:off x="4803955" y="6200423"/>
              <a:ext cx="1406345" cy="9699"/>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222" name="TextBox 53">
              <a:extLst>
                <a:ext uri="{FF2B5EF4-FFF2-40B4-BE49-F238E27FC236}">
                  <a16:creationId xmlns:a16="http://schemas.microsoft.com/office/drawing/2014/main" id="{E07FFD03-2444-4F85-BB07-974D6C93F3B1}"/>
                </a:ext>
              </a:extLst>
            </p:cNvPr>
            <p:cNvSpPr txBox="1">
              <a:spLocks noChangeArrowheads="1"/>
            </p:cNvSpPr>
            <p:nvPr/>
          </p:nvSpPr>
          <p:spPr bwMode="auto">
            <a:xfrm>
              <a:off x="4618166" y="6054351"/>
              <a:ext cx="205880" cy="3697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fontAlgn="base">
                <a:spcBef>
                  <a:spcPct val="0"/>
                </a:spcBef>
                <a:spcAft>
                  <a:spcPct val="0"/>
                </a:spcAft>
                <a:defRPr>
                  <a:solidFill>
                    <a:schemeClr val="tx1"/>
                  </a:solidFill>
                  <a:latin typeface="Arial" pitchFamily="34" charset="0"/>
                  <a:ea typeface="ＭＳ Ｐゴシック" pitchFamily="34" charset="-128"/>
                </a:defRPr>
              </a:lvl6pPr>
              <a:lvl7pPr marL="2971800" indent="-228600" defTabSz="457200" fontAlgn="base">
                <a:spcBef>
                  <a:spcPct val="0"/>
                </a:spcBef>
                <a:spcAft>
                  <a:spcPct val="0"/>
                </a:spcAft>
                <a:defRPr>
                  <a:solidFill>
                    <a:schemeClr val="tx1"/>
                  </a:solidFill>
                  <a:latin typeface="Arial" pitchFamily="34" charset="0"/>
                  <a:ea typeface="ＭＳ Ｐゴシック" pitchFamily="34" charset="-128"/>
                </a:defRPr>
              </a:lvl7pPr>
              <a:lvl8pPr marL="3429000" indent="-228600" defTabSz="457200" fontAlgn="base">
                <a:spcBef>
                  <a:spcPct val="0"/>
                </a:spcBef>
                <a:spcAft>
                  <a:spcPct val="0"/>
                </a:spcAft>
                <a:defRPr>
                  <a:solidFill>
                    <a:schemeClr val="tx1"/>
                  </a:solidFill>
                  <a:latin typeface="Arial" pitchFamily="34" charset="0"/>
                  <a:ea typeface="ＭＳ Ｐゴシック" pitchFamily="34" charset="-128"/>
                </a:defRPr>
              </a:lvl8pPr>
              <a:lvl9pPr marL="3886200" indent="-228600" defTabSz="457200" fontAlgn="base">
                <a:spcBef>
                  <a:spcPct val="0"/>
                </a:spcBef>
                <a:spcAft>
                  <a:spcPct val="0"/>
                </a:spcAft>
                <a:defRPr>
                  <a:solidFill>
                    <a:schemeClr val="tx1"/>
                  </a:solidFill>
                  <a:latin typeface="Arial" pitchFamily="34" charset="0"/>
                  <a:ea typeface="ＭＳ Ｐゴシック" pitchFamily="34" charset="-128"/>
                </a:defRPr>
              </a:lvl9pPr>
            </a:lstStyle>
            <a:p>
              <a:pPr algn="ctr" defTabSz="914400" fontAlgn="base">
                <a:spcBef>
                  <a:spcPct val="0"/>
                </a:spcBef>
                <a:spcAft>
                  <a:spcPct val="0"/>
                </a:spcAft>
                <a:defRPr/>
              </a:pPr>
              <a:r>
                <a:rPr lang="en-US" kern="0" dirty="0">
                  <a:solidFill>
                    <a:srgbClr val="000000"/>
                  </a:solidFill>
                </a:rPr>
                <a:t>*</a:t>
              </a:r>
            </a:p>
          </p:txBody>
        </p:sp>
      </p:grpSp>
      <p:sp>
        <p:nvSpPr>
          <p:cNvPr id="248" name="TextBox 247">
            <a:extLst>
              <a:ext uri="{FF2B5EF4-FFF2-40B4-BE49-F238E27FC236}">
                <a16:creationId xmlns:a16="http://schemas.microsoft.com/office/drawing/2014/main" id="{9F945705-AC13-4A9F-939D-8A5DFB1467B4}"/>
              </a:ext>
            </a:extLst>
          </p:cNvPr>
          <p:cNvSpPr txBox="1"/>
          <p:nvPr/>
        </p:nvSpPr>
        <p:spPr>
          <a:xfrm>
            <a:off x="8315932" y="5469219"/>
            <a:ext cx="1034257"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4294967296</a:t>
            </a:r>
          </a:p>
        </p:txBody>
      </p:sp>
      <p:sp>
        <p:nvSpPr>
          <p:cNvPr id="249" name="TextBox 248">
            <a:extLst>
              <a:ext uri="{FF2B5EF4-FFF2-40B4-BE49-F238E27FC236}">
                <a16:creationId xmlns:a16="http://schemas.microsoft.com/office/drawing/2014/main" id="{A36F3BE6-3540-4B25-95AB-1143F188C0F8}"/>
              </a:ext>
            </a:extLst>
          </p:cNvPr>
          <p:cNvSpPr txBox="1"/>
          <p:nvPr/>
        </p:nvSpPr>
        <p:spPr>
          <a:xfrm>
            <a:off x="6037811" y="5046764"/>
            <a:ext cx="279243" cy="461665"/>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a</a:t>
            </a:r>
          </a:p>
          <a:p>
            <a:pPr algn="r" defTabSz="914400" fontAlgn="base">
              <a:spcBef>
                <a:spcPct val="0"/>
              </a:spcBef>
              <a:spcAft>
                <a:spcPct val="0"/>
              </a:spcAft>
              <a:defRPr/>
            </a:pPr>
            <a:r>
              <a:rPr lang="en-US" sz="1200" b="1" kern="0" dirty="0">
                <a:solidFill>
                  <a:srgbClr val="000000"/>
                </a:solidFill>
                <a:latin typeface="Arial"/>
              </a:rPr>
              <a:t>b</a:t>
            </a:r>
          </a:p>
        </p:txBody>
      </p:sp>
      <p:sp>
        <p:nvSpPr>
          <p:cNvPr id="250" name="TextBox 249">
            <a:extLst>
              <a:ext uri="{FF2B5EF4-FFF2-40B4-BE49-F238E27FC236}">
                <a16:creationId xmlns:a16="http://schemas.microsoft.com/office/drawing/2014/main" id="{8403862E-9BDB-4C78-A82C-7E38A0B8D8D3}"/>
              </a:ext>
            </a:extLst>
          </p:cNvPr>
          <p:cNvSpPr txBox="1"/>
          <p:nvPr/>
        </p:nvSpPr>
        <p:spPr>
          <a:xfrm>
            <a:off x="8143736" y="5055523"/>
            <a:ext cx="1279833" cy="461665"/>
          </a:xfrm>
          <a:prstGeom prst="rect">
            <a:avLst/>
          </a:prstGeom>
          <a:noFill/>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65536</a:t>
            </a:r>
          </a:p>
          <a:p>
            <a:pPr algn="ctr" defTabSz="914400" fontAlgn="base">
              <a:spcBef>
                <a:spcPct val="0"/>
              </a:spcBef>
              <a:spcAft>
                <a:spcPct val="0"/>
              </a:spcAft>
              <a:defRPr/>
            </a:pPr>
            <a:r>
              <a:rPr lang="en-US" sz="1200" b="1" kern="0" dirty="0">
                <a:solidFill>
                  <a:srgbClr val="000000"/>
                </a:solidFill>
                <a:latin typeface="Arial"/>
              </a:rPr>
              <a:t>65536</a:t>
            </a:r>
          </a:p>
        </p:txBody>
      </p:sp>
      <p:grpSp>
        <p:nvGrpSpPr>
          <p:cNvPr id="251" name="Group 35">
            <a:extLst>
              <a:ext uri="{FF2B5EF4-FFF2-40B4-BE49-F238E27FC236}">
                <a16:creationId xmlns:a16="http://schemas.microsoft.com/office/drawing/2014/main" id="{E9749486-9E99-447D-A6E4-791846705540}"/>
              </a:ext>
            </a:extLst>
          </p:cNvPr>
          <p:cNvGrpSpPr>
            <a:grpSpLocks/>
          </p:cNvGrpSpPr>
          <p:nvPr/>
        </p:nvGrpSpPr>
        <p:grpSpPr bwMode="auto">
          <a:xfrm>
            <a:off x="6393800" y="4384635"/>
            <a:ext cx="1749934" cy="158103"/>
            <a:chOff x="4821308" y="5861837"/>
            <a:chExt cx="1312792" cy="158261"/>
          </a:xfrm>
        </p:grpSpPr>
        <p:sp>
          <p:nvSpPr>
            <p:cNvPr id="252" name="Rectangle 251">
              <a:extLst>
                <a:ext uri="{FF2B5EF4-FFF2-40B4-BE49-F238E27FC236}">
                  <a16:creationId xmlns:a16="http://schemas.microsoft.com/office/drawing/2014/main" id="{694CCBD1-1273-4DE4-8D6F-AB4932A327F4}"/>
                </a:ext>
              </a:extLst>
            </p:cNvPr>
            <p:cNvSpPr/>
            <p:nvPr/>
          </p:nvSpPr>
          <p:spPr>
            <a:xfrm>
              <a:off x="5113330" y="5862425"/>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3" name="Rectangle 252">
              <a:extLst>
                <a:ext uri="{FF2B5EF4-FFF2-40B4-BE49-F238E27FC236}">
                  <a16:creationId xmlns:a16="http://schemas.microsoft.com/office/drawing/2014/main" id="{A282D580-2F24-476C-A475-4D32C28585E2}"/>
                </a:ext>
              </a:extLst>
            </p:cNvPr>
            <p:cNvSpPr/>
            <p:nvPr/>
          </p:nvSpPr>
          <p:spPr>
            <a:xfrm>
              <a:off x="5707063" y="5862425"/>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4" name="Rectangle 253">
              <a:extLst>
                <a:ext uri="{FF2B5EF4-FFF2-40B4-BE49-F238E27FC236}">
                  <a16:creationId xmlns:a16="http://schemas.microsoft.com/office/drawing/2014/main" id="{8E6B8BD7-E1F3-4D23-B763-14DE0A8F2589}"/>
                </a:ext>
              </a:extLst>
            </p:cNvPr>
            <p:cNvSpPr/>
            <p:nvPr/>
          </p:nvSpPr>
          <p:spPr>
            <a:xfrm>
              <a:off x="5859463" y="5862425"/>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5" name="Rectangle 254">
              <a:extLst>
                <a:ext uri="{FF2B5EF4-FFF2-40B4-BE49-F238E27FC236}">
                  <a16:creationId xmlns:a16="http://schemas.microsoft.com/office/drawing/2014/main" id="{C31CAF19-71F1-45DC-8488-3FFB9F0E3F95}"/>
                </a:ext>
              </a:extLst>
            </p:cNvPr>
            <p:cNvSpPr/>
            <p:nvPr/>
          </p:nvSpPr>
          <p:spPr>
            <a:xfrm>
              <a:off x="6011863" y="5862425"/>
              <a:ext cx="122237" cy="155731"/>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6" name="Rectangle 255">
              <a:extLst>
                <a:ext uri="{FF2B5EF4-FFF2-40B4-BE49-F238E27FC236}">
                  <a16:creationId xmlns:a16="http://schemas.microsoft.com/office/drawing/2014/main" id="{63B918B8-4538-4E06-A2A4-CB4D2161D8AC}"/>
                </a:ext>
              </a:extLst>
            </p:cNvPr>
            <p:cNvSpPr/>
            <p:nvPr/>
          </p:nvSpPr>
          <p:spPr>
            <a:xfrm>
              <a:off x="5257793" y="5862425"/>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7" name="Rectangle 256">
              <a:extLst>
                <a:ext uri="{FF2B5EF4-FFF2-40B4-BE49-F238E27FC236}">
                  <a16:creationId xmlns:a16="http://schemas.microsoft.com/office/drawing/2014/main" id="{03E69D92-26D5-497C-904F-A0CB568A0F70}"/>
                </a:ext>
              </a:extLst>
            </p:cNvPr>
            <p:cNvSpPr/>
            <p:nvPr/>
          </p:nvSpPr>
          <p:spPr>
            <a:xfrm>
              <a:off x="5402263" y="5862425"/>
              <a:ext cx="122237"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8" name="Rectangle 257">
              <a:extLst>
                <a:ext uri="{FF2B5EF4-FFF2-40B4-BE49-F238E27FC236}">
                  <a16:creationId xmlns:a16="http://schemas.microsoft.com/office/drawing/2014/main" id="{9E16FF57-662F-4E84-9090-CB1BDCDAD55E}"/>
                </a:ext>
              </a:extLst>
            </p:cNvPr>
            <p:cNvSpPr/>
            <p:nvPr/>
          </p:nvSpPr>
          <p:spPr>
            <a:xfrm>
              <a:off x="5546725" y="5862425"/>
              <a:ext cx="122238" cy="155731"/>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59" name="Rectangle 258">
              <a:extLst>
                <a:ext uri="{FF2B5EF4-FFF2-40B4-BE49-F238E27FC236}">
                  <a16:creationId xmlns:a16="http://schemas.microsoft.com/office/drawing/2014/main" id="{E0F6F654-7B7D-4C04-8A26-9758E5DB6BEE}"/>
                </a:ext>
              </a:extLst>
            </p:cNvPr>
            <p:cNvSpPr/>
            <p:nvPr/>
          </p:nvSpPr>
          <p:spPr>
            <a:xfrm>
              <a:off x="4970828" y="5861837"/>
              <a:ext cx="122237" cy="155730"/>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sp>
          <p:nvSpPr>
            <p:cNvPr id="260" name="Rectangle 259">
              <a:extLst>
                <a:ext uri="{FF2B5EF4-FFF2-40B4-BE49-F238E27FC236}">
                  <a16:creationId xmlns:a16="http://schemas.microsoft.com/office/drawing/2014/main" id="{17F944E7-5BD0-4192-9A4B-70C52C55D785}"/>
                </a:ext>
              </a:extLst>
            </p:cNvPr>
            <p:cNvSpPr/>
            <p:nvPr/>
          </p:nvSpPr>
          <p:spPr>
            <a:xfrm>
              <a:off x="4821308" y="5864368"/>
              <a:ext cx="122237" cy="155730"/>
            </a:xfrm>
            <a:prstGeom prst="rect">
              <a:avLst/>
            </a:prstGeom>
            <a:gradFill rotWithShape="1">
              <a:gsLst>
                <a:gs pos="0">
                  <a:srgbClr val="6D7076">
                    <a:lumMod val="75000"/>
                  </a:srgbClr>
                </a:gs>
                <a:gs pos="100000">
                  <a:srgbClr val="6D7076">
                    <a:lumMod val="40000"/>
                    <a:lumOff val="6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1200" kern="0" dirty="0">
                  <a:solidFill>
                    <a:srgbClr val="FFFFFF"/>
                  </a:solidFill>
                  <a:latin typeface="Arial"/>
                </a:rPr>
                <a:t>0</a:t>
              </a:r>
            </a:p>
          </p:txBody>
        </p:sp>
      </p:grpSp>
      <p:cxnSp>
        <p:nvCxnSpPr>
          <p:cNvPr id="261" name="Straight Connector 260">
            <a:extLst>
              <a:ext uri="{FF2B5EF4-FFF2-40B4-BE49-F238E27FC236}">
                <a16:creationId xmlns:a16="http://schemas.microsoft.com/office/drawing/2014/main" id="{0D21BB59-34AB-4BDC-B607-23171114DDB8}"/>
              </a:ext>
            </a:extLst>
          </p:cNvPr>
          <p:cNvCxnSpPr/>
          <p:nvPr/>
        </p:nvCxnSpPr>
        <p:spPr bwMode="auto">
          <a:xfrm>
            <a:off x="6351968" y="4341033"/>
            <a:ext cx="1874638" cy="9689"/>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262" name="TextBox 261">
            <a:extLst>
              <a:ext uri="{FF2B5EF4-FFF2-40B4-BE49-F238E27FC236}">
                <a16:creationId xmlns:a16="http://schemas.microsoft.com/office/drawing/2014/main" id="{7CE91DCF-F8EB-4D2D-9BB0-6B31DBB34806}"/>
              </a:ext>
            </a:extLst>
          </p:cNvPr>
          <p:cNvSpPr txBox="1"/>
          <p:nvPr/>
        </p:nvSpPr>
        <p:spPr>
          <a:xfrm>
            <a:off x="8188626" y="4342558"/>
            <a:ext cx="269625"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0</a:t>
            </a:r>
          </a:p>
        </p:txBody>
      </p:sp>
      <p:sp>
        <p:nvSpPr>
          <p:cNvPr id="263" name="TextBox 262">
            <a:extLst>
              <a:ext uri="{FF2B5EF4-FFF2-40B4-BE49-F238E27FC236}">
                <a16:creationId xmlns:a16="http://schemas.microsoft.com/office/drawing/2014/main" id="{065A5D73-3450-4316-A878-0A732979E019}"/>
              </a:ext>
            </a:extLst>
          </p:cNvPr>
          <p:cNvSpPr txBox="1"/>
          <p:nvPr/>
        </p:nvSpPr>
        <p:spPr>
          <a:xfrm>
            <a:off x="1317995" y="3372928"/>
            <a:ext cx="2918020" cy="13234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ea typeface="ＭＳ Ｐゴシック" pitchFamily="18" charset="-128"/>
              </a:rPr>
              <a:t>#include "</a:t>
            </a:r>
            <a:r>
              <a:rPr lang="en-US" sz="1000" b="1" kern="0" dirty="0" err="1">
                <a:solidFill>
                  <a:srgbClr val="000000"/>
                </a:solidFill>
                <a:latin typeface="Arial"/>
                <a:ea typeface="ＭＳ Ｐゴシック" pitchFamily="18" charset="-128"/>
              </a:rPr>
              <a:t>ap_cint.h</a:t>
            </a:r>
            <a:r>
              <a:rPr lang="en-US" sz="1000" b="1" kern="0" dirty="0">
                <a:solidFill>
                  <a:srgbClr val="000000"/>
                </a:solidFill>
                <a:latin typeface="Arial"/>
                <a:ea typeface="ＭＳ Ｐゴシック" pitchFamily="18" charset="-128"/>
              </a:rPr>
              <a:t>"</a:t>
            </a:r>
          </a:p>
          <a:p>
            <a:pPr defTabSz="914400" fontAlgn="base">
              <a:spcBef>
                <a:spcPct val="0"/>
              </a:spcBef>
              <a:spcAft>
                <a:spcPct val="0"/>
              </a:spcAft>
              <a:defRPr/>
            </a:pPr>
            <a:endParaRPr lang="en-US" sz="1000" kern="0" dirty="0">
              <a:solidFill>
                <a:srgbClr val="000000"/>
              </a:solidFill>
              <a:latin typeface="Arial"/>
              <a:ea typeface="ＭＳ Ｐゴシック" pitchFamily="18" charset="-128"/>
            </a:endParaRPr>
          </a:p>
          <a:p>
            <a:pPr defTabSz="914400" fontAlgn="base">
              <a:spcBef>
                <a:spcPct val="0"/>
              </a:spcBef>
              <a:spcAft>
                <a:spcPct val="0"/>
              </a:spcAft>
              <a:defRPr/>
            </a:pPr>
            <a:r>
              <a:rPr lang="en-US" sz="1000" kern="0" dirty="0">
                <a:solidFill>
                  <a:srgbClr val="000000"/>
                </a:solidFill>
                <a:latin typeface="Arial"/>
                <a:ea typeface="ＭＳ Ｐゴシック" pitchFamily="18" charset="-128"/>
              </a:rPr>
              <a:t>int36 mult (int18 a,int18 b) {</a:t>
            </a:r>
          </a:p>
          <a:p>
            <a:pPr defTabSz="914400" fontAlgn="base">
              <a:spcBef>
                <a:spcPct val="0"/>
              </a:spcBef>
              <a:spcAft>
                <a:spcPct val="0"/>
              </a:spcAft>
              <a:defRPr/>
            </a:pPr>
            <a:r>
              <a:rPr lang="en-US" sz="1000" kern="0" dirty="0">
                <a:solidFill>
                  <a:srgbClr val="000000"/>
                </a:solidFill>
                <a:latin typeface="Arial"/>
                <a:ea typeface="ＭＳ Ｐゴシック" pitchFamily="18" charset="-128"/>
              </a:rPr>
              <a:t>  int36  tmp;</a:t>
            </a:r>
          </a:p>
          <a:p>
            <a:pPr defTabSz="914400" fontAlgn="base">
              <a:spcBef>
                <a:spcPct val="0"/>
              </a:spcBef>
              <a:spcAft>
                <a:spcPct val="0"/>
              </a:spcAft>
              <a:defRPr/>
            </a:pPr>
            <a:r>
              <a:rPr lang="en-US" sz="1000" kern="0" dirty="0">
                <a:solidFill>
                  <a:srgbClr val="000000"/>
                </a:solidFill>
                <a:latin typeface="Arial"/>
                <a:ea typeface="ＭＳ Ｐゴシック" pitchFamily="18" charset="-128"/>
              </a:rPr>
              <a:t>  tmp = a * b;</a:t>
            </a:r>
          </a:p>
          <a:p>
            <a:pPr defTabSz="914400" fontAlgn="base">
              <a:spcBef>
                <a:spcPct val="0"/>
              </a:spcBef>
              <a:spcAft>
                <a:spcPct val="0"/>
              </a:spcAft>
              <a:defRPr/>
            </a:pPr>
            <a:r>
              <a:rPr lang="en-US" sz="1000" kern="0" dirty="0">
                <a:solidFill>
                  <a:srgbClr val="000000"/>
                </a:solidFill>
                <a:latin typeface="Arial"/>
                <a:ea typeface="ＭＳ Ｐゴシック" pitchFamily="18" charset="-128"/>
              </a:rPr>
              <a:t>  return tmp;</a:t>
            </a:r>
          </a:p>
          <a:p>
            <a:pPr defTabSz="914400" fontAlgn="base">
              <a:spcBef>
                <a:spcPct val="0"/>
              </a:spcBef>
              <a:spcAft>
                <a:spcPct val="0"/>
              </a:spcAft>
              <a:defRPr/>
            </a:pPr>
            <a:r>
              <a:rPr lang="en-US" sz="1000" kern="0" dirty="0">
                <a:solidFill>
                  <a:srgbClr val="000000"/>
                </a:solidFill>
                <a:latin typeface="Arial"/>
                <a:ea typeface="ＭＳ Ｐゴシック" pitchFamily="18" charset="-128"/>
              </a:rPr>
              <a:t>}</a:t>
            </a:r>
          </a:p>
          <a:p>
            <a:pPr algn="ctr" defTabSz="914400" fontAlgn="base">
              <a:spcBef>
                <a:spcPct val="0"/>
              </a:spcBef>
              <a:spcAft>
                <a:spcPct val="0"/>
              </a:spcAft>
              <a:defRPr/>
            </a:pPr>
            <a:endParaRPr lang="en-US" sz="1000" kern="0" dirty="0">
              <a:solidFill>
                <a:srgbClr val="000000"/>
              </a:solidFill>
              <a:latin typeface="Arial"/>
              <a:ea typeface="ＭＳ Ｐゴシック" pitchFamily="18" charset="-128"/>
            </a:endParaRPr>
          </a:p>
        </p:txBody>
      </p:sp>
      <p:sp>
        <p:nvSpPr>
          <p:cNvPr id="264" name="TextBox 263">
            <a:extLst>
              <a:ext uri="{FF2B5EF4-FFF2-40B4-BE49-F238E27FC236}">
                <a16:creationId xmlns:a16="http://schemas.microsoft.com/office/drawing/2014/main" id="{1AEDC40A-4E93-4A7A-9D15-1329E9DB72E4}"/>
              </a:ext>
            </a:extLst>
          </p:cNvPr>
          <p:cNvSpPr txBox="1"/>
          <p:nvPr/>
        </p:nvSpPr>
        <p:spPr>
          <a:xfrm>
            <a:off x="3672890" y="3928265"/>
            <a:ext cx="1228639" cy="600164"/>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Given: a=0x10000 </a:t>
            </a:r>
          </a:p>
          <a:p>
            <a:pPr algn="ctr" defTabSz="914400" fontAlgn="base">
              <a:spcBef>
                <a:spcPct val="0"/>
              </a:spcBef>
              <a:spcAft>
                <a:spcPct val="0"/>
              </a:spcAft>
              <a:defRPr/>
            </a:pPr>
            <a:r>
              <a:rPr lang="en-US" sz="1100" b="1" kern="0" dirty="0">
                <a:solidFill>
                  <a:srgbClr val="000000"/>
                </a:solidFill>
                <a:latin typeface="Arial"/>
              </a:rPr>
              <a:t>b=0x10000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grpId="0" nodeType="afterEffect">
                                  <p:stCondLst>
                                    <p:cond delay="0"/>
                                  </p:stCondLst>
                                  <p:childTnLst>
                                    <p:set>
                                      <p:cBhvr>
                                        <p:cTn id="6" dur="1" fill="hold">
                                          <p:stCondLst>
                                            <p:cond delay="0"/>
                                          </p:stCondLst>
                                        </p:cTn>
                                        <p:tgtEl>
                                          <p:spTgt spid="211"/>
                                        </p:tgtEl>
                                        <p:attrNameLst>
                                          <p:attrName>style.visibility</p:attrName>
                                        </p:attrNameLst>
                                      </p:cBhvr>
                                      <p:to>
                                        <p:strVal val="visible"/>
                                      </p:to>
                                    </p:set>
                                    <p:animEffect transition="in" filter="fade">
                                      <p:cBhvr>
                                        <p:cTn id="7" dur="1000"/>
                                        <p:tgtEl>
                                          <p:spTgt spid="211"/>
                                        </p:tgtEl>
                                      </p:cBhvr>
                                    </p:animEffect>
                                    <p:anim calcmode="lin" valueType="num">
                                      <p:cBhvr>
                                        <p:cTn id="8" dur="1000" fill="hold"/>
                                        <p:tgtEl>
                                          <p:spTgt spid="211"/>
                                        </p:tgtEl>
                                        <p:attrNameLst>
                                          <p:attrName>ppt_x</p:attrName>
                                        </p:attrNameLst>
                                      </p:cBhvr>
                                      <p:tavLst>
                                        <p:tav tm="0">
                                          <p:val>
                                            <p:strVal val="#ppt_x"/>
                                          </p:val>
                                        </p:tav>
                                        <p:tav tm="100000">
                                          <p:val>
                                            <p:strVal val="#ppt_x"/>
                                          </p:val>
                                        </p:tav>
                                      </p:tavLst>
                                    </p:anim>
                                    <p:anim calcmode="lin" valueType="num">
                                      <p:cBhvr>
                                        <p:cTn id="9" dur="1000" fill="hold"/>
                                        <p:tgtEl>
                                          <p:spTgt spid="2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1"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C apint types: Bit-Selection &amp; Manipulation</a:t>
            </a:r>
          </a:p>
        </p:txBody>
      </p:sp>
      <p:sp>
        <p:nvSpPr>
          <p:cNvPr id="10" name="Slide Number Placeholder 9"/>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15</a:t>
            </a:fld>
            <a:endParaRPr lang="en-US" dirty="0">
              <a:solidFill>
                <a:srgbClr val="0C0C0C">
                  <a:tint val="75000"/>
                </a:srgbClr>
              </a:solidFill>
              <a:latin typeface="Arial"/>
            </a:endParaRPr>
          </a:p>
        </p:txBody>
      </p:sp>
      <p:sp>
        <p:nvSpPr>
          <p:cNvPr id="7"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15</a:t>
            </a:fld>
            <a:endParaRPr lang="en-US" sz="1000" dirty="0">
              <a:solidFill>
                <a:srgbClr val="FFFFFF"/>
              </a:solidFill>
              <a:latin typeface="Arial" charset="0"/>
              <a:ea typeface="ＭＳ Ｐゴシック" pitchFamily="34" charset="-128"/>
              <a:cs typeface="Arial" charset="0"/>
            </a:endParaRPr>
          </a:p>
        </p:txBody>
      </p:sp>
      <p:graphicFrame>
        <p:nvGraphicFramePr>
          <p:cNvPr id="6" name="Content Placeholder 14">
            <a:extLst>
              <a:ext uri="{FF2B5EF4-FFF2-40B4-BE49-F238E27FC236}">
                <a16:creationId xmlns:a16="http://schemas.microsoft.com/office/drawing/2014/main" id="{0C6C4DB9-170C-4964-A4AB-D260512D3520}"/>
              </a:ext>
            </a:extLst>
          </p:cNvPr>
          <p:cNvGraphicFramePr>
            <a:graphicFrameLocks/>
          </p:cNvGraphicFramePr>
          <p:nvPr/>
        </p:nvGraphicFramePr>
        <p:xfrm>
          <a:off x="874280" y="1739180"/>
          <a:ext cx="10597020" cy="329184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031738">
                  <a:extLst>
                    <a:ext uri="{9D8B030D-6E8A-4147-A177-3AD203B41FA5}">
                      <a16:colId xmlns:a16="http://schemas.microsoft.com/office/drawing/2014/main" val="20001"/>
                    </a:ext>
                  </a:extLst>
                </a:gridCol>
                <a:gridCol w="4402625">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Function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apint_bitwidthof</a:t>
                      </a:r>
                      <a:r>
                        <a:rPr lang="en-US" sz="1200" dirty="0"/>
                        <a:t>(</a:t>
                      </a:r>
                      <a:r>
                        <a:rPr lang="en-US" sz="1200" dirty="0" err="1"/>
                        <a:t>var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a:solidFill>
                            <a:schemeClr val="dk1"/>
                          </a:solidFill>
                          <a:latin typeface="+mn-lt"/>
                          <a:ea typeface="+mn-ea"/>
                          <a:cs typeface="+mn-cs"/>
                        </a:rPr>
                        <a:t>res=</a:t>
                      </a:r>
                      <a:r>
                        <a:rPr lang="en-US" sz="1200" kern="1200" dirty="0" err="1">
                          <a:solidFill>
                            <a:schemeClr val="dk1"/>
                          </a:solidFill>
                          <a:latin typeface="+mn-lt"/>
                          <a:ea typeface="+mn-ea"/>
                          <a:cs typeface="+mn-cs"/>
                        </a:rPr>
                        <a:t>apint_concatenate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var_high</a:t>
                      </a:r>
                      <a:r>
                        <a:rPr lang="en-US" sz="1200" kern="1200" dirty="0">
                          <a:solidFill>
                            <a:schemeClr val="dk1"/>
                          </a:solidFill>
                          <a:latin typeface="+mn-lt"/>
                          <a:ea typeface="+mn-ea"/>
                          <a:cs typeface="+mn-cs"/>
                        </a:rPr>
                        <a:t>, </a:t>
                      </a:r>
                      <a:r>
                        <a:rPr lang="en-US" sz="1200" kern="1200" dirty="0" err="1">
                          <a:solidFill>
                            <a:schemeClr val="dk1"/>
                          </a:solidFill>
                          <a:latin typeface="+mn-lt"/>
                          <a:ea typeface="+mn-ea"/>
                          <a:cs typeface="+mn-cs"/>
                        </a:rPr>
                        <a:t>var_low</a:t>
                      </a:r>
                      <a:r>
                        <a:rPr lang="en-US" sz="1200" kern="1200" dirty="0">
                          <a:solidFill>
                            <a:schemeClr val="dk1"/>
                          </a:solidFill>
                          <a:latin typeface="+mn-lt"/>
                          <a:ea typeface="+mn-ea"/>
                          <a:cs typeface="+mn-cs"/>
                        </a:rPr>
                        <a: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Get</a:t>
                      </a:r>
                      <a:r>
                        <a:rPr lang="en-US" sz="1200" baseline="0" dirty="0"/>
                        <a:t> a range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 </a:t>
                      </a:r>
                      <a:r>
                        <a:rPr lang="en-US" sz="1200" kern="1200" dirty="0" err="1">
                          <a:solidFill>
                            <a:schemeClr val="dk1"/>
                          </a:solidFill>
                          <a:latin typeface="+mn-lt"/>
                          <a:ea typeface="+mn-ea"/>
                          <a:cs typeface="+mn-cs"/>
                        </a:rPr>
                        <a:t>apint_get_range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a:t>
                      </a:r>
                      <a:r>
                        <a:rPr lang="en-US" sz="1200" kern="1200" baseline="0" dirty="0">
                          <a:solidFill>
                            <a:schemeClr val="dk1"/>
                          </a:solidFill>
                          <a:latin typeface="+mn-lt"/>
                          <a:ea typeface="+mn-ea"/>
                          <a:cs typeface="+mn-cs"/>
                        </a:rPr>
                        <a:t> </a:t>
                      </a:r>
                      <a:r>
                        <a:rPr lang="en-US" sz="1200" kern="1200" dirty="0" err="1">
                          <a:solidFill>
                            <a:schemeClr val="dk1"/>
                          </a:solidFill>
                          <a:latin typeface="+mn-lt"/>
                          <a:ea typeface="+mn-ea"/>
                          <a:cs typeface="+mn-cs"/>
                        </a:rPr>
                        <a:t>high,low</a:t>
                      </a:r>
                      <a:r>
                        <a:rPr lang="en-US" sz="1200" kern="1200" dirty="0">
                          <a:solidFill>
                            <a:schemeClr val="dk1"/>
                          </a:solidFill>
                          <a:latin typeface="+mn-lt"/>
                          <a:ea typeface="+mn-ea"/>
                          <a:cs typeface="+mn-cs"/>
                        </a:rPr>
                        <a: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Set a range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Reserve the</a:t>
                      </a:r>
                      <a:r>
                        <a:rPr lang="en-US" sz="1200" kern="1200" baseline="0" dirty="0">
                          <a:solidFill>
                            <a:schemeClr val="dk1"/>
                          </a:solidFill>
                          <a:latin typeface="+mn-lt"/>
                          <a:ea typeface="+mn-ea"/>
                          <a:cs typeface="+mn-cs"/>
                        </a:rPr>
                        <a:t> bits in the variable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apint_set_range</a:t>
                      </a:r>
                      <a:r>
                        <a:rPr lang="en-US" sz="1200" kern="1200" dirty="0">
                          <a:solidFill>
                            <a:schemeClr val="dk1"/>
                          </a:solidFill>
                          <a:latin typeface="+mn-lt"/>
                          <a:ea typeface="+mn-ea"/>
                          <a:cs typeface="+mn-cs"/>
                        </a:rPr>
                        <a:t>(res, high, low, res)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and_reduce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(N)And reduce all bits.</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apint_(n)</a:t>
                      </a:r>
                      <a:r>
                        <a:rPr lang="en-US" sz="1200" kern="1200" dirty="0" err="1">
                          <a:solidFill>
                            <a:schemeClr val="dk1"/>
                          </a:solidFill>
                          <a:latin typeface="+mn-lt"/>
                          <a:ea typeface="+mn-ea"/>
                          <a:cs typeface="+mn-cs"/>
                        </a:rPr>
                        <a:t>and_reduce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apint_(n)</a:t>
                      </a:r>
                      <a:r>
                        <a:rPr lang="en-US" sz="1200" kern="1200" dirty="0" err="1">
                          <a:solidFill>
                            <a:schemeClr val="dk1"/>
                          </a:solidFill>
                          <a:latin typeface="+mn-lt"/>
                          <a:ea typeface="+mn-ea"/>
                          <a:cs typeface="+mn-cs"/>
                        </a:rPr>
                        <a:t>or_reduce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X(n)</a:t>
                      </a:r>
                      <a:r>
                        <a:rPr lang="en-US" sz="120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X(N)or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apint_x</a:t>
                      </a:r>
                      <a:r>
                        <a:rPr lang="en-US" sz="1200" kern="1200" dirty="0">
                          <a:solidFill>
                            <a:schemeClr val="dk1"/>
                          </a:solidFill>
                          <a:latin typeface="+mn-lt"/>
                          <a:ea typeface="+mn-ea"/>
                          <a:cs typeface="+mn-cs"/>
                        </a:rPr>
                        <a:t>(n)</a:t>
                      </a:r>
                      <a:r>
                        <a:rPr lang="en-US" sz="1200" kern="1200" dirty="0" err="1">
                          <a:solidFill>
                            <a:schemeClr val="dk1"/>
                          </a:solidFill>
                          <a:latin typeface="+mn-lt"/>
                          <a:ea typeface="+mn-ea"/>
                          <a:cs typeface="+mn-cs"/>
                        </a:rPr>
                        <a:t>or_reduce</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7"/>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Get a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Get a specific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a:t>
                      </a:r>
                      <a:r>
                        <a:rPr lang="en-US" sz="1200" kern="1200" dirty="0" err="1">
                          <a:solidFill>
                            <a:schemeClr val="dk1"/>
                          </a:solidFill>
                          <a:latin typeface="+mn-lt"/>
                          <a:ea typeface="+mn-ea"/>
                          <a:cs typeface="+mn-cs"/>
                        </a:rPr>
                        <a:t>apint_get_bit</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var</a:t>
                      </a:r>
                      <a:r>
                        <a:rPr lang="en-US" sz="1200" kern="1200" dirty="0">
                          <a:solidFill>
                            <a:schemeClr val="dk1"/>
                          </a:solidFill>
                          <a:latin typeface="+mn-lt"/>
                          <a:ea typeface="+mn-ea"/>
                          <a:cs typeface="+mn-cs"/>
                        </a:rPr>
                        <a:t>, 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8"/>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Sets the value of a specific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apint_set_bit</a:t>
                      </a:r>
                      <a:r>
                        <a:rPr lang="en-US" sz="1200" kern="1200" dirty="0">
                          <a:solidFill>
                            <a:schemeClr val="dk1"/>
                          </a:solidFill>
                          <a:latin typeface="+mn-lt"/>
                          <a:ea typeface="+mn-ea"/>
                          <a:cs typeface="+mn-cs"/>
                        </a:rPr>
                        <a:t>(res, 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9"/>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Print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Print the value of</a:t>
                      </a:r>
                      <a:r>
                        <a:rPr lang="en-US" sz="1200" kern="1200" baseline="0" dirty="0">
                          <a:solidFill>
                            <a:schemeClr val="dk1"/>
                          </a:solidFill>
                          <a:latin typeface="+mn-lt"/>
                          <a:ea typeface="+mn-ea"/>
                          <a:cs typeface="+mn-cs"/>
                        </a:rPr>
                        <a:t> an apint variable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apint_print</a:t>
                      </a:r>
                      <a:r>
                        <a:rPr lang="en-US" sz="1200" kern="1200" dirty="0">
                          <a:solidFill>
                            <a:schemeClr val="dk1"/>
                          </a:solidFill>
                          <a:latin typeface="+mn-lt"/>
                          <a:ea typeface="+mn-ea"/>
                          <a:cs typeface="+mn-cs"/>
                        </a:rPr>
                        <a:t>(</a:t>
                      </a:r>
                      <a:r>
                        <a:rPr lang="en-US" sz="1200" kern="1200" dirty="0" err="1">
                          <a:solidFill>
                            <a:schemeClr val="dk1"/>
                          </a:solidFill>
                          <a:latin typeface="+mn-lt"/>
                          <a:ea typeface="+mn-ea"/>
                          <a:cs typeface="+mn-cs"/>
                        </a:rPr>
                        <a:t>int#N</a:t>
                      </a:r>
                      <a:r>
                        <a:rPr lang="en-US" sz="1200" kern="1200" dirty="0">
                          <a:solidFill>
                            <a:schemeClr val="dk1"/>
                          </a:solidFill>
                          <a:latin typeface="+mn-lt"/>
                          <a:ea typeface="+mn-ea"/>
                          <a:cs typeface="+mn-cs"/>
                        </a:rPr>
                        <a:t> value, int radix));</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Print value to file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Print the value of</a:t>
                      </a:r>
                      <a:r>
                        <a:rPr lang="en-US" sz="1200" kern="1200" baseline="0" dirty="0">
                          <a:solidFill>
                            <a:schemeClr val="dk1"/>
                          </a:solidFill>
                          <a:latin typeface="+mn-lt"/>
                          <a:ea typeface="+mn-ea"/>
                          <a:cs typeface="+mn-cs"/>
                        </a:rPr>
                        <a:t> an apint variable to a file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apint_fprint</a:t>
                      </a:r>
                      <a:r>
                        <a:rPr lang="en-US" sz="1200" kern="1200" dirty="0">
                          <a:solidFill>
                            <a:schemeClr val="dk1"/>
                          </a:solidFill>
                          <a:latin typeface="+mn-lt"/>
                          <a:ea typeface="+mn-ea"/>
                          <a:cs typeface="+mn-cs"/>
                        </a:rPr>
                        <a:t>(FILE* file, </a:t>
                      </a:r>
                      <a:r>
                        <a:rPr lang="en-US" sz="1200" kern="1200" dirty="0" err="1">
                          <a:solidFill>
                            <a:schemeClr val="dk1"/>
                          </a:solidFill>
                          <a:latin typeface="+mn-lt"/>
                          <a:ea typeface="+mn-ea"/>
                          <a:cs typeface="+mn-cs"/>
                        </a:rPr>
                        <a:t>int#N</a:t>
                      </a:r>
                      <a:r>
                        <a:rPr lang="en-US" sz="1200" kern="1200" dirty="0">
                          <a:solidFill>
                            <a:schemeClr val="dk1"/>
                          </a:solidFill>
                          <a:latin typeface="+mn-lt"/>
                          <a:ea typeface="+mn-ea"/>
                          <a:cs typeface="+mn-cs"/>
                        </a:rPr>
                        <a:t> value, int radix)</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01C960A-9830-4F76-90F5-A6A4811FC737}"/>
              </a:ext>
            </a:extLst>
          </p:cNvPr>
          <p:cNvSpPr txBox="1"/>
          <p:nvPr/>
        </p:nvSpPr>
        <p:spPr>
          <a:xfrm>
            <a:off x="6049080" y="2035501"/>
            <a:ext cx="4453820" cy="92333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#include ap_int.h</a:t>
            </a: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void foo_top (…)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ap_int&lt;9&gt; 		var1;        // 9-bit</a:t>
            </a:r>
          </a:p>
          <a:p>
            <a:pPr defTabSz="914400" fontAlgn="base">
              <a:spcBef>
                <a:spcPct val="0"/>
              </a:spcBef>
              <a:spcAft>
                <a:spcPct val="0"/>
              </a:spcAft>
              <a:defRPr/>
            </a:pPr>
            <a:r>
              <a:rPr lang="en-US" sz="900" b="1" kern="0" dirty="0">
                <a:solidFill>
                  <a:srgbClr val="000000"/>
                </a:solidFill>
                <a:latin typeface="Arial"/>
              </a:rPr>
              <a:t>    ap_uint&lt;10&gt; 		var2;        // 10-bit unsigned</a:t>
            </a:r>
          </a:p>
        </p:txBody>
      </p:sp>
      <p:sp>
        <p:nvSpPr>
          <p:cNvPr id="11" name="TextBox 10">
            <a:extLst>
              <a:ext uri="{FF2B5EF4-FFF2-40B4-BE49-F238E27FC236}">
                <a16:creationId xmlns:a16="http://schemas.microsoft.com/office/drawing/2014/main" id="{6491D047-1628-4359-85E2-EB9D7F07A73D}"/>
              </a:ext>
            </a:extLst>
          </p:cNvPr>
          <p:cNvSpPr txBox="1"/>
          <p:nvPr/>
        </p:nvSpPr>
        <p:spPr>
          <a:xfrm>
            <a:off x="2508873" y="5059323"/>
            <a:ext cx="6603940" cy="276999"/>
          </a:xfrm>
          <a:prstGeom prst="rect">
            <a:avLst/>
          </a:prstGeom>
          <a:solidFill>
            <a:srgbClr val="008CA8">
              <a:lumMod val="75000"/>
            </a:srgbClr>
          </a:solidFill>
          <a:ln w="12700" cap="flat" cmpd="sng" algn="ctr">
            <a:solidFill>
              <a:srgbClr val="000000"/>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FFFFFF"/>
                </a:solidFill>
                <a:latin typeface="Arial"/>
              </a:rPr>
              <a:t>shell&gt; g++ –o my_test test.c test_tb.c -I$VITIS_HLS_HOME/include</a:t>
            </a:r>
          </a:p>
        </p:txBody>
      </p:sp>
      <p:sp>
        <p:nvSpPr>
          <p:cNvPr id="2" name="Title 1"/>
          <p:cNvSpPr>
            <a:spLocks noGrp="1"/>
          </p:cNvSpPr>
          <p:nvPr>
            <p:ph type="title"/>
          </p:nvPr>
        </p:nvSpPr>
        <p:spPr/>
        <p:txBody>
          <a:bodyPr/>
          <a:lstStyle/>
          <a:p>
            <a:r>
              <a:rPr lang="en-US" dirty="0"/>
              <a:t>Arbitrary Precision : C++ ap_int types </a:t>
            </a:r>
          </a:p>
        </p:txBody>
      </p:sp>
      <p:sp>
        <p:nvSpPr>
          <p:cNvPr id="13" name="Slide Number Placeholder 12"/>
          <p:cNvSpPr>
            <a:spLocks noGrp="1"/>
          </p:cNvSpPr>
          <p:nvPr>
            <p:ph type="sldNum" sz="quarter" idx="10"/>
          </p:nvPr>
        </p:nvSpPr>
        <p:spPr>
          <a:xfrm>
            <a:off x="579120" y="6325606"/>
            <a:ext cx="1516379" cy="365125"/>
          </a:xfrm>
        </p:spPr>
        <p:txBody>
          <a:bodyPr/>
          <a:lstStyle/>
          <a:p>
            <a:pPr>
              <a:defRPr/>
            </a:pPr>
            <a:r>
              <a:rPr lang="en-US" dirty="0"/>
              <a:t>Data Types 14- </a:t>
            </a:r>
            <a:fld id="{060BD193-E118-4B16-863C-C8C12C675E3E}" type="slidenum">
              <a:rPr lang="en-US" smtClean="0"/>
              <a:pPr>
                <a:defRPr/>
              </a:pPr>
              <a:t>16</a:t>
            </a:fld>
            <a:endParaRPr lang="en-US" dirty="0"/>
          </a:p>
        </p:txBody>
      </p:sp>
      <p:sp>
        <p:nvSpPr>
          <p:cNvPr id="3" name="Content Placeholder 2"/>
          <p:cNvSpPr>
            <a:spLocks noGrp="1"/>
          </p:cNvSpPr>
          <p:nvPr>
            <p:ph idx="4294967295"/>
          </p:nvPr>
        </p:nvSpPr>
        <p:spPr>
          <a:xfrm>
            <a:off x="611030" y="1327149"/>
            <a:ext cx="11579383" cy="3732173"/>
          </a:xfrm>
        </p:spPr>
        <p:txBody>
          <a:bodyPr>
            <a:normAutofit lnSpcReduction="10000"/>
          </a:bodyPr>
          <a:lstStyle/>
          <a:p>
            <a:r>
              <a:rPr lang="en-US" dirty="0"/>
              <a:t>For C++ </a:t>
            </a:r>
          </a:p>
          <a:p>
            <a:pPr lvl="1"/>
            <a:r>
              <a:rPr lang="en-US"/>
              <a:t>Vitis </a:t>
            </a:r>
            <a:r>
              <a:rPr lang="en-US" dirty="0"/>
              <a:t>HLS types ap_int can be used</a:t>
            </a:r>
          </a:p>
          <a:p>
            <a:pPr lvl="1"/>
            <a:r>
              <a:rPr lang="en-US" dirty="0"/>
              <a:t>Range: 1 to 1024 bits</a:t>
            </a:r>
          </a:p>
          <a:p>
            <a:pPr lvl="3"/>
            <a:r>
              <a:rPr lang="en-US" dirty="0"/>
              <a:t>Signed:		</a:t>
            </a:r>
            <a:r>
              <a:rPr lang="en-US" dirty="0" err="1"/>
              <a:t>ap_int</a:t>
            </a:r>
            <a:r>
              <a:rPr lang="en-US" dirty="0"/>
              <a:t>&lt;W&gt;</a:t>
            </a:r>
          </a:p>
          <a:p>
            <a:pPr lvl="3"/>
            <a:r>
              <a:rPr lang="en-US" dirty="0"/>
              <a:t>Unsigned:	</a:t>
            </a:r>
            <a:r>
              <a:rPr lang="en-US" dirty="0" err="1"/>
              <a:t>ap_uint</a:t>
            </a:r>
            <a:r>
              <a:rPr lang="en-US" dirty="0"/>
              <a:t>&lt;W&gt;</a:t>
            </a:r>
          </a:p>
          <a:p>
            <a:pPr lvl="1"/>
            <a:r>
              <a:rPr lang="en-US" dirty="0"/>
              <a:t>The bit-width is specified by W</a:t>
            </a:r>
          </a:p>
          <a:p>
            <a:pPr lvl="1"/>
            <a:endParaRPr lang="en-US" dirty="0"/>
          </a:p>
          <a:p>
            <a:r>
              <a:rPr lang="en-US" dirty="0"/>
              <a:t>C++ compilation</a:t>
            </a:r>
          </a:p>
          <a:p>
            <a:pPr lvl="1"/>
            <a:r>
              <a:rPr lang="en-US" dirty="0"/>
              <a:t>Use g++ at the </a:t>
            </a:r>
            <a:r>
              <a:rPr lang="en-US" dirty="0" err="1"/>
              <a:t>Vitis</a:t>
            </a:r>
            <a:r>
              <a:rPr lang="en-US" dirty="0"/>
              <a:t> HLS CLI (shell)</a:t>
            </a:r>
          </a:p>
          <a:p>
            <a:pPr lvl="2"/>
            <a:r>
              <a:rPr lang="en-US" dirty="0"/>
              <a:t>Include the path to the </a:t>
            </a:r>
            <a:r>
              <a:rPr lang="en-US" dirty="0" err="1"/>
              <a:t>Vitis</a:t>
            </a:r>
            <a:r>
              <a:rPr lang="en-US" dirty="0"/>
              <a:t> HLS tool header file</a:t>
            </a:r>
          </a:p>
          <a:p>
            <a:pPr lvl="2">
              <a:buNone/>
            </a:pPr>
            <a:endParaRPr lang="en-US" dirty="0"/>
          </a:p>
          <a:p>
            <a:pPr lvl="2">
              <a:buNone/>
            </a:pPr>
            <a:endParaRPr lang="en-US" dirty="0"/>
          </a:p>
          <a:p>
            <a:pPr lvl="1"/>
            <a:endParaRPr lang="en-US" dirty="0"/>
          </a:p>
          <a:p>
            <a:pPr lvl="1"/>
            <a:endParaRPr lang="en-US" dirty="0"/>
          </a:p>
        </p:txBody>
      </p:sp>
      <p:sp>
        <p:nvSpPr>
          <p:cNvPr id="19" name="TextBox 18"/>
          <p:cNvSpPr txBox="1"/>
          <p:nvPr/>
        </p:nvSpPr>
        <p:spPr>
          <a:xfrm>
            <a:off x="7435365" y="1900980"/>
            <a:ext cx="2098927" cy="261610"/>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Include header file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01C960A-9830-4F76-90F5-A6A4811FC737}"/>
              </a:ext>
            </a:extLst>
          </p:cNvPr>
          <p:cNvSpPr txBox="1"/>
          <p:nvPr/>
        </p:nvSpPr>
        <p:spPr>
          <a:xfrm>
            <a:off x="6049080" y="2035501"/>
            <a:ext cx="4453820" cy="92333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#include ap_int.h</a:t>
            </a: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void foo_top (…)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ap_int&lt;9&gt; 		var1;        // 9-bit</a:t>
            </a:r>
          </a:p>
          <a:p>
            <a:pPr defTabSz="914400" fontAlgn="base">
              <a:spcBef>
                <a:spcPct val="0"/>
              </a:spcBef>
              <a:spcAft>
                <a:spcPct val="0"/>
              </a:spcAft>
              <a:defRPr/>
            </a:pPr>
            <a:r>
              <a:rPr lang="en-US" sz="900" b="1" kern="0" dirty="0">
                <a:solidFill>
                  <a:srgbClr val="000000"/>
                </a:solidFill>
                <a:latin typeface="Arial"/>
              </a:rPr>
              <a:t>    ap_uint&lt;10&gt; 		var2;        // 10-bit unsigned</a:t>
            </a:r>
          </a:p>
        </p:txBody>
      </p:sp>
      <p:sp>
        <p:nvSpPr>
          <p:cNvPr id="11" name="TextBox 10">
            <a:extLst>
              <a:ext uri="{FF2B5EF4-FFF2-40B4-BE49-F238E27FC236}">
                <a16:creationId xmlns:a16="http://schemas.microsoft.com/office/drawing/2014/main" id="{6491D047-1628-4359-85E2-EB9D7F07A73D}"/>
              </a:ext>
            </a:extLst>
          </p:cNvPr>
          <p:cNvSpPr txBox="1"/>
          <p:nvPr/>
        </p:nvSpPr>
        <p:spPr>
          <a:xfrm>
            <a:off x="2508873" y="5059323"/>
            <a:ext cx="6603940" cy="276999"/>
          </a:xfrm>
          <a:prstGeom prst="rect">
            <a:avLst/>
          </a:prstGeom>
          <a:solidFill>
            <a:srgbClr val="008CA8">
              <a:lumMod val="75000"/>
            </a:srgbClr>
          </a:solidFill>
          <a:ln w="12700" cap="flat" cmpd="sng" algn="ctr">
            <a:solidFill>
              <a:srgbClr val="000000"/>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FFFFFF"/>
                </a:solidFill>
                <a:latin typeface="Arial"/>
              </a:rPr>
              <a:t>shell&gt; g++ –o my_test test.c test_tb.c -I$VIVADO_HLS_HOME/include</a:t>
            </a:r>
          </a:p>
        </p:txBody>
      </p:sp>
      <p:sp>
        <p:nvSpPr>
          <p:cNvPr id="2" name="Title 1"/>
          <p:cNvSpPr>
            <a:spLocks noGrp="1"/>
          </p:cNvSpPr>
          <p:nvPr>
            <p:ph type="title"/>
          </p:nvPr>
        </p:nvSpPr>
        <p:spPr/>
        <p:txBody>
          <a:bodyPr/>
          <a:lstStyle/>
          <a:p>
            <a:r>
              <a:rPr lang="en-US" dirty="0"/>
              <a:t>Arbitrary Precision : C++ ap_int types </a:t>
            </a:r>
          </a:p>
        </p:txBody>
      </p:sp>
      <p:sp>
        <p:nvSpPr>
          <p:cNvPr id="13" name="Slide Number Placeholder 12"/>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17</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For C++ </a:t>
            </a:r>
          </a:p>
          <a:p>
            <a:pPr lvl="1"/>
            <a:r>
              <a:rPr lang="en-US" dirty="0" err="1"/>
              <a:t>Vivado</a:t>
            </a:r>
            <a:r>
              <a:rPr lang="en-US" dirty="0"/>
              <a:t> HLS types ap_int can be used</a:t>
            </a:r>
          </a:p>
          <a:p>
            <a:pPr lvl="1"/>
            <a:r>
              <a:rPr lang="en-US" dirty="0"/>
              <a:t>Range: 1 to 1024 bits</a:t>
            </a:r>
          </a:p>
          <a:p>
            <a:pPr lvl="3"/>
            <a:r>
              <a:rPr lang="en-US" sz="1600" dirty="0"/>
              <a:t>Signed:	ap_int&lt;W&gt;</a:t>
            </a:r>
          </a:p>
          <a:p>
            <a:pPr lvl="3"/>
            <a:r>
              <a:rPr lang="en-US" sz="1600" dirty="0"/>
              <a:t>Unsigned:	</a:t>
            </a:r>
            <a:r>
              <a:rPr lang="en-US" sz="1600" dirty="0" err="1"/>
              <a:t>ap_uint</a:t>
            </a:r>
            <a:r>
              <a:rPr lang="en-US" sz="1600" dirty="0"/>
              <a:t>&lt;W&gt;</a:t>
            </a:r>
          </a:p>
          <a:p>
            <a:pPr lvl="1"/>
            <a:r>
              <a:rPr lang="en-US" dirty="0"/>
              <a:t>The bit-width is specified by W</a:t>
            </a:r>
          </a:p>
          <a:p>
            <a:pPr lvl="1"/>
            <a:endParaRPr lang="en-US" dirty="0"/>
          </a:p>
          <a:p>
            <a:r>
              <a:rPr lang="en-US" dirty="0"/>
              <a:t>C++ compilation</a:t>
            </a:r>
          </a:p>
          <a:p>
            <a:pPr lvl="1"/>
            <a:r>
              <a:rPr lang="en-US" dirty="0"/>
              <a:t>Use g++ at the </a:t>
            </a:r>
            <a:r>
              <a:rPr lang="en-US" dirty="0" err="1">
                <a:highlight>
                  <a:srgbClr val="FFFF00"/>
                </a:highlight>
              </a:rPr>
              <a:t>Vitis</a:t>
            </a:r>
            <a:r>
              <a:rPr lang="en-US" dirty="0"/>
              <a:t> HLS CLI (shell)</a:t>
            </a:r>
          </a:p>
          <a:p>
            <a:pPr lvl="2"/>
            <a:r>
              <a:rPr lang="en-US" dirty="0"/>
              <a:t>Include the path to the </a:t>
            </a:r>
            <a:r>
              <a:rPr lang="en-US" dirty="0" err="1">
                <a:highlight>
                  <a:srgbClr val="FFFF00"/>
                </a:highlight>
              </a:rPr>
              <a:t>Vitis</a:t>
            </a:r>
            <a:r>
              <a:rPr lang="en-US" dirty="0"/>
              <a:t> HLS </a:t>
            </a:r>
            <a:r>
              <a:rPr lang="en-US" dirty="0">
                <a:highlight>
                  <a:srgbClr val="FFFF00"/>
                </a:highlight>
              </a:rPr>
              <a:t>tool</a:t>
            </a:r>
            <a:r>
              <a:rPr lang="en-US" dirty="0"/>
              <a:t> header file</a:t>
            </a:r>
          </a:p>
          <a:p>
            <a:pPr lvl="2">
              <a:buNone/>
            </a:pPr>
            <a:endParaRPr lang="en-US" dirty="0"/>
          </a:p>
          <a:p>
            <a:pPr lvl="2">
              <a:buNone/>
            </a:pPr>
            <a:endParaRPr lang="en-US" dirty="0"/>
          </a:p>
          <a:p>
            <a:pPr lvl="1"/>
            <a:endParaRPr lang="en-US" dirty="0"/>
          </a:p>
          <a:p>
            <a:pPr lvl="1"/>
            <a:endParaRPr lang="en-US" dirty="0"/>
          </a:p>
        </p:txBody>
      </p:sp>
      <p:sp>
        <p:nvSpPr>
          <p:cNvPr id="19" name="TextBox 18"/>
          <p:cNvSpPr txBox="1"/>
          <p:nvPr/>
        </p:nvSpPr>
        <p:spPr>
          <a:xfrm>
            <a:off x="7435365" y="1900980"/>
            <a:ext cx="2098927" cy="261610"/>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100" b="1" dirty="0">
                <a:solidFill>
                  <a:srgbClr val="0C0C0C"/>
                </a:solidFill>
                <a:latin typeface="Arial"/>
              </a:rPr>
              <a:t>Include header file</a:t>
            </a:r>
          </a:p>
        </p:txBody>
      </p:sp>
      <p:sp>
        <p:nvSpPr>
          <p:cNvPr id="10"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17</a:t>
            </a:fld>
            <a:endParaRPr lang="en-US" sz="1000" dirty="0">
              <a:solidFill>
                <a:srgbClr val="FFFFFF"/>
              </a:solidFill>
              <a:latin typeface="Arial" charset="0"/>
              <a:ea typeface="ＭＳ Ｐゴシック" pitchFamily="34" charset="-128"/>
              <a:cs typeface="Arial" charset="0"/>
            </a:endParaRPr>
          </a:p>
        </p:txBody>
      </p:sp>
      <p:pic>
        <p:nvPicPr>
          <p:cNvPr id="4" name="Picture 3">
            <a:extLst>
              <a:ext uri="{FF2B5EF4-FFF2-40B4-BE49-F238E27FC236}">
                <a16:creationId xmlns:a16="http://schemas.microsoft.com/office/drawing/2014/main" id="{BF3CCD9E-7E5F-4389-A018-81622C4B04C5}"/>
              </a:ext>
            </a:extLst>
          </p:cNvPr>
          <p:cNvPicPr>
            <a:picLocks noChangeAspect="1"/>
          </p:cNvPicPr>
          <p:nvPr/>
        </p:nvPicPr>
        <p:blipFill>
          <a:blip r:embed="rId2"/>
          <a:stretch>
            <a:fillRect/>
          </a:stretch>
        </p:blipFill>
        <p:spPr>
          <a:xfrm>
            <a:off x="2301236" y="5441602"/>
            <a:ext cx="7589528" cy="60697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Microsoft Visual Studio Support</a:t>
            </a:r>
          </a:p>
        </p:txBody>
      </p:sp>
      <p:sp>
        <p:nvSpPr>
          <p:cNvPr id="11" name="Slide Number Placeholder 10"/>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18</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589" y="1262063"/>
            <a:ext cx="10501313" cy="4792662"/>
          </a:xfrm>
        </p:spPr>
        <p:txBody>
          <a:bodyPr/>
          <a:lstStyle/>
          <a:p>
            <a:r>
              <a:rPr lang="en-US" dirty="0"/>
              <a:t>C++ Arbitrary Precision Types are supported in Microsoft Visual Studio Compiler</a:t>
            </a:r>
          </a:p>
          <a:p>
            <a:pPr lvl="1"/>
            <a:r>
              <a:rPr lang="en-US" dirty="0"/>
              <a:t>Simply include the </a:t>
            </a:r>
            <a:r>
              <a:rPr lang="en-US" dirty="0" err="1"/>
              <a:t>Vivado</a:t>
            </a:r>
            <a:r>
              <a:rPr lang="en-US" dirty="0"/>
              <a:t> HLS directory $(VIVADO_HLS_HOME)/include</a:t>
            </a:r>
          </a:p>
          <a:p>
            <a:pPr lvl="1"/>
            <a:r>
              <a:rPr lang="en-US" b="1" u="sng" dirty="0"/>
              <a:t>Note</a:t>
            </a:r>
            <a:r>
              <a:rPr lang="en-US" b="1" dirty="0"/>
              <a:t>: </a:t>
            </a:r>
            <a:r>
              <a:rPr lang="en-US" dirty="0"/>
              <a:t>C designs using arbitrary precision types (apint) must still use </a:t>
            </a:r>
            <a:r>
              <a:rPr lang="en-US" dirty="0" err="1"/>
              <a:t>apcc</a:t>
            </a:r>
            <a:endParaRPr lang="en-US" dirty="0"/>
          </a:p>
          <a:p>
            <a:r>
              <a:rPr lang="en-US" dirty="0"/>
              <a:t>C++ Designs using AP_INT types</a:t>
            </a:r>
          </a:p>
          <a:p>
            <a:pPr lvl="1"/>
            <a:r>
              <a:rPr lang="en-US" dirty="0"/>
              <a:t>In the MVS Project</a:t>
            </a:r>
          </a:p>
          <a:p>
            <a:pPr lvl="2"/>
            <a:r>
              <a:rPr lang="en-US" dirty="0"/>
              <a:t>Click Project</a:t>
            </a:r>
          </a:p>
          <a:p>
            <a:pPr lvl="2"/>
            <a:r>
              <a:rPr lang="en-US" dirty="0"/>
              <a:t>Click Properties</a:t>
            </a:r>
          </a:p>
          <a:p>
            <a:pPr lvl="2"/>
            <a:r>
              <a:rPr lang="en-US" dirty="0"/>
              <a:t>In the panel that shows up, select C/C++</a:t>
            </a:r>
          </a:p>
          <a:p>
            <a:pPr lvl="2"/>
            <a:r>
              <a:rPr lang="en-US" dirty="0"/>
              <a:t>Select general</a:t>
            </a:r>
          </a:p>
          <a:p>
            <a:pPr lvl="2"/>
            <a:r>
              <a:rPr lang="en-US" dirty="0"/>
              <a:t>Click on additional include directories and </a:t>
            </a:r>
            <a:br>
              <a:rPr lang="en-US" dirty="0"/>
            </a:br>
            <a:r>
              <a:rPr lang="en-US" dirty="0"/>
              <a:t>add the path</a:t>
            </a:r>
          </a:p>
        </p:txBody>
      </p:sp>
      <p:pic>
        <p:nvPicPr>
          <p:cNvPr id="5" name="Picture 4" descr="visual_studio_include_directory.PNG"/>
          <p:cNvPicPr>
            <a:picLocks noChangeAspect="1"/>
          </p:cNvPicPr>
          <p:nvPr/>
        </p:nvPicPr>
        <p:blipFill>
          <a:blip r:embed="rId2"/>
          <a:stretch>
            <a:fillRect/>
          </a:stretch>
        </p:blipFill>
        <p:spPr>
          <a:xfrm>
            <a:off x="6537559" y="2636744"/>
            <a:ext cx="5359615" cy="2735079"/>
          </a:xfrm>
          <a:prstGeom prst="rect">
            <a:avLst/>
          </a:prstGeom>
          <a:ln>
            <a:noFill/>
          </a:ln>
          <a:effectLst>
            <a:outerShdw blurRad="292100" dist="139700" dir="2700000" algn="tl" rotWithShape="0">
              <a:srgbClr val="333333">
                <a:alpha val="65000"/>
              </a:srgbClr>
            </a:outerShdw>
          </a:effectLst>
        </p:spPr>
      </p:pic>
      <p:sp>
        <p:nvSpPr>
          <p:cNvPr id="8"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18</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AP_INT operators &amp; conversions</a:t>
            </a:r>
          </a:p>
        </p:txBody>
      </p:sp>
      <p:sp>
        <p:nvSpPr>
          <p:cNvPr id="12" name="Slide Number Placeholder 11"/>
          <p:cNvSpPr>
            <a:spLocks noGrp="1"/>
          </p:cNvSpPr>
          <p:nvPr>
            <p:ph type="sldNum" sz="quarter" idx="10"/>
          </p:nvPr>
        </p:nvSpPr>
        <p:spPr>
          <a:xfrm>
            <a:off x="579120" y="6325606"/>
            <a:ext cx="1501139" cy="365125"/>
          </a:xfrm>
        </p:spPr>
        <p:txBody>
          <a:bodyPr/>
          <a:lstStyle/>
          <a:p>
            <a:pPr>
              <a:defRPr/>
            </a:pPr>
            <a:r>
              <a:rPr lang="en-US" dirty="0"/>
              <a:t>Data Types 14- </a:t>
            </a:r>
            <a:fld id="{060BD193-E118-4B16-863C-C8C12C675E3E}" type="slidenum">
              <a:rPr lang="en-US" smtClean="0"/>
              <a:pPr>
                <a:defRPr/>
              </a:pPr>
              <a:t>19</a:t>
            </a:fld>
            <a:endParaRPr lang="en-US" dirty="0"/>
          </a:p>
        </p:txBody>
      </p:sp>
      <p:sp>
        <p:nvSpPr>
          <p:cNvPr id="3" name="Content Placeholder 2"/>
          <p:cNvSpPr>
            <a:spLocks noGrp="1"/>
          </p:cNvSpPr>
          <p:nvPr>
            <p:ph idx="4294967295"/>
          </p:nvPr>
        </p:nvSpPr>
        <p:spPr>
          <a:xfrm>
            <a:off x="579121" y="1327150"/>
            <a:ext cx="10815388" cy="4479290"/>
          </a:xfrm>
        </p:spPr>
        <p:txBody>
          <a:bodyPr/>
          <a:lstStyle/>
          <a:p>
            <a:r>
              <a:rPr lang="en-US" dirty="0"/>
              <a:t>Fully Supported for all Arithmetic operator</a:t>
            </a:r>
          </a:p>
          <a:p>
            <a:endParaRPr lang="en-US" dirty="0"/>
          </a:p>
          <a:p>
            <a:endParaRPr lang="en-US" dirty="0"/>
          </a:p>
          <a:p>
            <a:pPr marL="0" indent="0">
              <a:buNone/>
            </a:pPr>
            <a:endParaRPr lang="en-US" dirty="0"/>
          </a:p>
          <a:p>
            <a:r>
              <a:rPr lang="en-US" dirty="0"/>
              <a:t>Methods for type conversion</a:t>
            </a:r>
          </a:p>
        </p:txBody>
      </p:sp>
      <p:sp>
        <p:nvSpPr>
          <p:cNvPr id="9"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endParaRPr lang="en-US" sz="1000" dirty="0">
              <a:solidFill>
                <a:schemeClr val="bg1"/>
              </a:solidFill>
              <a:latin typeface="Arial" charset="0"/>
              <a:ea typeface="ＭＳ Ｐゴシック" pitchFamily="34" charset="-128"/>
              <a:cs typeface="Arial" charset="0"/>
            </a:endParaRPr>
          </a:p>
        </p:txBody>
      </p:sp>
      <p:graphicFrame>
        <p:nvGraphicFramePr>
          <p:cNvPr id="8" name="Content Placeholder 14">
            <a:extLst>
              <a:ext uri="{FF2B5EF4-FFF2-40B4-BE49-F238E27FC236}">
                <a16:creationId xmlns:a16="http://schemas.microsoft.com/office/drawing/2014/main" id="{3DB5DFF8-C52E-4911-8892-8DCA28524542}"/>
              </a:ext>
            </a:extLst>
          </p:cNvPr>
          <p:cNvGraphicFramePr>
            <a:graphicFrameLocks/>
          </p:cNvGraphicFramePr>
          <p:nvPr/>
        </p:nvGraphicFramePr>
        <p:xfrm>
          <a:off x="797491" y="1816451"/>
          <a:ext cx="7269453" cy="1828800"/>
        </p:xfrm>
        <a:graphic>
          <a:graphicData uri="http://schemas.openxmlformats.org/drawingml/2006/table">
            <a:tbl>
              <a:tblPr firstCol="1" bandRow="1"/>
              <a:tblGrid>
                <a:gridCol w="2464221">
                  <a:extLst>
                    <a:ext uri="{9D8B030D-6E8A-4147-A177-3AD203B41FA5}">
                      <a16:colId xmlns:a16="http://schemas.microsoft.com/office/drawing/2014/main" val="20000"/>
                    </a:ext>
                  </a:extLst>
                </a:gridCol>
                <a:gridCol w="4805232">
                  <a:extLst>
                    <a:ext uri="{9D8B030D-6E8A-4147-A177-3AD203B41FA5}">
                      <a16:colId xmlns:a16="http://schemas.microsoft.com/office/drawing/2014/main" val="20001"/>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Operations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Arithmetic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 * / %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Logical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Bitwise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&amp;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Relational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&gt;  &lt; &lt;= &gt;= == !=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t>Assignment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	/=	%=	+=	-=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&lt;&lt;=</a:t>
                      </a:r>
                      <a:r>
                        <a:rPr lang="en-US" sz="1200" b="0" kern="1200" baseline="0" dirty="0">
                          <a:solidFill>
                            <a:schemeClr val="dk1"/>
                          </a:solidFill>
                          <a:latin typeface="+mn-lt"/>
                          <a:ea typeface="+mn-ea"/>
                          <a:cs typeface="+mn-cs"/>
                        </a:rPr>
                        <a:t> </a:t>
                      </a:r>
                      <a:r>
                        <a:rPr lang="en-US" sz="1200" b="0" kern="1200" dirty="0">
                          <a:solidFill>
                            <a:schemeClr val="dk1"/>
                          </a:solidFill>
                          <a:latin typeface="+mn-lt"/>
                          <a:ea typeface="+mn-ea"/>
                          <a:cs typeface="+mn-cs"/>
                        </a:rPr>
                        <a:t>&gt;&gt;=	&amp;=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graphicFrame>
        <p:nvGraphicFramePr>
          <p:cNvPr id="10" name="Content Placeholder 14">
            <a:extLst>
              <a:ext uri="{FF2B5EF4-FFF2-40B4-BE49-F238E27FC236}">
                <a16:creationId xmlns:a16="http://schemas.microsoft.com/office/drawing/2014/main" id="{C15BC72E-E1E6-4E47-AC42-0E449C2AFCD3}"/>
              </a:ext>
            </a:extLst>
          </p:cNvPr>
          <p:cNvGraphicFramePr>
            <a:graphicFrameLocks/>
          </p:cNvGraphicFramePr>
          <p:nvPr>
            <p:extLst>
              <p:ext uri="{D42A27DB-BD31-4B8C-83A1-F6EECF244321}">
                <p14:modId xmlns:p14="http://schemas.microsoft.com/office/powerpoint/2010/main" val="2490106898"/>
              </p:ext>
            </p:extLst>
          </p:nvPr>
        </p:nvGraphicFramePr>
        <p:xfrm>
          <a:off x="797489" y="4209757"/>
          <a:ext cx="10597020" cy="1645920"/>
        </p:xfrm>
        <a:graphic>
          <a:graphicData uri="http://schemas.openxmlformats.org/drawingml/2006/table">
            <a:tbl>
              <a:tblPr firstCol="1" bandRow="1"/>
              <a:tblGrid>
                <a:gridCol w="3225181">
                  <a:extLst>
                    <a:ext uri="{9D8B030D-6E8A-4147-A177-3AD203B41FA5}">
                      <a16:colId xmlns:a16="http://schemas.microsoft.com/office/drawing/2014/main" val="20000"/>
                    </a:ext>
                  </a:extLst>
                </a:gridCol>
                <a:gridCol w="4146660">
                  <a:extLst>
                    <a:ext uri="{9D8B030D-6E8A-4147-A177-3AD203B41FA5}">
                      <a16:colId xmlns:a16="http://schemas.microsoft.com/office/drawing/2014/main" val="20001"/>
                    </a:ext>
                  </a:extLst>
                </a:gridCol>
                <a:gridCol w="3225179">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t>
                      </a:r>
                      <a:r>
                        <a:rPr lang="en-US" sz="1200" dirty="0">
                          <a:solidFill>
                            <a:schemeClr val="tx1"/>
                          </a:solidFill>
                        </a:rPr>
                        <a:t>an</a:t>
                      </a:r>
                      <a:r>
                        <a:rPr lang="en-US" sz="1200" baseline="0" dirty="0">
                          <a:solidFill>
                            <a:schemeClr val="tx1"/>
                          </a:solidFill>
                        </a:rPr>
                        <a:t> </a:t>
                      </a:r>
                      <a:r>
                        <a:rPr lang="en-US" sz="1200" baseline="0" dirty="0"/>
                        <a:t>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var.to_uint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a:t>
                      </a:r>
                      <a:r>
                        <a:rPr lang="en-US" sz="1200" baseline="0" dirty="0"/>
                        <a:t> 64-bit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unsigned integer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var.to_uint64();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double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double </a:t>
                      </a:r>
                      <a:r>
                        <a:rPr lang="en-US" sz="1200" baseline="0" dirty="0"/>
                        <a:t>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var.to_double</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AP_INT operators &amp; conversions</a:t>
            </a:r>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20</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lstStyle/>
          <a:p>
            <a:r>
              <a:rPr lang="en-US" dirty="0"/>
              <a:t>Fully Supported for all Arithmetic operator</a:t>
            </a:r>
          </a:p>
          <a:p>
            <a:endParaRPr lang="en-US" dirty="0"/>
          </a:p>
          <a:p>
            <a:endParaRPr lang="en-US" dirty="0"/>
          </a:p>
          <a:p>
            <a:endParaRPr lang="en-US" dirty="0"/>
          </a:p>
          <a:p>
            <a:endParaRPr lang="en-US" dirty="0"/>
          </a:p>
          <a:p>
            <a:endParaRPr lang="en-US" dirty="0"/>
          </a:p>
          <a:p>
            <a:r>
              <a:rPr lang="en-US" dirty="0"/>
              <a:t>Methods for type conversion</a:t>
            </a:r>
          </a:p>
        </p:txBody>
      </p:sp>
      <p:sp>
        <p:nvSpPr>
          <p:cNvPr id="9"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20</a:t>
            </a:fld>
            <a:endParaRPr lang="en-US" sz="1000" dirty="0">
              <a:solidFill>
                <a:srgbClr val="FFFFFF"/>
              </a:solidFill>
              <a:latin typeface="Arial" charset="0"/>
              <a:ea typeface="ＭＳ Ｐゴシック" pitchFamily="34" charset="-128"/>
              <a:cs typeface="Arial" charset="0"/>
            </a:endParaRPr>
          </a:p>
        </p:txBody>
      </p:sp>
      <p:graphicFrame>
        <p:nvGraphicFramePr>
          <p:cNvPr id="8" name="Content Placeholder 14">
            <a:extLst>
              <a:ext uri="{FF2B5EF4-FFF2-40B4-BE49-F238E27FC236}">
                <a16:creationId xmlns:a16="http://schemas.microsoft.com/office/drawing/2014/main" id="{3DB5DFF8-C52E-4911-8892-8DCA28524542}"/>
              </a:ext>
            </a:extLst>
          </p:cNvPr>
          <p:cNvGraphicFramePr>
            <a:graphicFrameLocks/>
          </p:cNvGraphicFramePr>
          <p:nvPr/>
        </p:nvGraphicFramePr>
        <p:xfrm>
          <a:off x="797491" y="1816451"/>
          <a:ext cx="7269453" cy="1828800"/>
        </p:xfrm>
        <a:graphic>
          <a:graphicData uri="http://schemas.openxmlformats.org/drawingml/2006/table">
            <a:tbl>
              <a:tblPr firstCol="1" bandRow="1"/>
              <a:tblGrid>
                <a:gridCol w="2464221">
                  <a:extLst>
                    <a:ext uri="{9D8B030D-6E8A-4147-A177-3AD203B41FA5}">
                      <a16:colId xmlns:a16="http://schemas.microsoft.com/office/drawing/2014/main" val="20000"/>
                    </a:ext>
                  </a:extLst>
                </a:gridCol>
                <a:gridCol w="4805232">
                  <a:extLst>
                    <a:ext uri="{9D8B030D-6E8A-4147-A177-3AD203B41FA5}">
                      <a16:colId xmlns:a16="http://schemas.microsoft.com/office/drawing/2014/main" val="20001"/>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Operations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Arithmetic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 * / %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Logical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Bitwise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&amp;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Relational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&gt;  &lt; &lt;= &gt;= == !=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t>Assignment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	/=	%=	+=	-=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&lt;&lt;=</a:t>
                      </a:r>
                      <a:r>
                        <a:rPr lang="en-US" sz="1200" b="0" kern="1200" baseline="0" dirty="0">
                          <a:solidFill>
                            <a:schemeClr val="dk1"/>
                          </a:solidFill>
                          <a:latin typeface="+mn-lt"/>
                          <a:ea typeface="+mn-ea"/>
                          <a:cs typeface="+mn-cs"/>
                        </a:rPr>
                        <a:t> </a:t>
                      </a:r>
                      <a:r>
                        <a:rPr lang="en-US" sz="1200" b="0" kern="1200" dirty="0">
                          <a:solidFill>
                            <a:schemeClr val="dk1"/>
                          </a:solidFill>
                          <a:latin typeface="+mn-lt"/>
                          <a:ea typeface="+mn-ea"/>
                          <a:cs typeface="+mn-cs"/>
                        </a:rPr>
                        <a:t>&gt;&gt;=	&amp;=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graphicFrame>
        <p:nvGraphicFramePr>
          <p:cNvPr id="10" name="Content Placeholder 14">
            <a:extLst>
              <a:ext uri="{FF2B5EF4-FFF2-40B4-BE49-F238E27FC236}">
                <a16:creationId xmlns:a16="http://schemas.microsoft.com/office/drawing/2014/main" id="{C15BC72E-E1E6-4E47-AC42-0E449C2AFCD3}"/>
              </a:ext>
            </a:extLst>
          </p:cNvPr>
          <p:cNvGraphicFramePr>
            <a:graphicFrameLocks/>
          </p:cNvGraphicFramePr>
          <p:nvPr/>
        </p:nvGraphicFramePr>
        <p:xfrm>
          <a:off x="797490" y="4563936"/>
          <a:ext cx="10597020" cy="1645920"/>
        </p:xfrm>
        <a:graphic>
          <a:graphicData uri="http://schemas.openxmlformats.org/drawingml/2006/table">
            <a:tbl>
              <a:tblPr firstCol="1" bandRow="1"/>
              <a:tblGrid>
                <a:gridCol w="3225181">
                  <a:extLst>
                    <a:ext uri="{9D8B030D-6E8A-4147-A177-3AD203B41FA5}">
                      <a16:colId xmlns:a16="http://schemas.microsoft.com/office/drawing/2014/main" val="20000"/>
                    </a:ext>
                  </a:extLst>
                </a:gridCol>
                <a:gridCol w="4146660">
                  <a:extLst>
                    <a:ext uri="{9D8B030D-6E8A-4147-A177-3AD203B41FA5}">
                      <a16:colId xmlns:a16="http://schemas.microsoft.com/office/drawing/2014/main" val="20001"/>
                    </a:ext>
                  </a:extLst>
                </a:gridCol>
                <a:gridCol w="3225179">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t>
                      </a:r>
                      <a:r>
                        <a:rPr lang="en-US" sz="1200" dirty="0">
                          <a:highlight>
                            <a:srgbClr val="FFFF00"/>
                          </a:highlight>
                        </a:rPr>
                        <a:t>a</a:t>
                      </a:r>
                      <a:r>
                        <a:rPr lang="en-US" sz="1200" dirty="0">
                          <a:solidFill>
                            <a:srgbClr val="FF0000"/>
                          </a:solidFill>
                          <a:highlight>
                            <a:srgbClr val="FFFF00"/>
                          </a:highlight>
                        </a:rPr>
                        <a:t>n</a:t>
                      </a:r>
                      <a:r>
                        <a:rPr lang="en-US" sz="1200" baseline="0" dirty="0"/>
                        <a:t>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var.to_uint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a:t>
                      </a:r>
                      <a:r>
                        <a:rPr lang="en-US" sz="1200" baseline="0" dirty="0"/>
                        <a:t> 64-bit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unsigned integer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var.to_uint64();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double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double </a:t>
                      </a:r>
                      <a:r>
                        <a:rPr lang="en-US" sz="1200" baseline="0" dirty="0"/>
                        <a:t>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highlight>
                            <a:srgbClr val="FFFF00"/>
                          </a:highlight>
                        </a:rPr>
                        <a:t>res = </a:t>
                      </a:r>
                      <a:r>
                        <a:rPr lang="en-US" sz="1200" dirty="0" err="1">
                          <a:highlight>
                            <a:srgbClr val="FFFF00"/>
                          </a:highlight>
                        </a:rPr>
                        <a:t>var.to_double</a:t>
                      </a:r>
                      <a:r>
                        <a:rPr lang="en-US" sz="1200" dirty="0">
                          <a:highlight>
                            <a:srgbClr val="FFFF00"/>
                          </a:highlight>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AP_INT Bit Manipulation methods</a:t>
            </a:r>
          </a:p>
        </p:txBody>
      </p:sp>
      <p:sp>
        <p:nvSpPr>
          <p:cNvPr id="7" name="Slide Number Placeholder 6"/>
          <p:cNvSpPr>
            <a:spLocks noGrp="1"/>
          </p:cNvSpPr>
          <p:nvPr>
            <p:ph type="sldNum" sz="quarter" idx="10"/>
          </p:nvPr>
        </p:nvSpPr>
        <p:spPr>
          <a:xfrm>
            <a:off x="579120" y="6325606"/>
            <a:ext cx="1424940" cy="365125"/>
          </a:xfrm>
        </p:spPr>
        <p:txBody>
          <a:bodyPr/>
          <a:lstStyle/>
          <a:p>
            <a:pPr>
              <a:defRPr/>
            </a:pPr>
            <a:r>
              <a:rPr lang="en-US" dirty="0"/>
              <a:t>Data Types 14- </a:t>
            </a:r>
            <a:fld id="{060BD193-E118-4B16-863C-C8C12C675E3E}" type="slidenum">
              <a:rPr lang="en-US" smtClean="0"/>
              <a:pPr>
                <a:defRPr/>
              </a:pPr>
              <a:t>21</a:t>
            </a:fld>
            <a:endParaRPr lang="en-US" dirty="0"/>
          </a:p>
        </p:txBody>
      </p:sp>
      <p:graphicFrame>
        <p:nvGraphicFramePr>
          <p:cNvPr id="5" name="Content Placeholder 14">
            <a:extLst>
              <a:ext uri="{FF2B5EF4-FFF2-40B4-BE49-F238E27FC236}">
                <a16:creationId xmlns:a16="http://schemas.microsoft.com/office/drawing/2014/main" id="{6A2FEF07-1CCE-47D0-B38A-2479456D618A}"/>
              </a:ext>
            </a:extLst>
          </p:cNvPr>
          <p:cNvGraphicFramePr>
            <a:graphicFrameLocks/>
          </p:cNvGraphicFramePr>
          <p:nvPr>
            <p:extLst>
              <p:ext uri="{D42A27DB-BD31-4B8C-83A1-F6EECF244321}">
                <p14:modId xmlns:p14="http://schemas.microsoft.com/office/powerpoint/2010/main" val="2488158559"/>
              </p:ext>
            </p:extLst>
          </p:nvPr>
        </p:nvGraphicFramePr>
        <p:xfrm>
          <a:off x="579119" y="1005855"/>
          <a:ext cx="10597019" cy="502920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217181">
                  <a:extLst>
                    <a:ext uri="{9D8B030D-6E8A-4147-A177-3AD203B41FA5}">
                      <a16:colId xmlns:a16="http://schemas.microsoft.com/office/drawing/2014/main" val="20001"/>
                    </a:ext>
                  </a:extLst>
                </a:gridCol>
                <a:gridCol w="4217181">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var.length</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res=</a:t>
                      </a:r>
                      <a:r>
                        <a:rPr lang="en-US" sz="1200" dirty="0" err="1"/>
                        <a:t>var_hi.concat</a:t>
                      </a:r>
                      <a:r>
                        <a:rPr lang="en-US" sz="1200" dirty="0"/>
                        <a:t>(</a:t>
                      </a:r>
                      <a:r>
                        <a:rPr lang="en-US" sz="1200" dirty="0" err="1"/>
                        <a:t>var_lo</a:t>
                      </a:r>
                      <a:r>
                        <a:rPr lang="en-US" sz="1200" dirty="0"/>
                        <a:t>);</a:t>
                      </a:r>
                    </a:p>
                    <a:p>
                      <a:r>
                        <a:rPr lang="en-US" sz="1200" dirty="0"/>
                        <a:t> Or  res= (</a:t>
                      </a:r>
                      <a:r>
                        <a:rPr lang="en-US" sz="1200" dirty="0" err="1"/>
                        <a:t>var</a:t>
                      </a:r>
                      <a:r>
                        <a:rPr lang="en-US" sz="1200" baseline="0" dirty="0" err="1"/>
                        <a:t>_hi</a:t>
                      </a:r>
                      <a:r>
                        <a:rPr lang="en-US" sz="1200" dirty="0" err="1"/>
                        <a:t>,var_</a:t>
                      </a:r>
                      <a:r>
                        <a:rPr lang="en-US" sz="1200" baseline="0" dirty="0" err="1"/>
                        <a:t>lo</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Range or Bit-select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 or a specific bit.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res=</a:t>
                      </a:r>
                      <a:r>
                        <a:rPr lang="en-US" sz="1200" dirty="0" err="1"/>
                        <a:t>var.range</a:t>
                      </a:r>
                      <a:r>
                        <a:rPr lang="en-US" sz="1200" dirty="0"/>
                        <a:t>(high </a:t>
                      </a:r>
                      <a:r>
                        <a:rPr lang="en-US" sz="1200" dirty="0" err="1"/>
                        <a:t>bit,low</a:t>
                      </a:r>
                      <a:r>
                        <a:rPr lang="en-US" sz="1200" dirty="0"/>
                        <a:t> bit);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Or </a:t>
                      </a:r>
                      <a:r>
                        <a:rPr lang="en-US" sz="1200" baseline="0" dirty="0"/>
                        <a:t> res=</a:t>
                      </a:r>
                      <a:r>
                        <a:rPr lang="en-US" sz="1200" baseline="0" dirty="0" err="1"/>
                        <a:t>var</a:t>
                      </a:r>
                      <a:r>
                        <a:rPr lang="en-US" sz="1200" baseline="0" dirty="0"/>
                        <a:t>[bit-number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and_reduce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(N)And reduce all bits.</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var.and_reduce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var.or_reduce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X(n)</a:t>
                      </a:r>
                      <a:r>
                        <a:rPr lang="en-US" sz="120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X(N)or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var.xor_reduce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Reverse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Reserve the</a:t>
                      </a:r>
                      <a:r>
                        <a:rPr lang="en-US" sz="1200" kern="1200" baseline="0" dirty="0">
                          <a:solidFill>
                            <a:schemeClr val="dk1"/>
                          </a:solidFill>
                          <a:latin typeface="+mn-lt"/>
                          <a:ea typeface="+mn-ea"/>
                          <a:cs typeface="+mn-cs"/>
                        </a:rPr>
                        <a:t> bits in the variable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var.reverse</a:t>
                      </a:r>
                      <a:r>
                        <a:rPr lang="en-US" sz="1200" kern="1200" dirty="0">
                          <a:solidFill>
                            <a:schemeClr val="dk1"/>
                          </a:solidFill>
                          <a:latin typeface="+mn-lt"/>
                          <a:ea typeface="+mn-ea"/>
                          <a:cs typeface="+mn-cs"/>
                        </a:rPr>
                        <a:t>();</a:t>
                      </a:r>
                      <a:endParaRPr lang="en-US" sz="10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7"/>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Test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Tests if a bit is true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baseline="0" dirty="0">
                          <a:solidFill>
                            <a:schemeClr val="dk1"/>
                          </a:solidFill>
                          <a:latin typeface="+mn-lt"/>
                          <a:ea typeface="+mn-ea"/>
                          <a:cs typeface="+mn-cs"/>
                        </a:rPr>
                        <a:t> t = </a:t>
                      </a:r>
                      <a:r>
                        <a:rPr lang="en-US" sz="1200" kern="1200" baseline="0" dirty="0" err="1">
                          <a:solidFill>
                            <a:schemeClr val="dk1"/>
                          </a:solidFill>
                          <a:latin typeface="+mn-lt"/>
                          <a:ea typeface="+mn-ea"/>
                          <a:cs typeface="+mn-cs"/>
                        </a:rPr>
                        <a:t>var.test</a:t>
                      </a:r>
                      <a:r>
                        <a:rPr lang="en-US" sz="1200" kern="1200" baseline="0" dirty="0">
                          <a:solidFill>
                            <a:schemeClr val="dk1"/>
                          </a:solidFill>
                          <a:latin typeface="+mn-lt"/>
                          <a:ea typeface="+mn-ea"/>
                          <a:cs typeface="+mn-cs"/>
                        </a:rPr>
                        <a:t>(bit-number)</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8"/>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Sets the value of a specific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var.set_bit</a:t>
                      </a:r>
                      <a:r>
                        <a:rPr lang="en-US" sz="1200" kern="1200" dirty="0">
                          <a:solidFill>
                            <a:schemeClr val="dk1"/>
                          </a:solidFill>
                          <a:latin typeface="+mn-lt"/>
                          <a:ea typeface="+mn-ea"/>
                          <a:cs typeface="+mn-cs"/>
                        </a:rPr>
                        <a:t>(bit-number,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9"/>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 a specific</a:t>
                      </a:r>
                      <a:r>
                        <a:rPr lang="en-US" sz="1200" kern="1200" baseline="0" dirty="0">
                          <a:solidFill>
                            <a:schemeClr val="dk1"/>
                          </a:solidFill>
                          <a:latin typeface="+mn-lt"/>
                          <a:ea typeface="+mn-ea"/>
                          <a:cs typeface="+mn-cs"/>
                        </a:rPr>
                        <a:t> bit to one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var.set</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Clear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Clear a</a:t>
                      </a:r>
                      <a:r>
                        <a:rPr lang="en-US" sz="1200" kern="1200" baseline="0" dirty="0">
                          <a:solidFill>
                            <a:schemeClr val="dk1"/>
                          </a:solidFill>
                          <a:latin typeface="+mn-lt"/>
                          <a:ea typeface="+mn-ea"/>
                          <a:cs typeface="+mn-cs"/>
                        </a:rPr>
                        <a:t> specific bit to zero</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var.clear</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1"/>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Invert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Invert a specific</a:t>
                      </a:r>
                      <a:r>
                        <a:rPr lang="en-US" sz="1200" kern="1200" baseline="0" dirty="0">
                          <a:solidFill>
                            <a:schemeClr val="dk1"/>
                          </a:solidFill>
                          <a:latin typeface="+mn-lt"/>
                          <a:ea typeface="+mn-ea"/>
                          <a:cs typeface="+mn-cs"/>
                        </a:rPr>
                        <a:t> bit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var.invert</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2"/>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Rotate right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Rotate the N-bits</a:t>
                      </a:r>
                      <a:r>
                        <a:rPr lang="en-US" sz="1200" kern="1200" baseline="0" dirty="0">
                          <a:solidFill>
                            <a:schemeClr val="dk1"/>
                          </a:solidFill>
                          <a:latin typeface="+mn-lt"/>
                          <a:ea typeface="+mn-ea"/>
                          <a:cs typeface="+mn-cs"/>
                        </a:rPr>
                        <a:t> to the right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var.rrotate</a:t>
                      </a:r>
                      <a:r>
                        <a:rPr lang="en-US" sz="1200" kern="1200" dirty="0">
                          <a:solidFill>
                            <a:schemeClr val="dk1"/>
                          </a:solidFill>
                          <a:latin typeface="+mn-lt"/>
                          <a:ea typeface="+mn-ea"/>
                          <a:cs typeface="+mn-cs"/>
                        </a:rPr>
                        <a:t>(N);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3"/>
                  </a:ext>
                </a:extLst>
              </a:tr>
              <a:tr h="254225">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Rotate left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Rotate the N-bits</a:t>
                      </a:r>
                      <a:r>
                        <a:rPr lang="en-US" sz="1200" kern="1200" baseline="0" dirty="0">
                          <a:solidFill>
                            <a:schemeClr val="dk1"/>
                          </a:solidFill>
                          <a:latin typeface="+mn-lt"/>
                          <a:ea typeface="+mn-ea"/>
                          <a:cs typeface="+mn-cs"/>
                        </a:rPr>
                        <a:t> to the left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var.lrotate</a:t>
                      </a:r>
                      <a:r>
                        <a:rPr lang="en-US" sz="1200" kern="1200" dirty="0">
                          <a:solidFill>
                            <a:schemeClr val="dk1"/>
                          </a:solidFill>
                          <a:latin typeface="+mn-lt"/>
                          <a:ea typeface="+mn-ea"/>
                          <a:cs typeface="+mn-cs"/>
                        </a:rPr>
                        <a:t>(N);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a:t>
                      </a:r>
                      <a:r>
                        <a:rPr lang="en-US" sz="1200" baseline="0" dirty="0"/>
                        <a:t>wise Invert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Invert</a:t>
                      </a:r>
                      <a:r>
                        <a:rPr lang="en-US" sz="1200" kern="1200" baseline="0" dirty="0">
                          <a:solidFill>
                            <a:schemeClr val="dk1"/>
                          </a:solidFill>
                          <a:latin typeface="+mn-lt"/>
                          <a:ea typeface="+mn-ea"/>
                          <a:cs typeface="+mn-cs"/>
                        </a:rPr>
                        <a:t> all bits</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var.b_not</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Test sign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Test if</a:t>
                      </a:r>
                      <a:r>
                        <a:rPr lang="en-US" sz="1200" kern="1200" baseline="0" dirty="0">
                          <a:solidFill>
                            <a:schemeClr val="dk1"/>
                          </a:solidFill>
                          <a:latin typeface="+mn-lt"/>
                          <a:ea typeface="+mn-ea"/>
                          <a:cs typeface="+mn-cs"/>
                        </a:rPr>
                        <a:t> the sign is negative (return true)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var.sign</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6"/>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AP_INT Bit Manipulation methods</a:t>
            </a:r>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22</a:t>
            </a:fld>
            <a:endParaRPr lang="en-US" dirty="0">
              <a:solidFill>
                <a:srgbClr val="0C0C0C">
                  <a:tint val="75000"/>
                </a:srgbClr>
              </a:solidFill>
              <a:latin typeface="Arial"/>
            </a:endParaRPr>
          </a:p>
        </p:txBody>
      </p:sp>
      <p:graphicFrame>
        <p:nvGraphicFramePr>
          <p:cNvPr id="5" name="Content Placeholder 14">
            <a:extLst>
              <a:ext uri="{FF2B5EF4-FFF2-40B4-BE49-F238E27FC236}">
                <a16:creationId xmlns:a16="http://schemas.microsoft.com/office/drawing/2014/main" id="{6A2FEF07-1CCE-47D0-B38A-2479456D618A}"/>
              </a:ext>
            </a:extLst>
          </p:cNvPr>
          <p:cNvGraphicFramePr>
            <a:graphicFrameLocks/>
          </p:cNvGraphicFramePr>
          <p:nvPr/>
        </p:nvGraphicFramePr>
        <p:xfrm>
          <a:off x="771896" y="1280175"/>
          <a:ext cx="10597019" cy="502920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217181">
                  <a:extLst>
                    <a:ext uri="{9D8B030D-6E8A-4147-A177-3AD203B41FA5}">
                      <a16:colId xmlns:a16="http://schemas.microsoft.com/office/drawing/2014/main" val="20001"/>
                    </a:ext>
                  </a:extLst>
                </a:gridCol>
                <a:gridCol w="4217181">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var.length</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res=</a:t>
                      </a:r>
                      <a:r>
                        <a:rPr lang="en-US" sz="1200" dirty="0" err="1"/>
                        <a:t>var_hi.concat</a:t>
                      </a:r>
                      <a:r>
                        <a:rPr lang="en-US" sz="1200" dirty="0"/>
                        <a:t>(</a:t>
                      </a:r>
                      <a:r>
                        <a:rPr lang="en-US" sz="1200" dirty="0" err="1"/>
                        <a:t>var_lo</a:t>
                      </a:r>
                      <a:r>
                        <a:rPr lang="en-US" sz="1200" dirty="0"/>
                        <a:t>);</a:t>
                      </a:r>
                    </a:p>
                    <a:p>
                      <a:r>
                        <a:rPr lang="en-US" sz="1200" dirty="0"/>
                        <a:t> Or  res= (</a:t>
                      </a:r>
                      <a:r>
                        <a:rPr lang="en-US" sz="1200" dirty="0" err="1"/>
                        <a:t>var</a:t>
                      </a:r>
                      <a:r>
                        <a:rPr lang="en-US" sz="1200" baseline="0" dirty="0" err="1"/>
                        <a:t>_hi</a:t>
                      </a:r>
                      <a:r>
                        <a:rPr lang="en-US" sz="1200" dirty="0" err="1"/>
                        <a:t>,var_</a:t>
                      </a:r>
                      <a:r>
                        <a:rPr lang="en-US" sz="1200" baseline="0" dirty="0" err="1"/>
                        <a:t>lo</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Range or Bit-select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 or a specific bit.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res=</a:t>
                      </a:r>
                      <a:r>
                        <a:rPr lang="en-US" sz="1200" dirty="0" err="1"/>
                        <a:t>var.range</a:t>
                      </a:r>
                      <a:r>
                        <a:rPr lang="en-US" sz="1200" dirty="0"/>
                        <a:t>(high </a:t>
                      </a:r>
                      <a:r>
                        <a:rPr lang="en-US" sz="1200" dirty="0" err="1"/>
                        <a:t>bit,low</a:t>
                      </a:r>
                      <a:r>
                        <a:rPr lang="en-US" sz="1200" dirty="0"/>
                        <a:t> bit);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Or </a:t>
                      </a:r>
                      <a:r>
                        <a:rPr lang="en-US" sz="1200" baseline="0" dirty="0"/>
                        <a:t> res=</a:t>
                      </a:r>
                      <a:r>
                        <a:rPr lang="en-US" sz="1200" baseline="0" dirty="0" err="1"/>
                        <a:t>var</a:t>
                      </a:r>
                      <a:r>
                        <a:rPr lang="en-US" sz="1200" baseline="0" dirty="0"/>
                        <a:t>[bit-number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and_reduce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(N)And reduce all bits.</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var.and_reduce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aseline="0" dirty="0"/>
                        <a:t>(n)</a:t>
                      </a:r>
                      <a:r>
                        <a:rPr lang="en-US" sz="1200" baseline="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0" kern="1200" dirty="0">
                          <a:solidFill>
                            <a:schemeClr val="dk1"/>
                          </a:solidFill>
                          <a:latin typeface="+mn-lt"/>
                          <a:ea typeface="+mn-ea"/>
                          <a:cs typeface="+mn-cs"/>
                        </a:rPr>
                        <a:t>(N)Or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var.or_reduce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X(n)</a:t>
                      </a:r>
                      <a:r>
                        <a:rPr lang="en-US" sz="1200" dirty="0" err="1"/>
                        <a:t>or_reduce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X(N)or reduce all bits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var.xor_reduce</a:t>
                      </a:r>
                      <a:r>
                        <a:rPr lang="en-US" sz="1200" kern="1200" dirty="0">
                          <a:solidFill>
                            <a:schemeClr val="dk1"/>
                          </a:solidFill>
                          <a:latin typeface="+mn-lt"/>
                          <a:ea typeface="+mn-ea"/>
                          <a:cs typeface="+mn-cs"/>
                        </a:rPr>
                        <a:t>();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Reverse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Reserve the</a:t>
                      </a:r>
                      <a:r>
                        <a:rPr lang="en-US" sz="1200" kern="1200" baseline="0" dirty="0">
                          <a:solidFill>
                            <a:schemeClr val="dk1"/>
                          </a:solidFill>
                          <a:latin typeface="+mn-lt"/>
                          <a:ea typeface="+mn-ea"/>
                          <a:cs typeface="+mn-cs"/>
                        </a:rPr>
                        <a:t> bits in the variable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var.reverse</a:t>
                      </a:r>
                      <a:r>
                        <a:rPr lang="en-US" sz="1200" kern="1200" dirty="0">
                          <a:solidFill>
                            <a:schemeClr val="dk1"/>
                          </a:solidFill>
                          <a:latin typeface="+mn-lt"/>
                          <a:ea typeface="+mn-ea"/>
                          <a:cs typeface="+mn-cs"/>
                        </a:rPr>
                        <a:t>();</a:t>
                      </a:r>
                      <a:endParaRPr lang="en-US" sz="10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7"/>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Test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Tests if a bit is true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baseline="0" dirty="0">
                          <a:solidFill>
                            <a:schemeClr val="dk1"/>
                          </a:solidFill>
                          <a:latin typeface="+mn-lt"/>
                          <a:ea typeface="+mn-ea"/>
                          <a:cs typeface="+mn-cs"/>
                        </a:rPr>
                        <a:t> t = </a:t>
                      </a:r>
                      <a:r>
                        <a:rPr lang="en-US" sz="1200" kern="1200" baseline="0" dirty="0" err="1">
                          <a:solidFill>
                            <a:schemeClr val="dk1"/>
                          </a:solidFill>
                          <a:latin typeface="+mn-lt"/>
                          <a:ea typeface="+mn-ea"/>
                          <a:cs typeface="+mn-cs"/>
                        </a:rPr>
                        <a:t>var.test</a:t>
                      </a:r>
                      <a:r>
                        <a:rPr lang="en-US" sz="1200" kern="1200" baseline="0" dirty="0">
                          <a:solidFill>
                            <a:schemeClr val="dk1"/>
                          </a:solidFill>
                          <a:latin typeface="+mn-lt"/>
                          <a:ea typeface="+mn-ea"/>
                          <a:cs typeface="+mn-cs"/>
                        </a:rPr>
                        <a:t>(bit-number)</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8"/>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Sets the value of a specific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var.set_bit</a:t>
                      </a:r>
                      <a:r>
                        <a:rPr lang="en-US" sz="1200" kern="1200" dirty="0">
                          <a:solidFill>
                            <a:schemeClr val="dk1"/>
                          </a:solidFill>
                          <a:latin typeface="+mn-lt"/>
                          <a:ea typeface="+mn-ea"/>
                          <a:cs typeface="+mn-cs"/>
                        </a:rPr>
                        <a:t>(bit-number, value)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9"/>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Set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Set a specific</a:t>
                      </a:r>
                      <a:r>
                        <a:rPr lang="en-US" sz="1200" kern="1200" baseline="0" dirty="0">
                          <a:solidFill>
                            <a:schemeClr val="dk1"/>
                          </a:solidFill>
                          <a:latin typeface="+mn-lt"/>
                          <a:ea typeface="+mn-ea"/>
                          <a:cs typeface="+mn-cs"/>
                        </a:rPr>
                        <a:t> bit to one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var.set</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Clear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Clear a</a:t>
                      </a:r>
                      <a:r>
                        <a:rPr lang="en-US" sz="1200" kern="1200" baseline="0" dirty="0">
                          <a:solidFill>
                            <a:schemeClr val="dk1"/>
                          </a:solidFill>
                          <a:latin typeface="+mn-lt"/>
                          <a:ea typeface="+mn-ea"/>
                          <a:cs typeface="+mn-cs"/>
                        </a:rPr>
                        <a:t> specific bit to zero</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var.clear</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1"/>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Invert Bit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Invert a specific</a:t>
                      </a:r>
                      <a:r>
                        <a:rPr lang="en-US" sz="1200" kern="1200" baseline="0" dirty="0">
                          <a:solidFill>
                            <a:schemeClr val="dk1"/>
                          </a:solidFill>
                          <a:latin typeface="+mn-lt"/>
                          <a:ea typeface="+mn-ea"/>
                          <a:cs typeface="+mn-cs"/>
                        </a:rPr>
                        <a:t> bit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var.invert</a:t>
                      </a:r>
                      <a:r>
                        <a:rPr lang="en-US" sz="1200" kern="1200" dirty="0">
                          <a:solidFill>
                            <a:schemeClr val="dk1"/>
                          </a:solidFill>
                          <a:latin typeface="+mn-lt"/>
                          <a:ea typeface="+mn-ea"/>
                          <a:cs typeface="+mn-cs"/>
                        </a:rPr>
                        <a:t>(bit-number);</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2"/>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Rotate right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Rotate the N-bits</a:t>
                      </a:r>
                      <a:r>
                        <a:rPr lang="en-US" sz="1200" kern="1200" baseline="0" dirty="0">
                          <a:solidFill>
                            <a:schemeClr val="dk1"/>
                          </a:solidFill>
                          <a:latin typeface="+mn-lt"/>
                          <a:ea typeface="+mn-ea"/>
                          <a:cs typeface="+mn-cs"/>
                        </a:rPr>
                        <a:t> to the right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var.rrotate</a:t>
                      </a:r>
                      <a:r>
                        <a:rPr lang="en-US" sz="1200" kern="1200" dirty="0">
                          <a:solidFill>
                            <a:schemeClr val="dk1"/>
                          </a:solidFill>
                          <a:latin typeface="+mn-lt"/>
                          <a:ea typeface="+mn-ea"/>
                          <a:cs typeface="+mn-cs"/>
                        </a:rPr>
                        <a:t>(N);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3"/>
                  </a:ext>
                </a:extLst>
              </a:tr>
              <a:tr h="254225">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Rotate left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Rotate the N-bits</a:t>
                      </a:r>
                      <a:r>
                        <a:rPr lang="en-US" sz="1200" kern="1200" baseline="0" dirty="0">
                          <a:solidFill>
                            <a:schemeClr val="dk1"/>
                          </a:solidFill>
                          <a:latin typeface="+mn-lt"/>
                          <a:ea typeface="+mn-ea"/>
                          <a:cs typeface="+mn-cs"/>
                        </a:rPr>
                        <a:t> to the left</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var.lrotate</a:t>
                      </a:r>
                      <a:r>
                        <a:rPr lang="en-US" sz="1200" kern="1200" dirty="0">
                          <a:solidFill>
                            <a:schemeClr val="dk1"/>
                          </a:solidFill>
                          <a:latin typeface="+mn-lt"/>
                          <a:ea typeface="+mn-ea"/>
                          <a:cs typeface="+mn-cs"/>
                        </a:rPr>
                        <a:t>(N);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a:t>
                      </a:r>
                      <a:r>
                        <a:rPr lang="en-US" sz="1200" baseline="0" dirty="0"/>
                        <a:t>wise Invert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Invert</a:t>
                      </a:r>
                      <a:r>
                        <a:rPr lang="en-US" sz="1200" kern="1200" baseline="0" dirty="0">
                          <a:solidFill>
                            <a:schemeClr val="dk1"/>
                          </a:solidFill>
                          <a:latin typeface="+mn-lt"/>
                          <a:ea typeface="+mn-ea"/>
                          <a:cs typeface="+mn-cs"/>
                        </a:rPr>
                        <a:t> all bits</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var.b_not</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Test sign</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Test if</a:t>
                      </a:r>
                      <a:r>
                        <a:rPr lang="en-US" sz="1200" kern="1200" baseline="0" dirty="0">
                          <a:solidFill>
                            <a:schemeClr val="dk1"/>
                          </a:solidFill>
                          <a:latin typeface="+mn-lt"/>
                          <a:ea typeface="+mn-ea"/>
                          <a:cs typeface="+mn-cs"/>
                        </a:rPr>
                        <a:t> the sign is negative (return true)</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err="1">
                          <a:solidFill>
                            <a:schemeClr val="dk1"/>
                          </a:solidFill>
                          <a:latin typeface="+mn-lt"/>
                          <a:ea typeface="+mn-ea"/>
                          <a:cs typeface="+mn-cs"/>
                        </a:rPr>
                        <a:t>bool</a:t>
                      </a:r>
                      <a:r>
                        <a:rPr lang="en-US" sz="1200" kern="1200" dirty="0">
                          <a:solidFill>
                            <a:schemeClr val="dk1"/>
                          </a:solidFill>
                          <a:latin typeface="+mn-lt"/>
                          <a:ea typeface="+mn-ea"/>
                          <a:cs typeface="+mn-cs"/>
                        </a:rPr>
                        <a:t> t = </a:t>
                      </a:r>
                      <a:r>
                        <a:rPr lang="en-US" sz="1200" kern="1200" dirty="0" err="1">
                          <a:solidFill>
                            <a:schemeClr val="dk1"/>
                          </a:solidFill>
                          <a:latin typeface="+mn-lt"/>
                          <a:ea typeface="+mn-ea"/>
                          <a:cs typeface="+mn-cs"/>
                        </a:rPr>
                        <a:t>var.sign</a:t>
                      </a:r>
                      <a:r>
                        <a:rPr lang="en-US" sz="1200" kern="1200" dirty="0">
                          <a:solidFill>
                            <a:schemeClr val="dk1"/>
                          </a:solidFill>
                          <a:latin typeface="+mn-lt"/>
                          <a:ea typeface="+mn-ea"/>
                          <a:cs typeface="+mn-cs"/>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6"/>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Arbitrary Precision : C++ ap_fixed types </a:t>
            </a:r>
          </a:p>
        </p:txBody>
      </p:sp>
      <p:sp>
        <p:nvSpPr>
          <p:cNvPr id="12" name="Slide Number Placeholder 11"/>
          <p:cNvSpPr>
            <a:spLocks noGrp="1"/>
          </p:cNvSpPr>
          <p:nvPr>
            <p:ph type="sldNum" sz="quarter" idx="10"/>
          </p:nvPr>
        </p:nvSpPr>
        <p:spPr>
          <a:xfrm>
            <a:off x="579120" y="6325606"/>
            <a:ext cx="1684019" cy="365125"/>
          </a:xfrm>
        </p:spPr>
        <p:txBody>
          <a:bodyPr/>
          <a:lstStyle/>
          <a:p>
            <a:pPr>
              <a:defRPr/>
            </a:pPr>
            <a:r>
              <a:rPr lang="en-US" dirty="0"/>
              <a:t>Data Types 14- </a:t>
            </a:r>
            <a:fld id="{060BD193-E118-4B16-863C-C8C12C675E3E}" type="slidenum">
              <a:rPr lang="en-US" smtClean="0"/>
              <a:pPr>
                <a:defRPr/>
              </a:pPr>
              <a:t>23</a:t>
            </a:fld>
            <a:endParaRPr lang="en-US" dirty="0"/>
          </a:p>
        </p:txBody>
      </p:sp>
      <p:sp>
        <p:nvSpPr>
          <p:cNvPr id="3" name="Content Placeholder 2"/>
          <p:cNvSpPr>
            <a:spLocks noGrp="1"/>
          </p:cNvSpPr>
          <p:nvPr>
            <p:ph idx="4294967295"/>
          </p:nvPr>
        </p:nvSpPr>
        <p:spPr>
          <a:xfrm>
            <a:off x="611030" y="1139577"/>
            <a:ext cx="10735150" cy="4491038"/>
          </a:xfrm>
        </p:spPr>
        <p:txBody>
          <a:bodyPr>
            <a:normAutofit lnSpcReduction="10000"/>
          </a:bodyPr>
          <a:lstStyle/>
          <a:p>
            <a:r>
              <a:rPr lang="en-US" dirty="0"/>
              <a:t>Support for fixed point datatypes in C++</a:t>
            </a:r>
          </a:p>
          <a:p>
            <a:pPr lvl="1"/>
            <a:r>
              <a:rPr lang="en-US" altLang="zh-CN" dirty="0">
                <a:ea typeface="宋体" charset="-122"/>
              </a:rPr>
              <a:t>Include the path to the ap_fixed.h header file</a:t>
            </a:r>
          </a:p>
          <a:p>
            <a:pPr lvl="1"/>
            <a:r>
              <a:rPr lang="en-US" dirty="0"/>
              <a:t>Both signed (ap_fixed) and unsigned types (</a:t>
            </a:r>
            <a:r>
              <a:rPr lang="en-US" dirty="0" err="1"/>
              <a:t>ap_ufixed</a:t>
            </a:r>
            <a:r>
              <a:rPr lang="en-US" dirty="0"/>
              <a:t>)</a:t>
            </a:r>
          </a:p>
          <a:p>
            <a:pPr lvl="1"/>
            <a:endParaRPr lang="en-US" sz="1600" dirty="0"/>
          </a:p>
          <a:p>
            <a:pPr lvl="1"/>
            <a:endParaRPr lang="en-US" sz="1600" dirty="0"/>
          </a:p>
          <a:p>
            <a:pPr lvl="1"/>
            <a:endParaRPr lang="en-US" sz="1600" dirty="0"/>
          </a:p>
          <a:p>
            <a:pPr marL="457063" lvl="1" indent="0">
              <a:buNone/>
            </a:pPr>
            <a:br>
              <a:rPr lang="en-US" sz="1600" dirty="0"/>
            </a:br>
            <a:endParaRPr lang="en-US" sz="1600" dirty="0"/>
          </a:p>
          <a:p>
            <a:pPr lvl="1"/>
            <a:endParaRPr lang="en-US" sz="1100" dirty="0"/>
          </a:p>
          <a:p>
            <a:r>
              <a:rPr lang="en-US" dirty="0"/>
              <a:t>Advantages of Fixed Point types</a:t>
            </a:r>
          </a:p>
          <a:p>
            <a:pPr lvl="1"/>
            <a:r>
              <a:rPr lang="en-US" dirty="0"/>
              <a:t>The result of variables with different sizes is automatically taken care of</a:t>
            </a:r>
          </a:p>
          <a:p>
            <a:pPr lvl="1"/>
            <a:r>
              <a:rPr lang="en-US" dirty="0"/>
              <a:t>The binary point is automatically aligned</a:t>
            </a:r>
          </a:p>
          <a:p>
            <a:pPr lvl="2"/>
            <a:r>
              <a:rPr lang="en-US" dirty="0"/>
              <a:t>Quantization: Underflow is automatically handled</a:t>
            </a:r>
          </a:p>
          <a:p>
            <a:pPr lvl="2"/>
            <a:r>
              <a:rPr lang="en-US" dirty="0"/>
              <a:t>Overflow: Saturation  is automatically handled </a:t>
            </a:r>
          </a:p>
          <a:p>
            <a:pPr lvl="1"/>
            <a:endParaRPr lang="en-US" dirty="0"/>
          </a:p>
        </p:txBody>
      </p:sp>
      <p:sp>
        <p:nvSpPr>
          <p:cNvPr id="10" name="TextBox 9">
            <a:extLst>
              <a:ext uri="{FF2B5EF4-FFF2-40B4-BE49-F238E27FC236}">
                <a16:creationId xmlns:a16="http://schemas.microsoft.com/office/drawing/2014/main" id="{80E23ED2-BB09-4654-BD8E-CF8437C65D21}"/>
              </a:ext>
            </a:extLst>
          </p:cNvPr>
          <p:cNvSpPr txBox="1"/>
          <p:nvPr/>
        </p:nvSpPr>
        <p:spPr>
          <a:xfrm>
            <a:off x="2021821" y="2290503"/>
            <a:ext cx="7525420" cy="147732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rPr>
              <a:t>#include ap_fixed.h</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void foo_top (…) {</a:t>
            </a:r>
          </a:p>
          <a:p>
            <a:pPr defTabSz="914400" fontAlgn="base">
              <a:spcBef>
                <a:spcPct val="0"/>
              </a:spcBef>
              <a:spcAft>
                <a:spcPct val="0"/>
              </a:spcAft>
              <a:defRPr/>
            </a:pPr>
            <a:r>
              <a:rPr lang="en-US" sz="1000" b="1" kern="0" dirty="0">
                <a:solidFill>
                  <a:srgbClr val="000000"/>
                </a:solidFill>
                <a:latin typeface="Arial"/>
              </a:rPr>
              <a:t>  </a:t>
            </a:r>
          </a:p>
          <a:p>
            <a:pPr defTabSz="914400" fontAlgn="base">
              <a:spcBef>
                <a:spcPct val="0"/>
              </a:spcBef>
              <a:spcAft>
                <a:spcPct val="0"/>
              </a:spcAft>
              <a:defRPr/>
            </a:pPr>
            <a:r>
              <a:rPr lang="en-US" sz="1000" b="1" kern="0" dirty="0">
                <a:solidFill>
                  <a:srgbClr val="000000"/>
                </a:solidFill>
                <a:latin typeface="Arial"/>
              </a:rPr>
              <a:t> ap_fixed&lt;9, 5, AP_RND_CONV, AP_SAT&gt;  var1;	//  9-bit, </a:t>
            </a:r>
          </a:p>
          <a:p>
            <a:pPr defTabSz="914400" fontAlgn="base">
              <a:spcBef>
                <a:spcPct val="0"/>
              </a:spcBef>
              <a:spcAft>
                <a:spcPct val="0"/>
              </a:spcAft>
              <a:defRPr/>
            </a:pPr>
            <a:r>
              <a:rPr lang="en-US" sz="1000" b="1" kern="0" dirty="0">
                <a:solidFill>
                  <a:srgbClr val="000000"/>
                </a:solidFill>
                <a:latin typeface="Arial"/>
              </a:rPr>
              <a:t>				//  5 integer  bits, 4 decimal places</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ap_ufixed&lt;10, 7, AP_RND_CONV, AP_SAT&gt;  var2;  	// 10-bit unsigned </a:t>
            </a:r>
          </a:p>
          <a:p>
            <a:pPr defTabSz="914400" fontAlgn="base">
              <a:spcBef>
                <a:spcPct val="0"/>
              </a:spcBef>
              <a:spcAft>
                <a:spcPct val="0"/>
              </a:spcAft>
              <a:defRPr/>
            </a:pPr>
            <a:r>
              <a:rPr lang="en-US" sz="1000" b="1" kern="0" dirty="0">
                <a:solidFill>
                  <a:srgbClr val="000000"/>
                </a:solidFill>
                <a:latin typeface="Arial"/>
              </a:rPr>
              <a:t>                                                                                         	//   7 integer bits, 3 decimal places</a:t>
            </a:r>
          </a:p>
        </p:txBody>
      </p:sp>
      <p:sp>
        <p:nvSpPr>
          <p:cNvPr id="11" name="TextBox 10">
            <a:extLst>
              <a:ext uri="{FF2B5EF4-FFF2-40B4-BE49-F238E27FC236}">
                <a16:creationId xmlns:a16="http://schemas.microsoft.com/office/drawing/2014/main" id="{874D50D0-6A82-455E-8B89-DAF08BC20CA6}"/>
              </a:ext>
            </a:extLst>
          </p:cNvPr>
          <p:cNvSpPr txBox="1"/>
          <p:nvPr/>
        </p:nvSpPr>
        <p:spPr>
          <a:xfrm>
            <a:off x="3864783" y="2311706"/>
            <a:ext cx="3583533" cy="26161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t>$AUTOESL</a:t>
            </a:r>
            <a:r>
              <a:rPr lang="en-US" sz="1100" b="1" kern="0" dirty="0">
                <a:solidFill>
                  <a:srgbClr val="000000"/>
                </a:solidFill>
              </a:rPr>
              <a:t>_HOME/include/</a:t>
            </a:r>
            <a:r>
              <a:rPr lang="en-US" sz="1100" b="1" kern="0" dirty="0" err="1">
                <a:solidFill>
                  <a:srgbClr val="000000"/>
                </a:solidFill>
              </a:rPr>
              <a:t>ap_fixed.h</a:t>
            </a:r>
            <a:endParaRPr lang="en-US" sz="1100" b="1" kern="0" dirty="0">
              <a:solidFill>
                <a:srgbClr val="000000"/>
              </a:solidFill>
            </a:endParaRPr>
          </a:p>
        </p:txBody>
      </p:sp>
      <p:sp>
        <p:nvSpPr>
          <p:cNvPr id="13" name="TextBox 12">
            <a:extLst>
              <a:ext uri="{FF2B5EF4-FFF2-40B4-BE49-F238E27FC236}">
                <a16:creationId xmlns:a16="http://schemas.microsoft.com/office/drawing/2014/main" id="{C16FAD23-4ED3-4540-B338-8CC256493473}"/>
              </a:ext>
            </a:extLst>
          </p:cNvPr>
          <p:cNvSpPr txBox="1"/>
          <p:nvPr/>
        </p:nvSpPr>
        <p:spPr>
          <a:xfrm>
            <a:off x="2532804" y="5628393"/>
            <a:ext cx="6501553" cy="52322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rPr>
              <a:t>Alternatively, make the result variable large enough such that overflow or underflow does not occur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Arbitrary Precision : C++ ap_fixed types </a:t>
            </a:r>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24</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491038"/>
          </a:xfrm>
        </p:spPr>
        <p:txBody>
          <a:bodyPr>
            <a:normAutofit/>
          </a:bodyPr>
          <a:lstStyle/>
          <a:p>
            <a:r>
              <a:rPr lang="en-US" dirty="0"/>
              <a:t>Support for fixed point datatypes in C++</a:t>
            </a:r>
          </a:p>
          <a:p>
            <a:pPr lvl="1"/>
            <a:r>
              <a:rPr lang="en-US" altLang="zh-CN" dirty="0">
                <a:ea typeface="宋体" charset="-122"/>
              </a:rPr>
              <a:t>Include the path to the ap_fixed.h header file</a:t>
            </a:r>
          </a:p>
          <a:p>
            <a:pPr lvl="1"/>
            <a:r>
              <a:rPr lang="en-US" dirty="0"/>
              <a:t>Both signed (ap_fixed) and unsigned types (</a:t>
            </a:r>
            <a:r>
              <a:rPr lang="en-US" dirty="0" err="1"/>
              <a:t>ap_ufixed</a:t>
            </a:r>
            <a:r>
              <a:rPr lang="en-US" dirty="0"/>
              <a:t>)</a:t>
            </a:r>
          </a:p>
          <a:p>
            <a:pPr lvl="1"/>
            <a:endParaRPr lang="en-US" sz="1600" dirty="0"/>
          </a:p>
          <a:p>
            <a:pPr lvl="1"/>
            <a:endParaRPr lang="en-US" sz="1600" dirty="0"/>
          </a:p>
          <a:p>
            <a:pPr lvl="1"/>
            <a:endParaRPr lang="en-US" sz="1600" dirty="0"/>
          </a:p>
          <a:p>
            <a:pPr marL="457063" lvl="1" indent="0">
              <a:buNone/>
            </a:pPr>
            <a:br>
              <a:rPr lang="en-US" sz="1600" dirty="0"/>
            </a:br>
            <a:endParaRPr lang="en-US" sz="1600" dirty="0"/>
          </a:p>
          <a:p>
            <a:pPr lvl="1"/>
            <a:endParaRPr lang="en-US" sz="1100" dirty="0"/>
          </a:p>
          <a:p>
            <a:r>
              <a:rPr lang="en-US" dirty="0"/>
              <a:t>Advantages of Fixed Point types</a:t>
            </a:r>
          </a:p>
          <a:p>
            <a:pPr lvl="1"/>
            <a:r>
              <a:rPr lang="en-US" dirty="0"/>
              <a:t>The result of variables with different sizes is automatically taken care of</a:t>
            </a:r>
          </a:p>
          <a:p>
            <a:pPr lvl="1"/>
            <a:r>
              <a:rPr lang="en-US" dirty="0"/>
              <a:t>The binary point is automatically aligned</a:t>
            </a:r>
          </a:p>
          <a:p>
            <a:pPr lvl="2"/>
            <a:r>
              <a:rPr lang="en-US" dirty="0"/>
              <a:t>Quantization: Underflow is automatically handled</a:t>
            </a:r>
          </a:p>
          <a:p>
            <a:pPr lvl="2"/>
            <a:r>
              <a:rPr lang="en-US" dirty="0"/>
              <a:t>Overflow: Saturation  is automatically handled </a:t>
            </a:r>
          </a:p>
          <a:p>
            <a:pPr lvl="1"/>
            <a:endParaRPr lang="en-US" dirty="0"/>
          </a:p>
        </p:txBody>
      </p:sp>
      <p:sp>
        <p:nvSpPr>
          <p:cNvPr id="9"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24</a:t>
            </a:fld>
            <a:endParaRPr lang="en-US" sz="1000" dirty="0">
              <a:solidFill>
                <a:srgbClr val="FFFFFF"/>
              </a:solidFill>
              <a:latin typeface="Arial" charset="0"/>
              <a:ea typeface="ＭＳ Ｐゴシック" pitchFamily="34" charset="-128"/>
              <a:cs typeface="Arial" charset="0"/>
            </a:endParaRPr>
          </a:p>
        </p:txBody>
      </p:sp>
      <p:sp>
        <p:nvSpPr>
          <p:cNvPr id="10" name="TextBox 9">
            <a:extLst>
              <a:ext uri="{FF2B5EF4-FFF2-40B4-BE49-F238E27FC236}">
                <a16:creationId xmlns:a16="http://schemas.microsoft.com/office/drawing/2014/main" id="{80E23ED2-BB09-4654-BD8E-CF8437C65D21}"/>
              </a:ext>
            </a:extLst>
          </p:cNvPr>
          <p:cNvSpPr txBox="1"/>
          <p:nvPr/>
        </p:nvSpPr>
        <p:spPr>
          <a:xfrm>
            <a:off x="2608561" y="2424290"/>
            <a:ext cx="7525420" cy="147732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rPr>
              <a:t>#include ap_fixed.h</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void foo_top (…) {</a:t>
            </a:r>
          </a:p>
          <a:p>
            <a:pPr defTabSz="914400" fontAlgn="base">
              <a:spcBef>
                <a:spcPct val="0"/>
              </a:spcBef>
              <a:spcAft>
                <a:spcPct val="0"/>
              </a:spcAft>
              <a:defRPr/>
            </a:pPr>
            <a:r>
              <a:rPr lang="en-US" sz="1000" b="1" kern="0" dirty="0">
                <a:solidFill>
                  <a:srgbClr val="000000"/>
                </a:solidFill>
                <a:latin typeface="Arial"/>
              </a:rPr>
              <a:t>  </a:t>
            </a:r>
          </a:p>
          <a:p>
            <a:pPr defTabSz="914400" fontAlgn="base">
              <a:spcBef>
                <a:spcPct val="0"/>
              </a:spcBef>
              <a:spcAft>
                <a:spcPct val="0"/>
              </a:spcAft>
              <a:defRPr/>
            </a:pPr>
            <a:r>
              <a:rPr lang="en-US" sz="1000" b="1" kern="0" dirty="0">
                <a:solidFill>
                  <a:srgbClr val="000000"/>
                </a:solidFill>
                <a:latin typeface="Arial"/>
              </a:rPr>
              <a:t> ap_fixed&lt;9, 5, AP_RND_CONV, AP_SAT&gt;  var1;	//  9-bit, </a:t>
            </a:r>
          </a:p>
          <a:p>
            <a:pPr defTabSz="914400" fontAlgn="base">
              <a:spcBef>
                <a:spcPct val="0"/>
              </a:spcBef>
              <a:spcAft>
                <a:spcPct val="0"/>
              </a:spcAft>
              <a:defRPr/>
            </a:pPr>
            <a:r>
              <a:rPr lang="en-US" sz="1000" b="1" kern="0" dirty="0">
                <a:solidFill>
                  <a:srgbClr val="000000"/>
                </a:solidFill>
                <a:latin typeface="Arial"/>
              </a:rPr>
              <a:t>				//  5 integer  bits, 4 decimal places</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ap_ufixed&lt;10, 7, AP_RND_CONV, AP_SAT&gt;  var2;  	// 10-bit unsigned </a:t>
            </a:r>
          </a:p>
          <a:p>
            <a:pPr defTabSz="914400" fontAlgn="base">
              <a:spcBef>
                <a:spcPct val="0"/>
              </a:spcBef>
              <a:spcAft>
                <a:spcPct val="0"/>
              </a:spcAft>
              <a:defRPr/>
            </a:pPr>
            <a:r>
              <a:rPr lang="en-US" sz="1000" b="1" kern="0" dirty="0">
                <a:solidFill>
                  <a:srgbClr val="000000"/>
                </a:solidFill>
                <a:latin typeface="Arial"/>
              </a:rPr>
              <a:t>                                                                                         	//   7 integer bits, 3 decimal places</a:t>
            </a:r>
          </a:p>
        </p:txBody>
      </p:sp>
      <p:sp>
        <p:nvSpPr>
          <p:cNvPr id="11" name="TextBox 10">
            <a:extLst>
              <a:ext uri="{FF2B5EF4-FFF2-40B4-BE49-F238E27FC236}">
                <a16:creationId xmlns:a16="http://schemas.microsoft.com/office/drawing/2014/main" id="{874D50D0-6A82-455E-8B89-DAF08BC20CA6}"/>
              </a:ext>
            </a:extLst>
          </p:cNvPr>
          <p:cNvSpPr txBox="1"/>
          <p:nvPr/>
        </p:nvSpPr>
        <p:spPr>
          <a:xfrm>
            <a:off x="4451523" y="2445493"/>
            <a:ext cx="3583533" cy="26161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FF0000"/>
                </a:solidFill>
                <a:latin typeface="Arial"/>
              </a:rPr>
              <a:t>$AUTOESL</a:t>
            </a:r>
            <a:r>
              <a:rPr lang="en-US" sz="1100" b="1" kern="0" dirty="0">
                <a:solidFill>
                  <a:srgbClr val="000000"/>
                </a:solidFill>
                <a:latin typeface="Arial"/>
              </a:rPr>
              <a:t>_HOME/include/</a:t>
            </a:r>
            <a:r>
              <a:rPr lang="en-US" sz="1100" b="1" kern="0" dirty="0" err="1">
                <a:solidFill>
                  <a:srgbClr val="000000"/>
                </a:solidFill>
                <a:latin typeface="Arial"/>
              </a:rPr>
              <a:t>ap_fixed.h</a:t>
            </a:r>
            <a:endParaRPr lang="en-US" sz="1100" b="1" kern="0" dirty="0">
              <a:solidFill>
                <a:srgbClr val="000000"/>
              </a:solidFill>
              <a:latin typeface="Arial"/>
            </a:endParaRPr>
          </a:p>
        </p:txBody>
      </p:sp>
      <p:sp>
        <p:nvSpPr>
          <p:cNvPr id="13" name="TextBox 12">
            <a:extLst>
              <a:ext uri="{FF2B5EF4-FFF2-40B4-BE49-F238E27FC236}">
                <a16:creationId xmlns:a16="http://schemas.microsoft.com/office/drawing/2014/main" id="{C16FAD23-4ED3-4540-B338-8CC256493473}"/>
              </a:ext>
            </a:extLst>
          </p:cNvPr>
          <p:cNvSpPr txBox="1"/>
          <p:nvPr/>
        </p:nvSpPr>
        <p:spPr>
          <a:xfrm>
            <a:off x="2845224" y="5630615"/>
            <a:ext cx="6501553" cy="52322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Alternatively, make the result variable large enough such that overflow or underflow does not occur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Definition of ap_fixed type</a:t>
            </a:r>
          </a:p>
        </p:txBody>
      </p:sp>
      <p:sp>
        <p:nvSpPr>
          <p:cNvPr id="25" name="Slide Number Placeholder 24"/>
          <p:cNvSpPr>
            <a:spLocks noGrp="1"/>
          </p:cNvSpPr>
          <p:nvPr>
            <p:ph type="sldNum" sz="quarter" idx="10"/>
          </p:nvPr>
        </p:nvSpPr>
        <p:spPr>
          <a:xfrm>
            <a:off x="579120" y="6325606"/>
            <a:ext cx="1485899" cy="365125"/>
          </a:xfrm>
        </p:spPr>
        <p:txBody>
          <a:bodyPr/>
          <a:lstStyle/>
          <a:p>
            <a:pPr>
              <a:defRPr/>
            </a:pPr>
            <a:r>
              <a:rPr lang="en-US" dirty="0"/>
              <a:t>Data Types 14- </a:t>
            </a:r>
            <a:fld id="{060BD193-E118-4B16-863C-C8C12C675E3E}" type="slidenum">
              <a:rPr lang="en-US" smtClean="0"/>
              <a:pPr>
                <a:defRPr/>
              </a:pPr>
              <a:t>25</a:t>
            </a:fld>
            <a:endParaRPr lang="en-US" dirty="0"/>
          </a:p>
        </p:txBody>
      </p:sp>
      <p:sp>
        <p:nvSpPr>
          <p:cNvPr id="3" name="Content Placeholder 2"/>
          <p:cNvSpPr>
            <a:spLocks noGrp="1"/>
          </p:cNvSpPr>
          <p:nvPr>
            <p:ph idx="4294967295"/>
          </p:nvPr>
        </p:nvSpPr>
        <p:spPr>
          <a:xfrm>
            <a:off x="579121" y="1120778"/>
            <a:ext cx="10750601" cy="1919602"/>
          </a:xfrm>
        </p:spPr>
        <p:txBody>
          <a:bodyPr>
            <a:normAutofit/>
          </a:bodyPr>
          <a:lstStyle/>
          <a:p>
            <a:r>
              <a:rPr lang="en-US" sz="1800" dirty="0"/>
              <a:t>Fixed point types are specified by</a:t>
            </a:r>
          </a:p>
          <a:p>
            <a:pPr lvl="1"/>
            <a:r>
              <a:rPr lang="en-US" sz="1400" dirty="0"/>
              <a:t>Total bit width (W)</a:t>
            </a:r>
          </a:p>
          <a:p>
            <a:pPr lvl="1"/>
            <a:r>
              <a:rPr lang="en-US" sz="1400" dirty="0"/>
              <a:t>The number of integer bits (I)</a:t>
            </a:r>
          </a:p>
          <a:p>
            <a:pPr lvl="1"/>
            <a:r>
              <a:rPr lang="en-US" sz="1400" dirty="0"/>
              <a:t>The quantization/rounding mode (Q)</a:t>
            </a:r>
          </a:p>
          <a:p>
            <a:pPr lvl="1"/>
            <a:r>
              <a:rPr lang="en-US" sz="1400" dirty="0"/>
              <a:t>The overflow/saturation mode (O)</a:t>
            </a:r>
          </a:p>
          <a:p>
            <a:pPr lvl="1"/>
            <a:r>
              <a:rPr lang="en-US" sz="1400" dirty="0"/>
              <a:t>The number of saturation bits</a:t>
            </a:r>
          </a:p>
        </p:txBody>
      </p:sp>
      <p:graphicFrame>
        <p:nvGraphicFramePr>
          <p:cNvPr id="27" name="Table 26">
            <a:extLst>
              <a:ext uri="{FF2B5EF4-FFF2-40B4-BE49-F238E27FC236}">
                <a16:creationId xmlns:a16="http://schemas.microsoft.com/office/drawing/2014/main" id="{7FEFE0FF-4BA2-4A93-B12D-0A1C5AF9E9AC}"/>
              </a:ext>
            </a:extLst>
          </p:cNvPr>
          <p:cNvGraphicFramePr>
            <a:graphicFrameLocks noGrp="1"/>
          </p:cNvGraphicFramePr>
          <p:nvPr>
            <p:extLst>
              <p:ext uri="{D42A27DB-BD31-4B8C-83A1-F6EECF244321}">
                <p14:modId xmlns:p14="http://schemas.microsoft.com/office/powerpoint/2010/main" val="3489178458"/>
              </p:ext>
            </p:extLst>
          </p:nvPr>
        </p:nvGraphicFramePr>
        <p:xfrm>
          <a:off x="720699" y="2951211"/>
          <a:ext cx="10750601" cy="3324437"/>
        </p:xfrm>
        <a:graphic>
          <a:graphicData uri="http://schemas.openxmlformats.org/drawingml/2006/table">
            <a:tbl>
              <a:tblPr/>
              <a:tblGrid>
                <a:gridCol w="767900">
                  <a:extLst>
                    <a:ext uri="{9D8B030D-6E8A-4147-A177-3AD203B41FA5}">
                      <a16:colId xmlns:a16="http://schemas.microsoft.com/office/drawing/2014/main" val="20000"/>
                    </a:ext>
                  </a:extLst>
                </a:gridCol>
                <a:gridCol w="3358644">
                  <a:extLst>
                    <a:ext uri="{9D8B030D-6E8A-4147-A177-3AD203B41FA5}">
                      <a16:colId xmlns:a16="http://schemas.microsoft.com/office/drawing/2014/main" val="20001"/>
                    </a:ext>
                  </a:extLst>
                </a:gridCol>
                <a:gridCol w="6624057">
                  <a:extLst>
                    <a:ext uri="{9D8B030D-6E8A-4147-A177-3AD203B41FA5}">
                      <a16:colId xmlns:a16="http://schemas.microsoft.com/office/drawing/2014/main" val="20002"/>
                    </a:ext>
                  </a:extLst>
                </a:gridCol>
              </a:tblGrid>
              <a:tr h="148733">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solidFill>
                            <a:srgbClr val="FFFFFF"/>
                          </a:solidFill>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hMerge="1">
                  <a:txBody>
                    <a:bodyPr/>
                    <a:lstStyle/>
                    <a:p>
                      <a:endParaRPr lang="en-US"/>
                    </a:p>
                  </a:txBody>
                  <a:tcPr/>
                </a:tc>
                <a:extLst>
                  <a:ext uri="{0D108BD9-81ED-4DB2-BD59-A6C34878D82A}">
                    <a16:rowId xmlns:a16="http://schemas.microsoft.com/office/drawing/2014/main" val="10000"/>
                  </a:ext>
                </a:extLst>
              </a:tr>
              <a:tr h="106860">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W</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Word length in bits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01"/>
                  </a:ext>
                </a:extLst>
              </a:tr>
              <a:tr h="213721">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I</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The number of bits  used to represent the integer value (the number of bits above the decimal point)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hMerge="1">
                  <a:txBody>
                    <a:bodyPr/>
                    <a:lstStyle/>
                    <a:p>
                      <a:endParaRPr lang="en-US"/>
                    </a:p>
                  </a:txBody>
                  <a:tcPr/>
                </a:tc>
                <a:extLst>
                  <a:ext uri="{0D108BD9-81ED-4DB2-BD59-A6C34878D82A}">
                    <a16:rowId xmlns:a16="http://schemas.microsoft.com/office/drawing/2014/main" val="10002"/>
                  </a:ext>
                </a:extLst>
              </a:tr>
              <a:tr h="306195">
                <a:tc rowSpan="9">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Q</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Quantization mode  (modes detailed below) dictates the behavior when greater precision is generated than can be defined by the LSBs.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03"/>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AP_Fixed Mode</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4"/>
                  </a:ext>
                </a:extLst>
              </a:tr>
              <a:tr h="124472">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plus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5"/>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6"/>
                  </a:ext>
                </a:extLst>
              </a:tr>
              <a:tr h="129259">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AP_RND_MIN_INF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minus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7"/>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AP_RND_INF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8"/>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AP_RND_CONV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Convergent rounding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9"/>
                  </a:ext>
                </a:extLst>
              </a:tr>
              <a:tr h="138833">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AP_TRN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Truncation to minus infinity(default)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0"/>
                  </a:ext>
                </a:extLst>
              </a:tr>
              <a:tr h="134047">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AP_TRN_ZERO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Truncation to 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1"/>
                  </a:ext>
                </a:extLst>
              </a:tr>
              <a:tr h="213721">
                <a:tc rowSpan="7">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O</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Overflow mode (modes detailed below) dictates the behavior when more bits are required than the word contains.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hMerge="1">
                  <a:txBody>
                    <a:bodyPr/>
                    <a:lstStyle/>
                    <a:p>
                      <a:endParaRPr lang="en-US"/>
                    </a:p>
                  </a:txBody>
                  <a:tcPr/>
                </a:tc>
                <a:extLst>
                  <a:ext uri="{0D108BD9-81ED-4DB2-BD59-A6C34878D82A}">
                    <a16:rowId xmlns:a16="http://schemas.microsoft.com/office/drawing/2014/main" val="10012"/>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AP_Fixed Mode</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3"/>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Saturation</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4"/>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AP_SAT_ZERO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Saturation to 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5"/>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AP_SAT_SYM</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Symmetrical saturation</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6"/>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AP_WRAP</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Wrap around (default)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7"/>
                  </a:ext>
                </a:extLst>
              </a:tr>
              <a:tr h="124472">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AP_WRAP_SM</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Sign magnitude wrap around</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8"/>
                  </a:ext>
                </a:extLst>
              </a:tr>
              <a:tr h="106860">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The number of saturation bits in wrap modes.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19"/>
                  </a:ext>
                </a:extLst>
              </a:tr>
            </a:tbl>
          </a:graphicData>
        </a:graphic>
      </p:graphicFrame>
      <p:sp>
        <p:nvSpPr>
          <p:cNvPr id="30" name="TextBox 29">
            <a:extLst>
              <a:ext uri="{FF2B5EF4-FFF2-40B4-BE49-F238E27FC236}">
                <a16:creationId xmlns:a16="http://schemas.microsoft.com/office/drawing/2014/main" id="{DA1FECAF-D848-479E-9098-B4912E658089}"/>
              </a:ext>
            </a:extLst>
          </p:cNvPr>
          <p:cNvSpPr txBox="1"/>
          <p:nvPr/>
        </p:nvSpPr>
        <p:spPr>
          <a:xfrm>
            <a:off x="6961214" y="2457556"/>
            <a:ext cx="2150120" cy="246221"/>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000" b="1" kern="0" dirty="0">
                <a:solidFill>
                  <a:srgbClr val="000000"/>
                </a:solidFill>
              </a:rPr>
              <a:t>Binary point  : W = I + B</a:t>
            </a:r>
          </a:p>
        </p:txBody>
      </p:sp>
      <p:cxnSp>
        <p:nvCxnSpPr>
          <p:cNvPr id="31" name="Straight Arrow Connector 30">
            <a:extLst>
              <a:ext uri="{FF2B5EF4-FFF2-40B4-BE49-F238E27FC236}">
                <a16:creationId xmlns:a16="http://schemas.microsoft.com/office/drawing/2014/main" id="{74A497F1-3DC0-400F-97CA-23C33A510064}"/>
              </a:ext>
            </a:extLst>
          </p:cNvPr>
          <p:cNvCxnSpPr/>
          <p:nvPr/>
        </p:nvCxnSpPr>
        <p:spPr>
          <a:xfrm flipV="1">
            <a:off x="8087467" y="2166105"/>
            <a:ext cx="0" cy="238326"/>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32" name="TextBox 31">
            <a:extLst>
              <a:ext uri="{FF2B5EF4-FFF2-40B4-BE49-F238E27FC236}">
                <a16:creationId xmlns:a16="http://schemas.microsoft.com/office/drawing/2014/main" id="{8F821EB7-0FB4-458B-80B9-731480D1D60C}"/>
              </a:ext>
            </a:extLst>
          </p:cNvPr>
          <p:cNvSpPr txBox="1"/>
          <p:nvPr/>
        </p:nvSpPr>
        <p:spPr>
          <a:xfrm>
            <a:off x="6265673" y="1448503"/>
            <a:ext cx="3429955" cy="27699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ap_[u]fixed&lt;W, I , Q, O , N&gt; 	</a:t>
            </a:r>
          </a:p>
        </p:txBody>
      </p:sp>
      <p:grpSp>
        <p:nvGrpSpPr>
          <p:cNvPr id="34" name="Group 44">
            <a:extLst>
              <a:ext uri="{FF2B5EF4-FFF2-40B4-BE49-F238E27FC236}">
                <a16:creationId xmlns:a16="http://schemas.microsoft.com/office/drawing/2014/main" id="{DEB6E936-3A7E-45D2-930C-FCD82562B9A2}"/>
              </a:ext>
            </a:extLst>
          </p:cNvPr>
          <p:cNvGrpSpPr>
            <a:grpSpLocks/>
          </p:cNvGrpSpPr>
          <p:nvPr/>
        </p:nvGrpSpPr>
        <p:grpSpPr bwMode="auto">
          <a:xfrm>
            <a:off x="6777609" y="1858865"/>
            <a:ext cx="2254777" cy="255902"/>
            <a:chOff x="5562282" y="5151438"/>
            <a:chExt cx="2636837" cy="449262"/>
          </a:xfrm>
        </p:grpSpPr>
        <p:sp>
          <p:nvSpPr>
            <p:cNvPr id="35" name="Rectangle 34">
              <a:extLst>
                <a:ext uri="{FF2B5EF4-FFF2-40B4-BE49-F238E27FC236}">
                  <a16:creationId xmlns:a16="http://schemas.microsoft.com/office/drawing/2014/main" id="{31BF3C40-ACBF-4EDC-A088-C93FFB502D9E}"/>
                </a:ext>
              </a:extLst>
            </p:cNvPr>
            <p:cNvSpPr/>
            <p:nvPr/>
          </p:nvSpPr>
          <p:spPr>
            <a:xfrm>
              <a:off x="5562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I-1</a:t>
              </a:r>
            </a:p>
          </p:txBody>
        </p:sp>
        <p:sp>
          <p:nvSpPr>
            <p:cNvPr id="36" name="Rectangle 35">
              <a:extLst>
                <a:ext uri="{FF2B5EF4-FFF2-40B4-BE49-F238E27FC236}">
                  <a16:creationId xmlns:a16="http://schemas.microsoft.com/office/drawing/2014/main" id="{346D6D78-57F6-44B7-82B0-C30FCAD3CD28}"/>
                </a:ext>
              </a:extLst>
            </p:cNvPr>
            <p:cNvSpPr/>
            <p:nvPr/>
          </p:nvSpPr>
          <p:spPr>
            <a:xfrm>
              <a:off x="7086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-1</a:t>
              </a:r>
            </a:p>
          </p:txBody>
        </p:sp>
        <p:sp>
          <p:nvSpPr>
            <p:cNvPr id="37" name="Rectangle 36">
              <a:extLst>
                <a:ext uri="{FF2B5EF4-FFF2-40B4-BE49-F238E27FC236}">
                  <a16:creationId xmlns:a16="http://schemas.microsoft.com/office/drawing/2014/main" id="{6F4FDAB1-D6CE-4D60-B292-BD52F3D15A4A}"/>
                </a:ext>
              </a:extLst>
            </p:cNvPr>
            <p:cNvSpPr/>
            <p:nvPr/>
          </p:nvSpPr>
          <p:spPr>
            <a:xfrm>
              <a:off x="7467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a:t>
              </a:r>
            </a:p>
          </p:txBody>
        </p:sp>
        <p:sp>
          <p:nvSpPr>
            <p:cNvPr id="38" name="Rectangle 37">
              <a:extLst>
                <a:ext uri="{FF2B5EF4-FFF2-40B4-BE49-F238E27FC236}">
                  <a16:creationId xmlns:a16="http://schemas.microsoft.com/office/drawing/2014/main" id="{8D3F456C-059B-45F5-8457-D9A999F1DEFD}"/>
                </a:ext>
              </a:extLst>
            </p:cNvPr>
            <p:cNvSpPr/>
            <p:nvPr/>
          </p:nvSpPr>
          <p:spPr>
            <a:xfrm>
              <a:off x="7848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-B</a:t>
              </a:r>
            </a:p>
          </p:txBody>
        </p:sp>
        <p:sp>
          <p:nvSpPr>
            <p:cNvPr id="39" name="Rectangle 38">
              <a:extLst>
                <a:ext uri="{FF2B5EF4-FFF2-40B4-BE49-F238E27FC236}">
                  <a16:creationId xmlns:a16="http://schemas.microsoft.com/office/drawing/2014/main" id="{7F83C610-C39D-4357-95E7-07EDCD029442}"/>
                </a:ext>
              </a:extLst>
            </p:cNvPr>
            <p:cNvSpPr/>
            <p:nvPr/>
          </p:nvSpPr>
          <p:spPr>
            <a:xfrm>
              <a:off x="6324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1</a:t>
              </a:r>
            </a:p>
          </p:txBody>
        </p:sp>
        <p:sp>
          <p:nvSpPr>
            <p:cNvPr id="40" name="Rectangle 39">
              <a:extLst>
                <a:ext uri="{FF2B5EF4-FFF2-40B4-BE49-F238E27FC236}">
                  <a16:creationId xmlns:a16="http://schemas.microsoft.com/office/drawing/2014/main" id="{1C1AEE38-0B0C-4EDF-838A-F0ED8B18BC79}"/>
                </a:ext>
              </a:extLst>
            </p:cNvPr>
            <p:cNvSpPr/>
            <p:nvPr/>
          </p:nvSpPr>
          <p:spPr>
            <a:xfrm>
              <a:off x="6705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0</a:t>
              </a:r>
            </a:p>
          </p:txBody>
        </p:sp>
        <p:sp>
          <p:nvSpPr>
            <p:cNvPr id="41" name="Rectangle 40">
              <a:extLst>
                <a:ext uri="{FF2B5EF4-FFF2-40B4-BE49-F238E27FC236}">
                  <a16:creationId xmlns:a16="http://schemas.microsoft.com/office/drawing/2014/main" id="{B2C2ECDB-200B-437A-B435-3C2B94410E41}"/>
                </a:ext>
              </a:extLst>
            </p:cNvPr>
            <p:cNvSpPr/>
            <p:nvPr/>
          </p:nvSpPr>
          <p:spPr>
            <a:xfrm>
              <a:off x="5943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Definition of ap_fixed type</a:t>
            </a:r>
          </a:p>
        </p:txBody>
      </p:sp>
      <p:sp>
        <p:nvSpPr>
          <p:cNvPr id="25" name="Slide Number Placeholder 24"/>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26</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sz="1800" dirty="0"/>
              <a:t>Fixed point types are specified by</a:t>
            </a:r>
          </a:p>
          <a:p>
            <a:pPr lvl="1"/>
            <a:r>
              <a:rPr lang="en-US" sz="1400" dirty="0"/>
              <a:t>Total bit width (W)</a:t>
            </a:r>
          </a:p>
          <a:p>
            <a:pPr lvl="1"/>
            <a:r>
              <a:rPr lang="en-US" sz="1400" dirty="0"/>
              <a:t>The number of integer bits (I)</a:t>
            </a:r>
          </a:p>
          <a:p>
            <a:pPr lvl="1"/>
            <a:r>
              <a:rPr lang="en-US" sz="1400" dirty="0"/>
              <a:t>The quantization/rounding mode (Q)</a:t>
            </a:r>
          </a:p>
          <a:p>
            <a:pPr lvl="1"/>
            <a:r>
              <a:rPr lang="en-US" sz="1400" dirty="0"/>
              <a:t>The overflow/saturation mode (O)</a:t>
            </a:r>
          </a:p>
          <a:p>
            <a:pPr lvl="1"/>
            <a:r>
              <a:rPr lang="en-US" sz="1400" dirty="0"/>
              <a:t>The number of saturation bits</a:t>
            </a:r>
          </a:p>
        </p:txBody>
      </p:sp>
      <p:sp>
        <p:nvSpPr>
          <p:cNvPr id="26" name="Slide Number Placeholder 4"/>
          <p:cNvSpPr txBox="1">
            <a:spLocks/>
          </p:cNvSpPr>
          <p:nvPr/>
        </p:nvSpPr>
        <p:spPr>
          <a:xfrm>
            <a:off x="661830" y="65255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26</a:t>
            </a:fld>
            <a:endParaRPr lang="en-US" sz="1000" dirty="0">
              <a:solidFill>
                <a:srgbClr val="FFFFFF"/>
              </a:solidFill>
              <a:latin typeface="Arial" charset="0"/>
              <a:ea typeface="ＭＳ Ｐゴシック" pitchFamily="34" charset="-128"/>
              <a:cs typeface="Arial" charset="0"/>
            </a:endParaRPr>
          </a:p>
        </p:txBody>
      </p:sp>
      <p:graphicFrame>
        <p:nvGraphicFramePr>
          <p:cNvPr id="27" name="Table 26">
            <a:extLst>
              <a:ext uri="{FF2B5EF4-FFF2-40B4-BE49-F238E27FC236}">
                <a16:creationId xmlns:a16="http://schemas.microsoft.com/office/drawing/2014/main" id="{7FEFE0FF-4BA2-4A93-B12D-0A1C5AF9E9AC}"/>
              </a:ext>
            </a:extLst>
          </p:cNvPr>
          <p:cNvGraphicFramePr>
            <a:graphicFrameLocks noGrp="1"/>
          </p:cNvGraphicFramePr>
          <p:nvPr/>
        </p:nvGraphicFramePr>
        <p:xfrm>
          <a:off x="796901" y="3082137"/>
          <a:ext cx="10750601" cy="3324437"/>
        </p:xfrm>
        <a:graphic>
          <a:graphicData uri="http://schemas.openxmlformats.org/drawingml/2006/table">
            <a:tbl>
              <a:tblPr/>
              <a:tblGrid>
                <a:gridCol w="767900">
                  <a:extLst>
                    <a:ext uri="{9D8B030D-6E8A-4147-A177-3AD203B41FA5}">
                      <a16:colId xmlns:a16="http://schemas.microsoft.com/office/drawing/2014/main" val="20000"/>
                    </a:ext>
                  </a:extLst>
                </a:gridCol>
                <a:gridCol w="3358644">
                  <a:extLst>
                    <a:ext uri="{9D8B030D-6E8A-4147-A177-3AD203B41FA5}">
                      <a16:colId xmlns:a16="http://schemas.microsoft.com/office/drawing/2014/main" val="20001"/>
                    </a:ext>
                  </a:extLst>
                </a:gridCol>
                <a:gridCol w="6624057">
                  <a:extLst>
                    <a:ext uri="{9D8B030D-6E8A-4147-A177-3AD203B41FA5}">
                      <a16:colId xmlns:a16="http://schemas.microsoft.com/office/drawing/2014/main" val="20002"/>
                    </a:ext>
                  </a:extLst>
                </a:gridCol>
              </a:tblGrid>
              <a:tr h="148733">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solidFill>
                            <a:srgbClr val="FFFFFF"/>
                          </a:solidFill>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hMerge="1">
                  <a:txBody>
                    <a:bodyPr/>
                    <a:lstStyle/>
                    <a:p>
                      <a:endParaRPr lang="en-US"/>
                    </a:p>
                  </a:txBody>
                  <a:tcPr/>
                </a:tc>
                <a:extLst>
                  <a:ext uri="{0D108BD9-81ED-4DB2-BD59-A6C34878D82A}">
                    <a16:rowId xmlns:a16="http://schemas.microsoft.com/office/drawing/2014/main" val="10000"/>
                  </a:ext>
                </a:extLst>
              </a:tr>
              <a:tr h="106860">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W</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Word length in bits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01"/>
                  </a:ext>
                </a:extLst>
              </a:tr>
              <a:tr h="213721">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I</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The number of bits  used to represent the integer value (the number of bits above the decimal point)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hMerge="1">
                  <a:txBody>
                    <a:bodyPr/>
                    <a:lstStyle/>
                    <a:p>
                      <a:endParaRPr lang="en-US"/>
                    </a:p>
                  </a:txBody>
                  <a:tcPr/>
                </a:tc>
                <a:extLst>
                  <a:ext uri="{0D108BD9-81ED-4DB2-BD59-A6C34878D82A}">
                    <a16:rowId xmlns:a16="http://schemas.microsoft.com/office/drawing/2014/main" val="10002"/>
                  </a:ext>
                </a:extLst>
              </a:tr>
              <a:tr h="306195">
                <a:tc rowSpan="9">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Q</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Quantization mode  (modes detailed below) dictates the behavior when greater precision is generated than can be defined by the LSBs.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03"/>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AP_Fixed Mode</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4"/>
                  </a:ext>
                </a:extLst>
              </a:tr>
              <a:tr h="124472">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plus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5"/>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6"/>
                  </a:ext>
                </a:extLst>
              </a:tr>
              <a:tr h="129259">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AP_RND_MIN_INF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minus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7"/>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AP_RND_INF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Rounding to infinity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08"/>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AP_RND_CONV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Convergent rounding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09"/>
                  </a:ext>
                </a:extLst>
              </a:tr>
              <a:tr h="138833">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AP_TRN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highlight>
                            <a:srgbClr val="FFFF00"/>
                          </a:highlight>
                          <a:latin typeface="Verdana"/>
                          <a:ea typeface="Calibri"/>
                          <a:cs typeface="Times New Roman"/>
                        </a:rPr>
                        <a:t>Truncation to minus infinity(default)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0"/>
                  </a:ext>
                </a:extLst>
              </a:tr>
              <a:tr h="134047">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AP_TRN_ZERO </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highlight>
                            <a:srgbClr val="FFFF00"/>
                          </a:highlight>
                          <a:latin typeface="Verdana"/>
                          <a:ea typeface="Calibri"/>
                          <a:cs typeface="Times New Roman"/>
                        </a:rPr>
                        <a:t>Truncation to 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1"/>
                  </a:ext>
                </a:extLst>
              </a:tr>
              <a:tr h="213721">
                <a:tc rowSpan="7">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O</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Overflow mode (modes detailed below) dictates the behavior when more bits are required than the word contains.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hMerge="1">
                  <a:txBody>
                    <a:bodyPr/>
                    <a:lstStyle/>
                    <a:p>
                      <a:endParaRPr lang="en-US"/>
                    </a:p>
                  </a:txBody>
                  <a:tcPr/>
                </a:tc>
                <a:extLst>
                  <a:ext uri="{0D108BD9-81ED-4DB2-BD59-A6C34878D82A}">
                    <a16:rowId xmlns:a16="http://schemas.microsoft.com/office/drawing/2014/main" val="10012"/>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AP_Fixed Mode</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b="1" dirty="0">
                          <a:latin typeface="Verdana"/>
                          <a:ea typeface="Calibri"/>
                          <a:cs typeface="Times New Roman"/>
                        </a:rPr>
                        <a:t>Description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3"/>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Saturation</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4"/>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AP_SAT_ZERO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Saturation to zero</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5"/>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AP_SAT_SYM</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Symmetrical saturation</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6"/>
                  </a:ext>
                </a:extLst>
              </a:tr>
              <a:tr h="106860">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AP_WRAP</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Wrap around (default)</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extLst>
                  <a:ext uri="{0D108BD9-81ED-4DB2-BD59-A6C34878D82A}">
                    <a16:rowId xmlns:a16="http://schemas.microsoft.com/office/drawing/2014/main" val="10017"/>
                  </a:ext>
                </a:extLst>
              </a:tr>
              <a:tr h="124472">
                <a:tc vMerge="1">
                  <a:txBody>
                    <a:bodyPr/>
                    <a:lstStyle/>
                    <a:p>
                      <a:endParaRPr lang="en-US"/>
                    </a:p>
                  </a:txBody>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AP_WRAP_SM</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Sign magnitude wrap around</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D3DFEE"/>
                    </a:solidFill>
                  </a:tcPr>
                </a:tc>
                <a:extLst>
                  <a:ext uri="{0D108BD9-81ED-4DB2-BD59-A6C34878D82A}">
                    <a16:rowId xmlns:a16="http://schemas.microsoft.com/office/drawing/2014/main" val="10018"/>
                  </a:ext>
                </a:extLst>
              </a:tr>
              <a:tr h="106860">
                <a:tc>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ctr">
                        <a:spcBef>
                          <a:spcPts val="0"/>
                        </a:spcBef>
                        <a:spcAft>
                          <a:spcPts val="0"/>
                        </a:spcAft>
                      </a:pPr>
                      <a:r>
                        <a:rPr lang="en-US" sz="1000" b="1" dirty="0">
                          <a:solidFill>
                            <a:srgbClr val="FFFFFF"/>
                          </a:solidFill>
                          <a:latin typeface="Verdana"/>
                          <a:ea typeface="Calibri"/>
                          <a:cs typeface="Times New Roman"/>
                        </a:rPr>
                        <a:t>N</a:t>
                      </a:r>
                      <a:endParaRPr lang="en-US" sz="1000" dirty="0">
                        <a:latin typeface="Verdana"/>
                        <a:ea typeface="Calibri"/>
                        <a:cs typeface="Times New Roman"/>
                      </a:endParaRP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gridSpan="2">
                  <a:txBody>
                    <a:bodyPr/>
                    <a:lstStyle>
                      <a:lvl1pPr marL="0" algn="l" defTabSz="914126" rtl="0" eaLnBrk="1" latinLnBrk="0" hangingPunct="1">
                        <a:defRPr sz="1799" kern="1200">
                          <a:solidFill>
                            <a:schemeClr val="tx1"/>
                          </a:solidFill>
                          <a:latin typeface="Arial"/>
                        </a:defRPr>
                      </a:lvl1pPr>
                      <a:lvl2pPr marL="457063" algn="l" defTabSz="914126" rtl="0" eaLnBrk="1" latinLnBrk="0" hangingPunct="1">
                        <a:defRPr sz="1799" kern="1200">
                          <a:solidFill>
                            <a:schemeClr val="tx1"/>
                          </a:solidFill>
                          <a:latin typeface="Arial"/>
                        </a:defRPr>
                      </a:lvl2pPr>
                      <a:lvl3pPr marL="914126" algn="l" defTabSz="914126" rtl="0" eaLnBrk="1" latinLnBrk="0" hangingPunct="1">
                        <a:defRPr sz="1799" kern="1200">
                          <a:solidFill>
                            <a:schemeClr val="tx1"/>
                          </a:solidFill>
                          <a:latin typeface="Arial"/>
                        </a:defRPr>
                      </a:lvl3pPr>
                      <a:lvl4pPr marL="1371189" algn="l" defTabSz="914126" rtl="0" eaLnBrk="1" latinLnBrk="0" hangingPunct="1">
                        <a:defRPr sz="1799" kern="1200">
                          <a:solidFill>
                            <a:schemeClr val="tx1"/>
                          </a:solidFill>
                          <a:latin typeface="Arial"/>
                        </a:defRPr>
                      </a:lvl4pPr>
                      <a:lvl5pPr marL="1828251" algn="l" defTabSz="914126" rtl="0" eaLnBrk="1" latinLnBrk="0" hangingPunct="1">
                        <a:defRPr sz="1799" kern="1200">
                          <a:solidFill>
                            <a:schemeClr val="tx1"/>
                          </a:solidFill>
                          <a:latin typeface="Arial"/>
                        </a:defRPr>
                      </a:lvl5pPr>
                      <a:lvl6pPr marL="2285314" algn="l" defTabSz="914126" rtl="0" eaLnBrk="1" latinLnBrk="0" hangingPunct="1">
                        <a:defRPr sz="1799" kern="1200">
                          <a:solidFill>
                            <a:schemeClr val="tx1"/>
                          </a:solidFill>
                          <a:latin typeface="Arial"/>
                        </a:defRPr>
                      </a:lvl6pPr>
                      <a:lvl7pPr marL="2742377" algn="l" defTabSz="914126" rtl="0" eaLnBrk="1" latinLnBrk="0" hangingPunct="1">
                        <a:defRPr sz="1799" kern="1200">
                          <a:solidFill>
                            <a:schemeClr val="tx1"/>
                          </a:solidFill>
                          <a:latin typeface="Arial"/>
                        </a:defRPr>
                      </a:lvl7pPr>
                      <a:lvl8pPr marL="3199440" algn="l" defTabSz="914126" rtl="0" eaLnBrk="1" latinLnBrk="0" hangingPunct="1">
                        <a:defRPr sz="1799" kern="1200">
                          <a:solidFill>
                            <a:schemeClr val="tx1"/>
                          </a:solidFill>
                          <a:latin typeface="Arial"/>
                        </a:defRPr>
                      </a:lvl8pPr>
                      <a:lvl9pPr marL="3656503" algn="l" defTabSz="914126" rtl="0" eaLnBrk="1" latinLnBrk="0" hangingPunct="1">
                        <a:defRPr sz="1799" kern="1200">
                          <a:solidFill>
                            <a:schemeClr val="tx1"/>
                          </a:solidFill>
                          <a:latin typeface="Arial"/>
                        </a:defRPr>
                      </a:lvl9pPr>
                    </a:lstStyle>
                    <a:p>
                      <a:pPr marL="0" marR="0" algn="just">
                        <a:spcBef>
                          <a:spcPts val="0"/>
                        </a:spcBef>
                        <a:spcAft>
                          <a:spcPts val="0"/>
                        </a:spcAft>
                      </a:pPr>
                      <a:r>
                        <a:rPr lang="en-US" sz="1000" dirty="0">
                          <a:latin typeface="Verdana"/>
                          <a:ea typeface="Calibri"/>
                          <a:cs typeface="Times New Roman"/>
                        </a:rPr>
                        <a:t>The number of saturation bits in wrap modes.</a:t>
                      </a:r>
                    </a:p>
                  </a:txBody>
                  <a:tcPr marL="7437" marR="7437"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A7BFDE"/>
                    </a:solidFill>
                  </a:tcPr>
                </a:tc>
                <a:tc hMerge="1">
                  <a:txBody>
                    <a:bodyPr/>
                    <a:lstStyle/>
                    <a:p>
                      <a:endParaRPr lang="en-US"/>
                    </a:p>
                  </a:txBody>
                  <a:tcPr/>
                </a:tc>
                <a:extLst>
                  <a:ext uri="{0D108BD9-81ED-4DB2-BD59-A6C34878D82A}">
                    <a16:rowId xmlns:a16="http://schemas.microsoft.com/office/drawing/2014/main" val="10019"/>
                  </a:ext>
                </a:extLst>
              </a:tr>
            </a:tbl>
          </a:graphicData>
        </a:graphic>
      </p:graphicFrame>
      <p:sp>
        <p:nvSpPr>
          <p:cNvPr id="30" name="TextBox 29">
            <a:extLst>
              <a:ext uri="{FF2B5EF4-FFF2-40B4-BE49-F238E27FC236}">
                <a16:creationId xmlns:a16="http://schemas.microsoft.com/office/drawing/2014/main" id="{DA1FECAF-D848-479E-9098-B4912E658089}"/>
              </a:ext>
            </a:extLst>
          </p:cNvPr>
          <p:cNvSpPr txBox="1"/>
          <p:nvPr/>
        </p:nvSpPr>
        <p:spPr>
          <a:xfrm>
            <a:off x="8378534" y="2769976"/>
            <a:ext cx="2150120" cy="246221"/>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000" b="1" kern="0" dirty="0">
                <a:solidFill>
                  <a:srgbClr val="000000"/>
                </a:solidFill>
                <a:latin typeface="Arial"/>
              </a:rPr>
              <a:t>Binary point  : W = I + B</a:t>
            </a:r>
          </a:p>
        </p:txBody>
      </p:sp>
      <p:cxnSp>
        <p:nvCxnSpPr>
          <p:cNvPr id="31" name="Straight Arrow Connector 30">
            <a:extLst>
              <a:ext uri="{FF2B5EF4-FFF2-40B4-BE49-F238E27FC236}">
                <a16:creationId xmlns:a16="http://schemas.microsoft.com/office/drawing/2014/main" id="{74A497F1-3DC0-400F-97CA-23C33A510064}"/>
              </a:ext>
            </a:extLst>
          </p:cNvPr>
          <p:cNvCxnSpPr/>
          <p:nvPr/>
        </p:nvCxnSpPr>
        <p:spPr>
          <a:xfrm flipV="1">
            <a:off x="9504787" y="2478525"/>
            <a:ext cx="0" cy="238326"/>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32" name="TextBox 31">
            <a:extLst>
              <a:ext uri="{FF2B5EF4-FFF2-40B4-BE49-F238E27FC236}">
                <a16:creationId xmlns:a16="http://schemas.microsoft.com/office/drawing/2014/main" id="{8F821EB7-0FB4-458B-80B9-731480D1D60C}"/>
              </a:ext>
            </a:extLst>
          </p:cNvPr>
          <p:cNvSpPr txBox="1"/>
          <p:nvPr/>
        </p:nvSpPr>
        <p:spPr>
          <a:xfrm>
            <a:off x="7682993" y="1760923"/>
            <a:ext cx="3429955" cy="27699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ap_[u]fixed&lt;W, I , Q, O , N&gt; 	</a:t>
            </a:r>
          </a:p>
        </p:txBody>
      </p:sp>
      <p:grpSp>
        <p:nvGrpSpPr>
          <p:cNvPr id="34" name="Group 44">
            <a:extLst>
              <a:ext uri="{FF2B5EF4-FFF2-40B4-BE49-F238E27FC236}">
                <a16:creationId xmlns:a16="http://schemas.microsoft.com/office/drawing/2014/main" id="{DEB6E936-3A7E-45D2-930C-FCD82562B9A2}"/>
              </a:ext>
            </a:extLst>
          </p:cNvPr>
          <p:cNvGrpSpPr>
            <a:grpSpLocks/>
          </p:cNvGrpSpPr>
          <p:nvPr/>
        </p:nvGrpSpPr>
        <p:grpSpPr bwMode="auto">
          <a:xfrm>
            <a:off x="8194929" y="2171285"/>
            <a:ext cx="2254777" cy="255902"/>
            <a:chOff x="5562282" y="5151438"/>
            <a:chExt cx="2636837" cy="449262"/>
          </a:xfrm>
        </p:grpSpPr>
        <p:sp>
          <p:nvSpPr>
            <p:cNvPr id="35" name="Rectangle 34">
              <a:extLst>
                <a:ext uri="{FF2B5EF4-FFF2-40B4-BE49-F238E27FC236}">
                  <a16:creationId xmlns:a16="http://schemas.microsoft.com/office/drawing/2014/main" id="{31BF3C40-ACBF-4EDC-A088-C93FFB502D9E}"/>
                </a:ext>
              </a:extLst>
            </p:cNvPr>
            <p:cNvSpPr/>
            <p:nvPr/>
          </p:nvSpPr>
          <p:spPr>
            <a:xfrm>
              <a:off x="5562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I-1</a:t>
              </a:r>
            </a:p>
          </p:txBody>
        </p:sp>
        <p:sp>
          <p:nvSpPr>
            <p:cNvPr id="36" name="Rectangle 35">
              <a:extLst>
                <a:ext uri="{FF2B5EF4-FFF2-40B4-BE49-F238E27FC236}">
                  <a16:creationId xmlns:a16="http://schemas.microsoft.com/office/drawing/2014/main" id="{346D6D78-57F6-44B7-82B0-C30FCAD3CD28}"/>
                </a:ext>
              </a:extLst>
            </p:cNvPr>
            <p:cNvSpPr/>
            <p:nvPr/>
          </p:nvSpPr>
          <p:spPr>
            <a:xfrm>
              <a:off x="7086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-1</a:t>
              </a:r>
            </a:p>
          </p:txBody>
        </p:sp>
        <p:sp>
          <p:nvSpPr>
            <p:cNvPr id="37" name="Rectangle 36">
              <a:extLst>
                <a:ext uri="{FF2B5EF4-FFF2-40B4-BE49-F238E27FC236}">
                  <a16:creationId xmlns:a16="http://schemas.microsoft.com/office/drawing/2014/main" id="{6F4FDAB1-D6CE-4D60-B292-BD52F3D15A4A}"/>
                </a:ext>
              </a:extLst>
            </p:cNvPr>
            <p:cNvSpPr/>
            <p:nvPr/>
          </p:nvSpPr>
          <p:spPr>
            <a:xfrm>
              <a:off x="7467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a:t>
              </a:r>
            </a:p>
          </p:txBody>
        </p:sp>
        <p:sp>
          <p:nvSpPr>
            <p:cNvPr id="38" name="Rectangle 37">
              <a:extLst>
                <a:ext uri="{FF2B5EF4-FFF2-40B4-BE49-F238E27FC236}">
                  <a16:creationId xmlns:a16="http://schemas.microsoft.com/office/drawing/2014/main" id="{8D3F456C-059B-45F5-8457-D9A999F1DEFD}"/>
                </a:ext>
              </a:extLst>
            </p:cNvPr>
            <p:cNvSpPr/>
            <p:nvPr/>
          </p:nvSpPr>
          <p:spPr>
            <a:xfrm>
              <a:off x="7848282" y="5151438"/>
              <a:ext cx="350837" cy="449262"/>
            </a:xfrm>
            <a:prstGeom prst="rect">
              <a:avLst/>
            </a:prstGeom>
            <a:gradFill rotWithShape="1">
              <a:gsLst>
                <a:gs pos="0">
                  <a:srgbClr val="6D7076">
                    <a:lumMod val="75000"/>
                  </a:srgbClr>
                </a:gs>
                <a:gs pos="100000">
                  <a:srgbClr val="6D7076">
                    <a:lumMod val="60000"/>
                    <a:lumOff val="40000"/>
                  </a:srgbClr>
                </a:gs>
              </a:gsLst>
              <a:lin ang="16200000" scaled="0"/>
            </a:gradFill>
            <a:ln w="9525" cap="flat" cmpd="sng" algn="ctr">
              <a:solidFill>
                <a:srgbClr val="6D7076">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-B</a:t>
              </a:r>
            </a:p>
          </p:txBody>
        </p:sp>
        <p:sp>
          <p:nvSpPr>
            <p:cNvPr id="39" name="Rectangle 38">
              <a:extLst>
                <a:ext uri="{FF2B5EF4-FFF2-40B4-BE49-F238E27FC236}">
                  <a16:creationId xmlns:a16="http://schemas.microsoft.com/office/drawing/2014/main" id="{7F83C610-C39D-4357-95E7-07EDCD029442}"/>
                </a:ext>
              </a:extLst>
            </p:cNvPr>
            <p:cNvSpPr/>
            <p:nvPr/>
          </p:nvSpPr>
          <p:spPr>
            <a:xfrm>
              <a:off x="6324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1</a:t>
              </a:r>
            </a:p>
          </p:txBody>
        </p:sp>
        <p:sp>
          <p:nvSpPr>
            <p:cNvPr id="40" name="Rectangle 39">
              <a:extLst>
                <a:ext uri="{FF2B5EF4-FFF2-40B4-BE49-F238E27FC236}">
                  <a16:creationId xmlns:a16="http://schemas.microsoft.com/office/drawing/2014/main" id="{1C1AEE38-0B0C-4EDF-838A-F0ED8B18BC79}"/>
                </a:ext>
              </a:extLst>
            </p:cNvPr>
            <p:cNvSpPr/>
            <p:nvPr/>
          </p:nvSpPr>
          <p:spPr>
            <a:xfrm>
              <a:off x="6705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0</a:t>
              </a:r>
            </a:p>
          </p:txBody>
        </p:sp>
        <p:sp>
          <p:nvSpPr>
            <p:cNvPr id="41" name="Rectangle 40">
              <a:extLst>
                <a:ext uri="{FF2B5EF4-FFF2-40B4-BE49-F238E27FC236}">
                  <a16:creationId xmlns:a16="http://schemas.microsoft.com/office/drawing/2014/main" id="{B2C2ECDB-200B-437A-B435-3C2B94410E41}"/>
                </a:ext>
              </a:extLst>
            </p:cNvPr>
            <p:cNvSpPr/>
            <p:nvPr/>
          </p:nvSpPr>
          <p:spPr>
            <a:xfrm>
              <a:off x="5943282" y="5151438"/>
              <a:ext cx="350837" cy="449262"/>
            </a:xfrm>
            <a:prstGeom prst="rect">
              <a:avLst/>
            </a:prstGeom>
            <a:gradFill rotWithShape="1">
              <a:gsLst>
                <a:gs pos="0">
                  <a:srgbClr val="B20838">
                    <a:lumMod val="75000"/>
                  </a:srgbClr>
                </a:gs>
                <a:gs pos="100000">
                  <a:srgbClr val="B20838">
                    <a:lumMod val="40000"/>
                    <a:lumOff val="60000"/>
                  </a:srgbClr>
                </a:gs>
              </a:gsLst>
              <a:lin ang="16200000" scaled="0"/>
            </a:gradFill>
            <a:ln w="9525" cap="flat" cmpd="sng" algn="ctr">
              <a:solidFill>
                <a:srgbClr val="B20838">
                  <a:lumMod val="50000"/>
                </a:srgbClr>
              </a:solidFill>
              <a:prstDash val="solid"/>
            </a:ln>
            <a:effectLst>
              <a:outerShdw blurRad="40000" dist="23000" dir="5400000" rotWithShape="0">
                <a:srgbClr val="000000">
                  <a:alpha val="35000"/>
                </a:srgbClr>
              </a:outerShdw>
            </a:effectLst>
          </p:spPr>
          <p:txBody>
            <a:bodyPr lIns="0" rIns="0" anchor="ctr"/>
            <a:lstStyle/>
            <a:p>
              <a:pPr algn="ctr" defTabSz="914400" fontAlgn="base">
                <a:spcBef>
                  <a:spcPct val="0"/>
                </a:spcBef>
                <a:spcAft>
                  <a:spcPct val="0"/>
                </a:spcAft>
                <a:defRPr/>
              </a:pPr>
              <a:r>
                <a:rPr lang="en-US" sz="700" b="1" kern="0" dirty="0">
                  <a:solidFill>
                    <a:srgbClr val="FFFFFF"/>
                  </a:solidFill>
                  <a:latin typeface="Arial"/>
                </a:rPr>
                <a:t>…</a:t>
              </a: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a:t>
            </a:r>
          </a:p>
        </p:txBody>
      </p:sp>
      <p:sp>
        <p:nvSpPr>
          <p:cNvPr id="9" name="Slide Number Placeholder 8"/>
          <p:cNvSpPr>
            <a:spLocks noGrp="1"/>
          </p:cNvSpPr>
          <p:nvPr>
            <p:ph type="sldNum" sz="quarter" idx="10"/>
          </p:nvPr>
        </p:nvSpPr>
        <p:spPr>
          <a:xfrm>
            <a:off x="579120" y="6325606"/>
            <a:ext cx="1440179" cy="365125"/>
          </a:xfrm>
        </p:spPr>
        <p:txBody>
          <a:bodyPr/>
          <a:lstStyle/>
          <a:p>
            <a:pPr>
              <a:defRPr/>
            </a:pPr>
            <a:r>
              <a:rPr lang="en-US" dirty="0"/>
              <a:t>Data Types 14- </a:t>
            </a:r>
            <a:fld id="{060BD193-E118-4B16-863C-C8C12C675E3E}" type="slidenum">
              <a:rPr lang="en-US" smtClean="0"/>
              <a:pPr>
                <a:defRPr/>
              </a:pPr>
              <a:t>27</a:t>
            </a:fld>
            <a:endParaRPr lang="en-US" dirty="0"/>
          </a:p>
        </p:txBody>
      </p:sp>
      <p:sp>
        <p:nvSpPr>
          <p:cNvPr id="3" name="Content Placeholder 2"/>
          <p:cNvSpPr>
            <a:spLocks noGrp="1"/>
          </p:cNvSpPr>
          <p:nvPr>
            <p:ph idx="4294967295"/>
          </p:nvPr>
        </p:nvSpPr>
        <p:spPr>
          <a:xfrm>
            <a:off x="579121" y="1327150"/>
            <a:ext cx="11033760" cy="4268788"/>
          </a:xfrm>
        </p:spPr>
        <p:txBody>
          <a:bodyPr>
            <a:normAutofit lnSpcReduction="10000"/>
          </a:bodyPr>
          <a:lstStyle/>
          <a:p>
            <a:r>
              <a:rPr lang="en-US" dirty="0"/>
              <a:t>Quantization mode </a:t>
            </a:r>
          </a:p>
          <a:p>
            <a:pPr lvl="1"/>
            <a:r>
              <a:rPr lang="en-US" dirty="0"/>
              <a:t>Determines the behavior when an operation generates more precision in the LSBs than is available</a:t>
            </a:r>
          </a:p>
          <a:p>
            <a:endParaRPr lang="en-US" dirty="0"/>
          </a:p>
          <a:p>
            <a:r>
              <a:rPr lang="en-US" dirty="0"/>
              <a:t>Quantization Modes (rounding): </a:t>
            </a:r>
          </a:p>
          <a:p>
            <a:pPr lvl="1"/>
            <a:r>
              <a:rPr lang="en-US" dirty="0"/>
              <a:t>AP_RND, AP_RND_MIN_IF, AP_RND_IF</a:t>
            </a:r>
          </a:p>
          <a:p>
            <a:pPr lvl="1"/>
            <a:r>
              <a:rPr lang="en-US" dirty="0"/>
              <a:t>AP_RND_ZERO,  AP_RND_CONV</a:t>
            </a:r>
          </a:p>
          <a:p>
            <a:endParaRPr lang="en-US" dirty="0"/>
          </a:p>
          <a:p>
            <a:r>
              <a:rPr lang="en-US" dirty="0"/>
              <a:t>Quantization Modes (truncation): </a:t>
            </a:r>
          </a:p>
          <a:p>
            <a:pPr lvl="1"/>
            <a:r>
              <a:rPr lang="en-US" dirty="0"/>
              <a:t>AP_TRN, AP_TRN_ZERO</a:t>
            </a:r>
          </a:p>
          <a:p>
            <a:pPr lvl="1"/>
            <a:endParaRPr lang="en-US" dirty="0"/>
          </a:p>
          <a:p>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28</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Quantization mode </a:t>
            </a:r>
          </a:p>
          <a:p>
            <a:pPr lvl="1"/>
            <a:r>
              <a:rPr lang="en-US" dirty="0"/>
              <a:t>Determines the behavior when an operation generates more precision in the LSBs than is available</a:t>
            </a:r>
          </a:p>
          <a:p>
            <a:endParaRPr lang="en-US" dirty="0"/>
          </a:p>
          <a:p>
            <a:r>
              <a:rPr lang="en-US" dirty="0"/>
              <a:t>Quantization Modes (rounding): </a:t>
            </a:r>
          </a:p>
          <a:p>
            <a:pPr lvl="1"/>
            <a:r>
              <a:rPr lang="en-US" dirty="0"/>
              <a:t>AP_RND, AP_RND_MIN_IF, AP_RND_IF</a:t>
            </a:r>
          </a:p>
          <a:p>
            <a:pPr lvl="1"/>
            <a:r>
              <a:rPr lang="en-US" dirty="0"/>
              <a:t>AP_RND_ZERO,  AP_RND_CONV</a:t>
            </a:r>
          </a:p>
          <a:p>
            <a:endParaRPr lang="en-US" dirty="0"/>
          </a:p>
          <a:p>
            <a:r>
              <a:rPr lang="en-US" dirty="0"/>
              <a:t>Quantization Modes (truncation): </a:t>
            </a:r>
          </a:p>
          <a:p>
            <a:pPr lvl="1"/>
            <a:r>
              <a:rPr lang="en-US" dirty="0"/>
              <a:t>AP_TRN, AP_TRN_ZERO</a:t>
            </a:r>
          </a:p>
          <a:p>
            <a:pPr lvl="1"/>
            <a:endParaRPr lang="en-US" dirty="0"/>
          </a:p>
          <a:p>
            <a:endParaRPr lang="en-US" dirty="0"/>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28</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 Rounding </a:t>
            </a:r>
          </a:p>
        </p:txBody>
      </p:sp>
      <p:sp>
        <p:nvSpPr>
          <p:cNvPr id="9" name="Slide Number Placeholder 8"/>
          <p:cNvSpPr>
            <a:spLocks noGrp="1"/>
          </p:cNvSpPr>
          <p:nvPr>
            <p:ph type="sldNum" sz="quarter" idx="10"/>
          </p:nvPr>
        </p:nvSpPr>
        <p:spPr>
          <a:xfrm>
            <a:off x="579120" y="6325606"/>
            <a:ext cx="1546859" cy="365125"/>
          </a:xfrm>
        </p:spPr>
        <p:txBody>
          <a:bodyPr/>
          <a:lstStyle/>
          <a:p>
            <a:pPr>
              <a:defRPr/>
            </a:pPr>
            <a:r>
              <a:rPr lang="en-US" dirty="0"/>
              <a:t>Data Types 14- </a:t>
            </a:r>
            <a:fld id="{060BD193-E118-4B16-863C-C8C12C675E3E}" type="slidenum">
              <a:rPr lang="en-US" smtClean="0"/>
              <a:pPr>
                <a:defRPr/>
              </a:pPr>
              <a:t>29</a:t>
            </a:fld>
            <a:endParaRPr lang="en-US" dirty="0"/>
          </a:p>
        </p:txBody>
      </p:sp>
      <p:sp>
        <p:nvSpPr>
          <p:cNvPr id="3" name="Content Placeholder 2"/>
          <p:cNvSpPr>
            <a:spLocks noGrp="1"/>
          </p:cNvSpPr>
          <p:nvPr>
            <p:ph idx="4294967295"/>
          </p:nvPr>
        </p:nvSpPr>
        <p:spPr>
          <a:xfrm>
            <a:off x="579121" y="1327150"/>
            <a:ext cx="11033760" cy="4268788"/>
          </a:xfrm>
        </p:spPr>
        <p:txBody>
          <a:bodyPr>
            <a:normAutofit fontScale="92500" lnSpcReduction="20000"/>
          </a:bodyPr>
          <a:lstStyle/>
          <a:p>
            <a:r>
              <a:rPr lang="en-US" dirty="0"/>
              <a:t>AP_RND_ZERO: rounding to zero</a:t>
            </a:r>
          </a:p>
          <a:p>
            <a:pPr lvl="1"/>
            <a:r>
              <a:rPr lang="en-US" dirty="0"/>
              <a:t>For positive numbers, the redundant bits are truncated</a:t>
            </a:r>
          </a:p>
          <a:p>
            <a:pPr lvl="1"/>
            <a:r>
              <a:rPr lang="en-US" dirty="0"/>
              <a:t>For negative numbers, add MSB of removed bits to the remaining bits. </a:t>
            </a:r>
          </a:p>
          <a:p>
            <a:pPr lvl="1"/>
            <a:r>
              <a:rPr lang="en-US" dirty="0"/>
              <a:t>The effect is to round towards zero.</a:t>
            </a:r>
          </a:p>
          <a:p>
            <a:pPr lvl="2"/>
            <a:r>
              <a:rPr lang="en-US" dirty="0"/>
              <a:t>01.01 (1.25 using 4 bits) rounds to 01.0 (1 using 3 bits)</a:t>
            </a:r>
          </a:p>
          <a:p>
            <a:pPr lvl="2"/>
            <a:r>
              <a:rPr lang="en-US" dirty="0"/>
              <a:t>10.11 (-1.25 using 4 bits) rounds to 11.0 (-1 using 3 bits)</a:t>
            </a:r>
          </a:p>
          <a:p>
            <a:pPr>
              <a:buNone/>
            </a:pPr>
            <a:endParaRPr lang="en-US" dirty="0"/>
          </a:p>
          <a:p>
            <a:r>
              <a:rPr lang="en-US" dirty="0"/>
              <a:t>AP_RND_CONV: rounded to the nearest value </a:t>
            </a:r>
          </a:p>
          <a:p>
            <a:pPr lvl="1"/>
            <a:r>
              <a:rPr lang="en-US" dirty="0"/>
              <a:t>The rounding depends on the least significant bit </a:t>
            </a:r>
          </a:p>
          <a:p>
            <a:pPr lvl="1"/>
            <a:r>
              <a:rPr lang="en-US" dirty="0"/>
              <a:t>If the least significant bit is set, rounding towards plus infinity </a:t>
            </a:r>
          </a:p>
          <a:p>
            <a:pPr lvl="1"/>
            <a:r>
              <a:rPr lang="en-US" dirty="0"/>
              <a:t>Otherwise, rounding towards minus infinity</a:t>
            </a:r>
          </a:p>
          <a:p>
            <a:pPr lvl="2"/>
            <a:r>
              <a:rPr lang="en-US" dirty="0"/>
              <a:t>00.11 ( 0.75 using 4-bit) rounds to 01.0 (1.0 using 3-bit)</a:t>
            </a:r>
          </a:p>
          <a:p>
            <a:pPr lvl="2"/>
            <a:r>
              <a:rPr lang="en-US" dirty="0"/>
              <a:t>10.11 (-1.25 using 4-bit) rounds to 11.0 (-1.0 using 3-bit)</a:t>
            </a:r>
          </a:p>
          <a:p>
            <a:endParaRPr lang="en-US" dirty="0"/>
          </a:p>
          <a:p>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 Rounding </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30</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lnSpcReduction="10000"/>
          </a:bodyPr>
          <a:lstStyle/>
          <a:p>
            <a:r>
              <a:rPr lang="en-US" dirty="0"/>
              <a:t>AP_RND_ZERO: rounding to zero</a:t>
            </a:r>
          </a:p>
          <a:p>
            <a:pPr lvl="1"/>
            <a:r>
              <a:rPr lang="en-US" dirty="0"/>
              <a:t>For positive numbers, the redundant bits are truncated</a:t>
            </a:r>
          </a:p>
          <a:p>
            <a:pPr lvl="1"/>
            <a:r>
              <a:rPr lang="en-US" dirty="0"/>
              <a:t>For negative numbers, add MSB of removed bits to the remaining bits. </a:t>
            </a:r>
          </a:p>
          <a:p>
            <a:pPr lvl="1"/>
            <a:r>
              <a:rPr lang="en-US" dirty="0"/>
              <a:t>The effect is to round towards zero.</a:t>
            </a:r>
          </a:p>
          <a:p>
            <a:pPr lvl="2"/>
            <a:r>
              <a:rPr lang="en-US" dirty="0"/>
              <a:t>01.01 (1.25 using 4 bits) rounds to 01.0 (1 using 3 bits)</a:t>
            </a:r>
          </a:p>
          <a:p>
            <a:pPr lvl="2"/>
            <a:r>
              <a:rPr lang="en-US" dirty="0">
                <a:solidFill>
                  <a:srgbClr val="FF0000"/>
                </a:solidFill>
              </a:rPr>
              <a:t>10.11 (-1.25 using 4 bits)</a:t>
            </a:r>
            <a:r>
              <a:rPr lang="en-US" dirty="0"/>
              <a:t> rounds to 11.0 (-1 using 3 bits)</a:t>
            </a:r>
          </a:p>
          <a:p>
            <a:pPr>
              <a:buNone/>
            </a:pPr>
            <a:endParaRPr lang="en-US" dirty="0"/>
          </a:p>
          <a:p>
            <a:r>
              <a:rPr lang="en-US" dirty="0"/>
              <a:t>AP_RND_CONV: rounded to the nearest value </a:t>
            </a:r>
          </a:p>
          <a:p>
            <a:pPr lvl="1"/>
            <a:r>
              <a:rPr lang="en-US" dirty="0"/>
              <a:t>The rounding depends on the least significant bit </a:t>
            </a:r>
          </a:p>
          <a:p>
            <a:pPr lvl="1"/>
            <a:r>
              <a:rPr lang="en-US" dirty="0"/>
              <a:t>If the least significant bit is set, rounding towards plus infinity </a:t>
            </a:r>
          </a:p>
          <a:p>
            <a:pPr lvl="1"/>
            <a:r>
              <a:rPr lang="en-US" dirty="0"/>
              <a:t>Otherwise, rounding towards minus infinity</a:t>
            </a:r>
          </a:p>
          <a:p>
            <a:pPr lvl="2"/>
            <a:r>
              <a:rPr lang="en-US" dirty="0"/>
              <a:t>00.11 ( 0.75 using 4-bit) rounds to 01.0 (1.0 using 3-bit)</a:t>
            </a:r>
          </a:p>
          <a:p>
            <a:pPr lvl="2"/>
            <a:r>
              <a:rPr lang="en-US" dirty="0">
                <a:solidFill>
                  <a:srgbClr val="FF0000"/>
                </a:solidFill>
              </a:rPr>
              <a:t>10.11 (-1.25 using 4-bit)</a:t>
            </a:r>
            <a:r>
              <a:rPr lang="en-US" dirty="0"/>
              <a:t> rounds to 11.0 (-1.0 using 3-bit)</a:t>
            </a:r>
          </a:p>
          <a:p>
            <a:endParaRPr lang="en-US" dirty="0"/>
          </a:p>
          <a:p>
            <a:endParaRPr lang="en-US" dirty="0"/>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30</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 Truncation</a:t>
            </a:r>
          </a:p>
        </p:txBody>
      </p:sp>
      <p:sp>
        <p:nvSpPr>
          <p:cNvPr id="9" name="Slide Number Placeholder 8"/>
          <p:cNvSpPr>
            <a:spLocks noGrp="1"/>
          </p:cNvSpPr>
          <p:nvPr>
            <p:ph type="sldNum" sz="quarter" idx="10"/>
          </p:nvPr>
        </p:nvSpPr>
        <p:spPr>
          <a:xfrm>
            <a:off x="579120" y="6325606"/>
            <a:ext cx="1821179" cy="365125"/>
          </a:xfrm>
        </p:spPr>
        <p:txBody>
          <a:bodyPr/>
          <a:lstStyle/>
          <a:p>
            <a:pPr>
              <a:defRPr/>
            </a:pPr>
            <a:r>
              <a:rPr lang="en-US" dirty="0"/>
              <a:t>Data Types 14- </a:t>
            </a:r>
            <a:fld id="{060BD193-E118-4B16-863C-C8C12C675E3E}" type="slidenum">
              <a:rPr lang="en-US" smtClean="0"/>
              <a:pPr>
                <a:defRPr/>
              </a:pPr>
              <a:t>31</a:t>
            </a:fld>
            <a:endParaRPr lang="en-US" dirty="0"/>
          </a:p>
        </p:txBody>
      </p:sp>
      <p:sp>
        <p:nvSpPr>
          <p:cNvPr id="3" name="Content Placeholder 2"/>
          <p:cNvSpPr>
            <a:spLocks noGrp="1"/>
          </p:cNvSpPr>
          <p:nvPr>
            <p:ph idx="4294967295"/>
          </p:nvPr>
        </p:nvSpPr>
        <p:spPr>
          <a:xfrm>
            <a:off x="579121" y="1327150"/>
            <a:ext cx="9966959" cy="4268788"/>
          </a:xfrm>
        </p:spPr>
        <p:txBody>
          <a:bodyPr>
            <a:normAutofit/>
          </a:bodyPr>
          <a:lstStyle/>
          <a:p>
            <a:r>
              <a:rPr lang="en-US" dirty="0"/>
              <a:t>AP_TRN: truncate</a:t>
            </a:r>
          </a:p>
          <a:p>
            <a:pPr lvl="1"/>
            <a:r>
              <a:rPr lang="en-US" dirty="0"/>
              <a:t>Remove redundant bits. Always rounds to minus infinity</a:t>
            </a:r>
          </a:p>
          <a:p>
            <a:pPr lvl="1"/>
            <a:r>
              <a:rPr lang="en-US" dirty="0"/>
              <a:t>This is the default.</a:t>
            </a:r>
          </a:p>
          <a:p>
            <a:pPr lvl="2"/>
            <a:r>
              <a:rPr lang="en-US" dirty="0"/>
              <a:t>01.01(1.25) </a:t>
            </a:r>
            <a:r>
              <a:rPr lang="en-US" dirty="0">
                <a:sym typeface="Wingdings" pitchFamily="2" charset="2"/>
              </a:rPr>
              <a:t></a:t>
            </a:r>
            <a:r>
              <a:rPr lang="en-US" dirty="0"/>
              <a:t> 01.0 (1)</a:t>
            </a:r>
          </a:p>
          <a:p>
            <a:pPr>
              <a:buNone/>
            </a:pPr>
            <a:r>
              <a:rPr lang="en-US" dirty="0"/>
              <a:t> </a:t>
            </a:r>
          </a:p>
          <a:p>
            <a:r>
              <a:rPr lang="en-US" dirty="0"/>
              <a:t>AP_TRN_ZERO: truncate to zero</a:t>
            </a:r>
          </a:p>
          <a:p>
            <a:pPr lvl="1"/>
            <a:r>
              <a:rPr lang="en-US" dirty="0"/>
              <a:t>For positive numbers, the same as AP_TRN</a:t>
            </a:r>
          </a:p>
          <a:p>
            <a:pPr lvl="2"/>
            <a:r>
              <a:rPr lang="en-US" dirty="0"/>
              <a:t>For positive numbers: 01.01(1.25) </a:t>
            </a:r>
            <a:r>
              <a:rPr lang="en-US" dirty="0">
                <a:sym typeface="Wingdings" pitchFamily="2" charset="2"/>
              </a:rPr>
              <a:t></a:t>
            </a:r>
            <a:r>
              <a:rPr lang="en-US" dirty="0"/>
              <a:t> 01.0(1)</a:t>
            </a:r>
          </a:p>
          <a:p>
            <a:pPr lvl="1"/>
            <a:r>
              <a:rPr lang="en-US" dirty="0"/>
              <a:t>For negative numbers, round to zero</a:t>
            </a:r>
          </a:p>
          <a:p>
            <a:pPr lvl="2"/>
            <a:r>
              <a:rPr lang="en-US" dirty="0"/>
              <a:t>For negative numbers: 10.11 (-1.25) </a:t>
            </a:r>
            <a:r>
              <a:rPr lang="en-US" dirty="0">
                <a:sym typeface="Wingdings" pitchFamily="2" charset="2"/>
              </a:rPr>
              <a:t></a:t>
            </a:r>
            <a:r>
              <a:rPr lang="en-US" dirty="0"/>
              <a:t> 11.0(-1)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Quantization Modes: Truncation</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32</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AP_TRN: truncate</a:t>
            </a:r>
          </a:p>
          <a:p>
            <a:pPr lvl="1"/>
            <a:r>
              <a:rPr lang="en-US" dirty="0"/>
              <a:t>Remove redundant bits. Always rounds to minus infinity</a:t>
            </a:r>
          </a:p>
          <a:p>
            <a:pPr lvl="1"/>
            <a:r>
              <a:rPr lang="en-US" dirty="0"/>
              <a:t>This is the default.</a:t>
            </a:r>
          </a:p>
          <a:p>
            <a:pPr lvl="2"/>
            <a:r>
              <a:rPr lang="en-US" dirty="0"/>
              <a:t>01.01(1.25) </a:t>
            </a:r>
            <a:r>
              <a:rPr lang="en-US" dirty="0">
                <a:sym typeface="Wingdings" pitchFamily="2" charset="2"/>
              </a:rPr>
              <a:t></a:t>
            </a:r>
            <a:r>
              <a:rPr lang="en-US" dirty="0"/>
              <a:t> 01.0 (1)</a:t>
            </a:r>
          </a:p>
          <a:p>
            <a:pPr>
              <a:buNone/>
            </a:pPr>
            <a:r>
              <a:rPr lang="en-US" dirty="0"/>
              <a:t> </a:t>
            </a:r>
          </a:p>
          <a:p>
            <a:r>
              <a:rPr lang="en-US" dirty="0"/>
              <a:t>AP_TRN_ZERO: truncate to zero</a:t>
            </a:r>
          </a:p>
          <a:p>
            <a:pPr lvl="1"/>
            <a:r>
              <a:rPr lang="en-US" dirty="0"/>
              <a:t>For positive numbers, the same as AP_TRN</a:t>
            </a:r>
          </a:p>
          <a:p>
            <a:pPr lvl="2"/>
            <a:r>
              <a:rPr lang="en-US" dirty="0"/>
              <a:t>For positive numbers: 01.01(1.25) </a:t>
            </a:r>
            <a:r>
              <a:rPr lang="en-US" dirty="0">
                <a:sym typeface="Wingdings" pitchFamily="2" charset="2"/>
              </a:rPr>
              <a:t></a:t>
            </a:r>
            <a:r>
              <a:rPr lang="en-US" dirty="0"/>
              <a:t> 01.0(1)</a:t>
            </a:r>
          </a:p>
          <a:p>
            <a:pPr lvl="1"/>
            <a:r>
              <a:rPr lang="en-US" dirty="0"/>
              <a:t>For negative numbers, round to zero</a:t>
            </a:r>
          </a:p>
          <a:p>
            <a:pPr lvl="2"/>
            <a:r>
              <a:rPr lang="en-US" dirty="0"/>
              <a:t>For negative numbers: </a:t>
            </a:r>
            <a:r>
              <a:rPr lang="en-US" dirty="0">
                <a:solidFill>
                  <a:srgbClr val="FF0000"/>
                </a:solidFill>
              </a:rPr>
              <a:t>10.11 (-1.25) </a:t>
            </a:r>
            <a:r>
              <a:rPr lang="en-US" dirty="0">
                <a:sym typeface="Wingdings" pitchFamily="2" charset="2"/>
              </a:rPr>
              <a:t></a:t>
            </a:r>
            <a:r>
              <a:rPr lang="en-US" dirty="0"/>
              <a:t> 11.0(-1)</a:t>
            </a:r>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32</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Modes</a:t>
            </a:r>
          </a:p>
        </p:txBody>
      </p:sp>
      <p:sp>
        <p:nvSpPr>
          <p:cNvPr id="9" name="Slide Number Placeholder 8"/>
          <p:cNvSpPr>
            <a:spLocks noGrp="1"/>
          </p:cNvSpPr>
          <p:nvPr>
            <p:ph type="sldNum" sz="quarter" idx="10"/>
          </p:nvPr>
        </p:nvSpPr>
        <p:spPr>
          <a:xfrm>
            <a:off x="579120" y="6325606"/>
            <a:ext cx="1394459" cy="365125"/>
          </a:xfrm>
        </p:spPr>
        <p:txBody>
          <a:bodyPr/>
          <a:lstStyle/>
          <a:p>
            <a:pPr>
              <a:defRPr/>
            </a:pPr>
            <a:r>
              <a:rPr lang="en-US" dirty="0"/>
              <a:t>Data Types 14- </a:t>
            </a:r>
            <a:fld id="{060BD193-E118-4B16-863C-C8C12C675E3E}" type="slidenum">
              <a:rPr lang="en-US" smtClean="0"/>
              <a:pPr>
                <a:defRPr/>
              </a:pPr>
              <a:t>33</a:t>
            </a:fld>
            <a:endParaRPr lang="en-US" dirty="0"/>
          </a:p>
        </p:txBody>
      </p:sp>
      <p:sp>
        <p:nvSpPr>
          <p:cNvPr id="3" name="Content Placeholder 2"/>
          <p:cNvSpPr>
            <a:spLocks noGrp="1"/>
          </p:cNvSpPr>
          <p:nvPr>
            <p:ph idx="4294967295"/>
          </p:nvPr>
        </p:nvSpPr>
        <p:spPr>
          <a:xfrm>
            <a:off x="579121" y="1327150"/>
            <a:ext cx="10629899" cy="4268788"/>
          </a:xfrm>
        </p:spPr>
        <p:txBody>
          <a:bodyPr>
            <a:normAutofit lnSpcReduction="10000"/>
          </a:bodyPr>
          <a:lstStyle/>
          <a:p>
            <a:r>
              <a:rPr lang="en-US" dirty="0"/>
              <a:t>Overflow mode</a:t>
            </a:r>
          </a:p>
          <a:p>
            <a:pPr lvl="1"/>
            <a:r>
              <a:rPr lang="en-US" dirty="0"/>
              <a:t>Determines the behavior when an operation generates more bits than can be satisfied by the MSB</a:t>
            </a:r>
          </a:p>
          <a:p>
            <a:endParaRPr lang="en-US" dirty="0"/>
          </a:p>
          <a:p>
            <a:r>
              <a:rPr lang="en-US" dirty="0"/>
              <a:t>Overflow Modes (saturation)</a:t>
            </a:r>
          </a:p>
          <a:p>
            <a:pPr lvl="1"/>
            <a:r>
              <a:rPr lang="en-US" dirty="0"/>
              <a:t>AP_SAT, AP_SAT_ZERO, AP_SAT_SYM</a:t>
            </a:r>
          </a:p>
          <a:p>
            <a:endParaRPr lang="en-US" dirty="0"/>
          </a:p>
          <a:p>
            <a:r>
              <a:rPr lang="en-US" dirty="0"/>
              <a:t>Overflow Modes (wrap)</a:t>
            </a:r>
          </a:p>
          <a:p>
            <a:pPr lvl="1"/>
            <a:r>
              <a:rPr lang="en-US" dirty="0"/>
              <a:t>AP_WRAP, AP_WRAP_SM</a:t>
            </a:r>
          </a:p>
          <a:p>
            <a:pPr lvl="1"/>
            <a:r>
              <a:rPr lang="en-US" dirty="0"/>
              <a:t>The number of saturation bits, N, is considered when wrapping</a:t>
            </a:r>
          </a:p>
          <a:p>
            <a:pPr lvl="1"/>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Modes</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34</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a:bodyPr>
          <a:lstStyle/>
          <a:p>
            <a:r>
              <a:rPr lang="en-US" dirty="0"/>
              <a:t>Overflow mode</a:t>
            </a:r>
          </a:p>
          <a:p>
            <a:pPr lvl="1"/>
            <a:r>
              <a:rPr lang="en-US" dirty="0"/>
              <a:t>Determines the behavior when an operation generates more bits than can be satisfied by the MSB</a:t>
            </a:r>
          </a:p>
          <a:p>
            <a:endParaRPr lang="en-US" dirty="0"/>
          </a:p>
          <a:p>
            <a:r>
              <a:rPr lang="en-US" dirty="0"/>
              <a:t>Overflow Modes (saturation)</a:t>
            </a:r>
          </a:p>
          <a:p>
            <a:pPr lvl="1"/>
            <a:r>
              <a:rPr lang="en-US" dirty="0"/>
              <a:t>AP_SAT, AP_SAT_ZERO, AP_SAT_SYM</a:t>
            </a:r>
          </a:p>
          <a:p>
            <a:endParaRPr lang="en-US" dirty="0"/>
          </a:p>
          <a:p>
            <a:r>
              <a:rPr lang="en-US" dirty="0"/>
              <a:t>Overflow Modes (wrap)</a:t>
            </a:r>
          </a:p>
          <a:p>
            <a:pPr lvl="1"/>
            <a:r>
              <a:rPr lang="en-US" dirty="0"/>
              <a:t>AP_WRAP, AP_WRAP_SM</a:t>
            </a:r>
          </a:p>
          <a:p>
            <a:pPr lvl="1"/>
            <a:r>
              <a:rPr lang="en-US" dirty="0"/>
              <a:t>The number of saturation bits, N, is considered when wrapping</a:t>
            </a:r>
          </a:p>
          <a:p>
            <a:pPr lvl="1"/>
            <a:endParaRPr lang="en-US" dirty="0"/>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34</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 Saturation</a:t>
            </a:r>
          </a:p>
        </p:txBody>
      </p:sp>
      <p:sp>
        <p:nvSpPr>
          <p:cNvPr id="9" name="Slide Number Placeholder 8"/>
          <p:cNvSpPr>
            <a:spLocks noGrp="1"/>
          </p:cNvSpPr>
          <p:nvPr>
            <p:ph type="sldNum" sz="quarter" idx="10"/>
          </p:nvPr>
        </p:nvSpPr>
        <p:spPr>
          <a:xfrm>
            <a:off x="579120" y="6325606"/>
            <a:ext cx="1440179" cy="365125"/>
          </a:xfrm>
        </p:spPr>
        <p:txBody>
          <a:bodyPr/>
          <a:lstStyle/>
          <a:p>
            <a:pPr>
              <a:defRPr/>
            </a:pPr>
            <a:r>
              <a:rPr lang="en-US" dirty="0"/>
              <a:t>Data Types 14- </a:t>
            </a:r>
            <a:fld id="{060BD193-E118-4B16-863C-C8C12C675E3E}" type="slidenum">
              <a:rPr lang="en-US" smtClean="0"/>
              <a:pPr>
                <a:defRPr/>
              </a:pPr>
              <a:t>35</a:t>
            </a:fld>
            <a:endParaRPr lang="en-US" dirty="0"/>
          </a:p>
        </p:txBody>
      </p:sp>
      <p:sp>
        <p:nvSpPr>
          <p:cNvPr id="3" name="Content Placeholder 2"/>
          <p:cNvSpPr>
            <a:spLocks noGrp="1"/>
          </p:cNvSpPr>
          <p:nvPr>
            <p:ph idx="4294967295"/>
          </p:nvPr>
        </p:nvSpPr>
        <p:spPr>
          <a:xfrm>
            <a:off x="579121" y="1327150"/>
            <a:ext cx="10706099" cy="4494530"/>
          </a:xfrm>
        </p:spPr>
        <p:txBody>
          <a:bodyPr>
            <a:normAutofit fontScale="92500" lnSpcReduction="10000"/>
          </a:bodyPr>
          <a:lstStyle/>
          <a:p>
            <a:r>
              <a:rPr lang="en-US" dirty="0"/>
              <a:t>AP_SAT: saturation</a:t>
            </a:r>
          </a:p>
          <a:p>
            <a:pPr lvl="1"/>
            <a:r>
              <a:rPr lang="en-US" dirty="0"/>
              <a:t>This overflow mode will convert the specified value to MAX for an overflow or MIN for an underflow condition </a:t>
            </a:r>
          </a:p>
          <a:p>
            <a:pPr lvl="1"/>
            <a:r>
              <a:rPr lang="en-US" dirty="0"/>
              <a:t>MAX and MIN are determined from the number of bits available</a:t>
            </a:r>
          </a:p>
          <a:p>
            <a:r>
              <a:rPr lang="en-US" dirty="0"/>
              <a:t>AP_SAT_ZERO: saturates to zero</a:t>
            </a:r>
          </a:p>
          <a:p>
            <a:pPr lvl="1"/>
            <a:r>
              <a:rPr lang="en-US" dirty="0"/>
              <a:t>Will set the result to zero, if the result is out of range</a:t>
            </a:r>
          </a:p>
          <a:p>
            <a:r>
              <a:rPr lang="en-US" dirty="0"/>
              <a:t>AP_SAT_SYM: symmetrical saturation</a:t>
            </a:r>
          </a:p>
          <a:p>
            <a:pPr lvl="1"/>
            <a:r>
              <a:rPr lang="en-US" dirty="0"/>
              <a:t>In 2’s complement notation one more negative value than positive value can be represented</a:t>
            </a:r>
          </a:p>
          <a:p>
            <a:pPr lvl="1"/>
            <a:r>
              <a:rPr lang="en-US" dirty="0"/>
              <a:t>If it is desirable to have the absolute values of MIN and MAX symmetrical around zero, AP_SAT_SYM can be used</a:t>
            </a:r>
          </a:p>
          <a:p>
            <a:pPr lvl="1"/>
            <a:r>
              <a:rPr lang="en-US" dirty="0"/>
              <a:t>Positive overflow will generate MAX and negative overflow will generate -MAX</a:t>
            </a:r>
          </a:p>
          <a:p>
            <a:pPr lvl="2"/>
            <a:r>
              <a:rPr lang="en-US" dirty="0"/>
              <a:t>0110(6) =&gt; 011(3) </a:t>
            </a:r>
          </a:p>
          <a:p>
            <a:pPr lvl="2"/>
            <a:r>
              <a:rPr lang="en-US" dirty="0"/>
              <a:t>1011(-5) =&gt; 101(-3)</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 Saturation</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36</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rmAutofit lnSpcReduction="10000"/>
          </a:bodyPr>
          <a:lstStyle/>
          <a:p>
            <a:r>
              <a:rPr lang="en-US" dirty="0"/>
              <a:t>AP_SAT: saturation</a:t>
            </a:r>
          </a:p>
          <a:p>
            <a:pPr lvl="1"/>
            <a:r>
              <a:rPr lang="en-US" dirty="0"/>
              <a:t>This overflow mode will convert the specified value to MAX for an overflow or MIN for an underflow condition </a:t>
            </a:r>
          </a:p>
          <a:p>
            <a:pPr lvl="1"/>
            <a:r>
              <a:rPr lang="en-US" dirty="0"/>
              <a:t>MAX and MIN are determined from the number of bits available</a:t>
            </a:r>
          </a:p>
          <a:p>
            <a:r>
              <a:rPr lang="en-US" dirty="0"/>
              <a:t>AP_SAT_ZERO: saturates to zero</a:t>
            </a:r>
          </a:p>
          <a:p>
            <a:pPr lvl="1"/>
            <a:r>
              <a:rPr lang="en-US" dirty="0"/>
              <a:t>Will set the result to zero, if the result is out of range</a:t>
            </a:r>
          </a:p>
          <a:p>
            <a:r>
              <a:rPr lang="en-US" dirty="0"/>
              <a:t>AP_SAT_SYM: symmetrical saturation</a:t>
            </a:r>
          </a:p>
          <a:p>
            <a:pPr lvl="1"/>
            <a:r>
              <a:rPr lang="en-US" dirty="0"/>
              <a:t>In 2’s complement notation one more negative value than positive value can be represented</a:t>
            </a:r>
          </a:p>
          <a:p>
            <a:pPr lvl="1"/>
            <a:r>
              <a:rPr lang="en-US" dirty="0"/>
              <a:t>If it is desirable to have the absolute values of MIN and MAX symmetrical around zero, AP_SAT_SYM can be used</a:t>
            </a:r>
          </a:p>
          <a:p>
            <a:pPr lvl="1"/>
            <a:r>
              <a:rPr lang="en-US" dirty="0"/>
              <a:t>Positive overflow will generate MAX and negative overflow will generate -MAX</a:t>
            </a:r>
          </a:p>
          <a:p>
            <a:pPr lvl="2"/>
            <a:r>
              <a:rPr lang="en-US" dirty="0"/>
              <a:t>0110(6) =&gt; 011(3) </a:t>
            </a:r>
          </a:p>
          <a:p>
            <a:pPr lvl="2"/>
            <a:r>
              <a:rPr lang="en-US" dirty="0"/>
              <a:t>1011(-5) =&gt; 101(-3)</a:t>
            </a:r>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36</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 Wrap Sign Magnitude</a:t>
            </a:r>
          </a:p>
        </p:txBody>
      </p:sp>
      <p:sp>
        <p:nvSpPr>
          <p:cNvPr id="9" name="Slide Number Placeholder 8"/>
          <p:cNvSpPr>
            <a:spLocks noGrp="1"/>
          </p:cNvSpPr>
          <p:nvPr>
            <p:ph type="sldNum" sz="quarter" idx="10"/>
          </p:nvPr>
        </p:nvSpPr>
        <p:spPr>
          <a:xfrm>
            <a:off x="579120" y="6325606"/>
            <a:ext cx="1394459" cy="365125"/>
          </a:xfrm>
        </p:spPr>
        <p:txBody>
          <a:bodyPr/>
          <a:lstStyle/>
          <a:p>
            <a:pPr>
              <a:defRPr/>
            </a:pPr>
            <a:r>
              <a:rPr lang="en-US" dirty="0"/>
              <a:t>Data Types 14- </a:t>
            </a:r>
            <a:fld id="{060BD193-E118-4B16-863C-C8C12C675E3E}" type="slidenum">
              <a:rPr lang="en-US" smtClean="0"/>
              <a:pPr>
                <a:defRPr/>
              </a:pPr>
              <a:t>37</a:t>
            </a:fld>
            <a:endParaRPr lang="en-US" dirty="0"/>
          </a:p>
        </p:txBody>
      </p:sp>
      <p:sp>
        <p:nvSpPr>
          <p:cNvPr id="3" name="Content Placeholder 2"/>
          <p:cNvSpPr>
            <a:spLocks noGrp="1"/>
          </p:cNvSpPr>
          <p:nvPr>
            <p:ph idx="4294967295"/>
          </p:nvPr>
        </p:nvSpPr>
        <p:spPr>
          <a:xfrm>
            <a:off x="579121" y="1327150"/>
            <a:ext cx="11033760" cy="4768850"/>
          </a:xfrm>
        </p:spPr>
        <p:txBody>
          <a:bodyPr>
            <a:noAutofit/>
          </a:bodyPr>
          <a:lstStyle/>
          <a:p>
            <a:r>
              <a:rPr lang="en-US" sz="1800" dirty="0"/>
              <a:t>AP_WRAP_SM, N = 0</a:t>
            </a:r>
          </a:p>
          <a:p>
            <a:pPr lvl="1"/>
            <a:r>
              <a:rPr lang="en-US" sz="1600" dirty="0"/>
              <a:t>This mode uses sign magnitude wrapping</a:t>
            </a:r>
          </a:p>
          <a:p>
            <a:pPr lvl="1"/>
            <a:r>
              <a:rPr lang="en-US" sz="1600" dirty="0"/>
              <a:t>Sign bit set to the value of the least significant deleted bit</a:t>
            </a:r>
          </a:p>
          <a:p>
            <a:pPr lvl="1"/>
            <a:r>
              <a:rPr lang="en-US" sz="1600" dirty="0"/>
              <a:t>If the most significant remaining bit is different from the original MSB, all the remaining bits are inverted</a:t>
            </a:r>
          </a:p>
          <a:p>
            <a:pPr lvl="1"/>
            <a:r>
              <a:rPr lang="en-US" sz="1600" dirty="0"/>
              <a:t>IF MSBs are same, the other bits are copied over</a:t>
            </a:r>
          </a:p>
          <a:p>
            <a:pPr lvl="2"/>
            <a:r>
              <a:rPr lang="en-US" sz="1400" dirty="0"/>
              <a:t>Step 1: First delete redundant MSBs. 0100(4) =&gt; 100(-4)</a:t>
            </a:r>
          </a:p>
          <a:p>
            <a:pPr lvl="2"/>
            <a:r>
              <a:rPr lang="en-US" sz="1400" dirty="0"/>
              <a:t>Step 2: The new sign bit is the least significant bit of the deleted bits. 0 in this case</a:t>
            </a:r>
          </a:p>
          <a:p>
            <a:pPr lvl="2"/>
            <a:r>
              <a:rPr lang="en-US" sz="1400" dirty="0"/>
              <a:t>Step 3: Compare the new sign bit with the sign of the new value</a:t>
            </a:r>
          </a:p>
          <a:p>
            <a:pPr lvl="1"/>
            <a:r>
              <a:rPr lang="en-US" sz="1600" dirty="0"/>
              <a:t>If different, invert all the numbers. They are different in this case</a:t>
            </a:r>
          </a:p>
          <a:p>
            <a:pPr lvl="2"/>
            <a:r>
              <a:rPr lang="en-US" sz="1400" dirty="0"/>
              <a:t>011 (3) 11</a:t>
            </a:r>
          </a:p>
          <a:p>
            <a:r>
              <a:rPr lang="en-US" sz="1800" dirty="0"/>
              <a:t> AP_WRAP_SM, N &gt; 0</a:t>
            </a:r>
          </a:p>
          <a:p>
            <a:pPr lvl="1"/>
            <a:r>
              <a:rPr lang="en-US" sz="1600" dirty="0"/>
              <a:t>Uses sign magnitude saturation</a:t>
            </a:r>
          </a:p>
          <a:p>
            <a:pPr lvl="1"/>
            <a:r>
              <a:rPr lang="en-US" sz="1600" dirty="0"/>
              <a:t>Here N MSBs will be saturated to 1</a:t>
            </a:r>
          </a:p>
          <a:p>
            <a:pPr lvl="1"/>
            <a:r>
              <a:rPr lang="en-US" sz="1600" dirty="0"/>
              <a:t>Behaves similar to case where N = 0, except that positive numbers stay positive and negative numbers stay negative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Overflow Mode: Wrap Sign Magnitude</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38</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noAutofit/>
          </a:bodyPr>
          <a:lstStyle/>
          <a:p>
            <a:r>
              <a:rPr lang="en-US" sz="1800" dirty="0"/>
              <a:t>AP_WRAP_SM, N = 0</a:t>
            </a:r>
          </a:p>
          <a:p>
            <a:pPr lvl="1"/>
            <a:r>
              <a:rPr lang="en-US" sz="1600" dirty="0"/>
              <a:t>This mode uses sign magnitude wrapping</a:t>
            </a:r>
          </a:p>
          <a:p>
            <a:pPr lvl="1"/>
            <a:r>
              <a:rPr lang="en-US" sz="1600" dirty="0"/>
              <a:t>Sign bit set to the value of the least significant deleted bit</a:t>
            </a:r>
          </a:p>
          <a:p>
            <a:pPr lvl="1"/>
            <a:r>
              <a:rPr lang="en-US" sz="1600" dirty="0"/>
              <a:t>If the most significant remaining bit is different from the original MSB, all the remaining bits are inverted</a:t>
            </a:r>
          </a:p>
          <a:p>
            <a:pPr lvl="1"/>
            <a:r>
              <a:rPr lang="en-US" sz="1600" dirty="0"/>
              <a:t>IF MSBs are same, the other bits are copied over</a:t>
            </a:r>
          </a:p>
          <a:p>
            <a:pPr lvl="2"/>
            <a:r>
              <a:rPr lang="en-US" sz="1400" dirty="0"/>
              <a:t>Step 1: First delete redundant MSBs. 0100(4) =&gt; 100(-4)</a:t>
            </a:r>
          </a:p>
          <a:p>
            <a:pPr lvl="2"/>
            <a:r>
              <a:rPr lang="en-US" sz="1400" dirty="0"/>
              <a:t>Step 2: The new sign bit is the least significant bit of the deleted bits. 0 in this case</a:t>
            </a:r>
          </a:p>
          <a:p>
            <a:pPr lvl="2"/>
            <a:r>
              <a:rPr lang="en-US" sz="1400" dirty="0"/>
              <a:t>Step 3: Compare the new sign bit with the sign of the new value</a:t>
            </a:r>
          </a:p>
          <a:p>
            <a:pPr lvl="1"/>
            <a:r>
              <a:rPr lang="en-US" sz="1600" dirty="0"/>
              <a:t>If different, invert all the numbers. They are different in this case</a:t>
            </a:r>
          </a:p>
          <a:p>
            <a:pPr lvl="2"/>
            <a:r>
              <a:rPr lang="en-US" sz="1400" dirty="0"/>
              <a:t>011 (3) 11</a:t>
            </a:r>
          </a:p>
          <a:p>
            <a:r>
              <a:rPr lang="en-US" sz="1800" dirty="0"/>
              <a:t> AP_WRAP_SM, N &gt; 0</a:t>
            </a:r>
          </a:p>
          <a:p>
            <a:pPr lvl="1"/>
            <a:r>
              <a:rPr lang="en-US" sz="1600" dirty="0"/>
              <a:t>Uses sign magnitude saturation</a:t>
            </a:r>
          </a:p>
          <a:p>
            <a:pPr lvl="1"/>
            <a:r>
              <a:rPr lang="en-US" sz="1600" dirty="0"/>
              <a:t>Here N MSBs will be saturated to 1</a:t>
            </a:r>
          </a:p>
          <a:p>
            <a:pPr lvl="1"/>
            <a:r>
              <a:rPr lang="en-US" sz="1600" dirty="0"/>
              <a:t>Behaves similar to case where N = 0, except that positive numbers stay positive and negative numbers stay negative</a:t>
            </a:r>
          </a:p>
        </p:txBody>
      </p:sp>
      <p:sp>
        <p:nvSpPr>
          <p:cNvPr id="6"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dirty="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38</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AP_FIXED operators &amp; conversions</a:t>
            </a:r>
          </a:p>
        </p:txBody>
      </p:sp>
      <p:sp>
        <p:nvSpPr>
          <p:cNvPr id="12" name="Slide Number Placeholder 11"/>
          <p:cNvSpPr>
            <a:spLocks noGrp="1"/>
          </p:cNvSpPr>
          <p:nvPr>
            <p:ph type="sldNum" sz="quarter" idx="10"/>
          </p:nvPr>
        </p:nvSpPr>
        <p:spPr>
          <a:xfrm>
            <a:off x="579120" y="6325606"/>
            <a:ext cx="1409699" cy="365125"/>
          </a:xfrm>
        </p:spPr>
        <p:txBody>
          <a:bodyPr/>
          <a:lstStyle/>
          <a:p>
            <a:pPr>
              <a:defRPr/>
            </a:pPr>
            <a:r>
              <a:rPr lang="en-US" dirty="0"/>
              <a:t>Data Types 14- </a:t>
            </a:r>
            <a:fld id="{060BD193-E118-4B16-863C-C8C12C675E3E}" type="slidenum">
              <a:rPr lang="en-US" smtClean="0"/>
              <a:pPr>
                <a:defRPr/>
              </a:pPr>
              <a:t>39</a:t>
            </a:fld>
            <a:endParaRPr lang="en-US" dirty="0"/>
          </a:p>
        </p:txBody>
      </p:sp>
      <p:sp>
        <p:nvSpPr>
          <p:cNvPr id="3" name="Content Placeholder 2"/>
          <p:cNvSpPr>
            <a:spLocks noGrp="1"/>
          </p:cNvSpPr>
          <p:nvPr>
            <p:ph idx="4294967295"/>
          </p:nvPr>
        </p:nvSpPr>
        <p:spPr>
          <a:xfrm>
            <a:off x="579121" y="1327150"/>
            <a:ext cx="11033760" cy="4502150"/>
          </a:xfrm>
        </p:spPr>
        <p:txBody>
          <a:bodyPr/>
          <a:lstStyle/>
          <a:p>
            <a:r>
              <a:rPr lang="en-US" dirty="0"/>
              <a:t>Fully Supported for all Arithmetic operator</a:t>
            </a:r>
          </a:p>
          <a:p>
            <a:endParaRPr lang="en-US" dirty="0"/>
          </a:p>
          <a:p>
            <a:endParaRPr lang="en-US" dirty="0"/>
          </a:p>
          <a:p>
            <a:pPr marL="0" indent="0">
              <a:buNone/>
            </a:pPr>
            <a:endParaRPr lang="en-US" dirty="0"/>
          </a:p>
          <a:p>
            <a:r>
              <a:rPr lang="en-US" dirty="0"/>
              <a:t>Methods for type conversion</a:t>
            </a:r>
          </a:p>
        </p:txBody>
      </p:sp>
      <p:graphicFrame>
        <p:nvGraphicFramePr>
          <p:cNvPr id="8" name="Content Placeholder 14">
            <a:extLst>
              <a:ext uri="{FF2B5EF4-FFF2-40B4-BE49-F238E27FC236}">
                <a16:creationId xmlns:a16="http://schemas.microsoft.com/office/drawing/2014/main" id="{643D16FE-3586-4781-ACF5-277F8AEDC74E}"/>
              </a:ext>
            </a:extLst>
          </p:cNvPr>
          <p:cNvGraphicFramePr>
            <a:graphicFrameLocks/>
          </p:cNvGraphicFramePr>
          <p:nvPr/>
        </p:nvGraphicFramePr>
        <p:xfrm>
          <a:off x="874281" y="1846898"/>
          <a:ext cx="7269453" cy="1828800"/>
        </p:xfrm>
        <a:graphic>
          <a:graphicData uri="http://schemas.openxmlformats.org/drawingml/2006/table">
            <a:tbl>
              <a:tblPr firstCol="1" bandRow="1"/>
              <a:tblGrid>
                <a:gridCol w="2464221">
                  <a:extLst>
                    <a:ext uri="{9D8B030D-6E8A-4147-A177-3AD203B41FA5}">
                      <a16:colId xmlns:a16="http://schemas.microsoft.com/office/drawing/2014/main" val="20000"/>
                    </a:ext>
                  </a:extLst>
                </a:gridCol>
                <a:gridCol w="4805232">
                  <a:extLst>
                    <a:ext uri="{9D8B030D-6E8A-4147-A177-3AD203B41FA5}">
                      <a16:colId xmlns:a16="http://schemas.microsoft.com/office/drawing/2014/main" val="20001"/>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Operations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Arithmetic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 * / %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Logical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Bitwise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&amp;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Relational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&gt;  &lt; &lt;= &gt;= == !=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Assignment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1" kern="1200" dirty="0">
                          <a:solidFill>
                            <a:schemeClr val="dk1"/>
                          </a:solidFill>
                          <a:latin typeface="+mn-lt"/>
                          <a:ea typeface="+mn-ea"/>
                          <a:cs typeface="+mn-cs"/>
                        </a:rPr>
                        <a:t>*=	/=	%=	+=	-=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b="1" kern="1200" dirty="0">
                          <a:solidFill>
                            <a:schemeClr val="dk1"/>
                          </a:solidFill>
                          <a:latin typeface="+mn-lt"/>
                          <a:ea typeface="+mn-ea"/>
                          <a:cs typeface="+mn-cs"/>
                        </a:rPr>
                        <a:t>&lt;&lt;=</a:t>
                      </a:r>
                      <a:r>
                        <a:rPr lang="en-US" sz="1200" b="1" kern="1200" baseline="0" dirty="0">
                          <a:solidFill>
                            <a:schemeClr val="dk1"/>
                          </a:solidFill>
                          <a:latin typeface="+mn-lt"/>
                          <a:ea typeface="+mn-ea"/>
                          <a:cs typeface="+mn-cs"/>
                        </a:rPr>
                        <a:t> </a:t>
                      </a:r>
                      <a:r>
                        <a:rPr lang="en-US" sz="1200" b="1" kern="1200" dirty="0">
                          <a:solidFill>
                            <a:schemeClr val="dk1"/>
                          </a:solidFill>
                          <a:latin typeface="+mn-lt"/>
                          <a:ea typeface="+mn-ea"/>
                          <a:cs typeface="+mn-cs"/>
                        </a:rPr>
                        <a:t>&gt;&gt;=	&amp;=	^=	|=</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graphicFrame>
        <p:nvGraphicFramePr>
          <p:cNvPr id="10" name="Content Placeholder 14">
            <a:extLst>
              <a:ext uri="{FF2B5EF4-FFF2-40B4-BE49-F238E27FC236}">
                <a16:creationId xmlns:a16="http://schemas.microsoft.com/office/drawing/2014/main" id="{B58205A9-F63E-4A1A-BB38-7D56B8E5E313}"/>
              </a:ext>
            </a:extLst>
          </p:cNvPr>
          <p:cNvGraphicFramePr>
            <a:graphicFrameLocks/>
          </p:cNvGraphicFramePr>
          <p:nvPr>
            <p:extLst>
              <p:ext uri="{D42A27DB-BD31-4B8C-83A1-F6EECF244321}">
                <p14:modId xmlns:p14="http://schemas.microsoft.com/office/powerpoint/2010/main" val="472939338"/>
              </p:ext>
            </p:extLst>
          </p:nvPr>
        </p:nvGraphicFramePr>
        <p:xfrm>
          <a:off x="874281" y="4157213"/>
          <a:ext cx="10597020" cy="1920240"/>
        </p:xfrm>
        <a:graphic>
          <a:graphicData uri="http://schemas.openxmlformats.org/drawingml/2006/table">
            <a:tbl>
              <a:tblPr firstCol="1" bandRow="1"/>
              <a:tblGrid>
                <a:gridCol w="3225181">
                  <a:extLst>
                    <a:ext uri="{9D8B030D-6E8A-4147-A177-3AD203B41FA5}">
                      <a16:colId xmlns:a16="http://schemas.microsoft.com/office/drawing/2014/main" val="20000"/>
                    </a:ext>
                  </a:extLst>
                </a:gridCol>
                <a:gridCol w="4146660">
                  <a:extLst>
                    <a:ext uri="{9D8B030D-6E8A-4147-A177-3AD203B41FA5}">
                      <a16:colId xmlns:a16="http://schemas.microsoft.com/office/drawing/2014/main" val="20001"/>
                    </a:ext>
                  </a:extLst>
                </a:gridCol>
                <a:gridCol w="3225179">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var.to_uint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a:t>
                      </a:r>
                      <a:r>
                        <a:rPr lang="en-US" sz="1200" baseline="0" dirty="0"/>
                        <a:t> 64-bit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var.to_uint64();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double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double </a:t>
                      </a:r>
                      <a:r>
                        <a:rPr lang="en-US" sz="1200" baseline="0" dirty="0"/>
                        <a:t>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var.to_double</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To ap_int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a:t>
                      </a:r>
                      <a:r>
                        <a:rPr lang="en-US" sz="1200" baseline="0" dirty="0"/>
                        <a:t> an ap_int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var.to_ap_int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AP_FIXED operators &amp; conversions</a:t>
            </a:r>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40</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lstStyle/>
          <a:p>
            <a:r>
              <a:rPr lang="en-US" dirty="0"/>
              <a:t>Fully Supported for all Arithmetic operator</a:t>
            </a:r>
          </a:p>
          <a:p>
            <a:endParaRPr lang="en-US" dirty="0"/>
          </a:p>
          <a:p>
            <a:endParaRPr lang="en-US" dirty="0"/>
          </a:p>
          <a:p>
            <a:endParaRPr lang="en-US" dirty="0"/>
          </a:p>
          <a:p>
            <a:endParaRPr lang="en-US" dirty="0"/>
          </a:p>
          <a:p>
            <a:endParaRPr lang="en-US" dirty="0"/>
          </a:p>
          <a:p>
            <a:r>
              <a:rPr lang="en-US" dirty="0"/>
              <a:t>Methods for type conversion</a:t>
            </a:r>
          </a:p>
        </p:txBody>
      </p:sp>
      <p:sp>
        <p:nvSpPr>
          <p:cNvPr id="9"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dirty="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40</a:t>
            </a:fld>
            <a:endParaRPr lang="en-US" sz="1000" dirty="0">
              <a:solidFill>
                <a:srgbClr val="FFFFFF"/>
              </a:solidFill>
              <a:latin typeface="Arial" charset="0"/>
              <a:ea typeface="ＭＳ Ｐゴシック" pitchFamily="34" charset="-128"/>
              <a:cs typeface="Arial" charset="0"/>
            </a:endParaRPr>
          </a:p>
        </p:txBody>
      </p:sp>
      <p:graphicFrame>
        <p:nvGraphicFramePr>
          <p:cNvPr id="8" name="Content Placeholder 14">
            <a:extLst>
              <a:ext uri="{FF2B5EF4-FFF2-40B4-BE49-F238E27FC236}">
                <a16:creationId xmlns:a16="http://schemas.microsoft.com/office/drawing/2014/main" id="{643D16FE-3586-4781-ACF5-277F8AEDC74E}"/>
              </a:ext>
            </a:extLst>
          </p:cNvPr>
          <p:cNvGraphicFramePr>
            <a:graphicFrameLocks/>
          </p:cNvGraphicFramePr>
          <p:nvPr/>
        </p:nvGraphicFramePr>
        <p:xfrm>
          <a:off x="874281" y="1846898"/>
          <a:ext cx="7269453" cy="1828800"/>
        </p:xfrm>
        <a:graphic>
          <a:graphicData uri="http://schemas.openxmlformats.org/drawingml/2006/table">
            <a:tbl>
              <a:tblPr firstCol="1" bandRow="1"/>
              <a:tblGrid>
                <a:gridCol w="2464221">
                  <a:extLst>
                    <a:ext uri="{9D8B030D-6E8A-4147-A177-3AD203B41FA5}">
                      <a16:colId xmlns:a16="http://schemas.microsoft.com/office/drawing/2014/main" val="20000"/>
                    </a:ext>
                  </a:extLst>
                </a:gridCol>
                <a:gridCol w="4805232">
                  <a:extLst>
                    <a:ext uri="{9D8B030D-6E8A-4147-A177-3AD203B41FA5}">
                      <a16:colId xmlns:a16="http://schemas.microsoft.com/office/drawing/2014/main" val="20001"/>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Operations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Arithmetic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 * / %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Logical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Bitwise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&amp; | ^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Relational</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aseline="0" dirty="0"/>
                        <a:t>&gt;  &lt; &lt;= &gt;= == != </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Assignment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b="1" kern="1200" dirty="0">
                          <a:solidFill>
                            <a:schemeClr val="dk1"/>
                          </a:solidFill>
                          <a:latin typeface="+mn-lt"/>
                          <a:ea typeface="+mn-ea"/>
                          <a:cs typeface="+mn-cs"/>
                        </a:rPr>
                        <a:t>*=	/=	%=	+=	-=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b="1" kern="1200" dirty="0">
                          <a:solidFill>
                            <a:schemeClr val="dk1"/>
                          </a:solidFill>
                          <a:latin typeface="+mn-lt"/>
                          <a:ea typeface="+mn-ea"/>
                          <a:cs typeface="+mn-cs"/>
                        </a:rPr>
                        <a:t>&lt;&lt;=</a:t>
                      </a:r>
                      <a:r>
                        <a:rPr lang="en-US" sz="1200" b="1" kern="1200" baseline="0" dirty="0">
                          <a:solidFill>
                            <a:schemeClr val="dk1"/>
                          </a:solidFill>
                          <a:latin typeface="+mn-lt"/>
                          <a:ea typeface="+mn-ea"/>
                          <a:cs typeface="+mn-cs"/>
                        </a:rPr>
                        <a:t> </a:t>
                      </a:r>
                      <a:r>
                        <a:rPr lang="en-US" sz="1200" b="1" kern="1200" dirty="0">
                          <a:solidFill>
                            <a:schemeClr val="dk1"/>
                          </a:solidFill>
                          <a:latin typeface="+mn-lt"/>
                          <a:ea typeface="+mn-ea"/>
                          <a:cs typeface="+mn-cs"/>
                        </a:rPr>
                        <a:t>&gt;&gt;=	&amp;=	^=	|=</a:t>
                      </a:r>
                      <a:endParaRPr lang="en-US" sz="1200" kern="1200" dirty="0">
                        <a:solidFill>
                          <a:schemeClr val="dk1"/>
                        </a:solidFill>
                        <a:latin typeface="+mn-lt"/>
                        <a:ea typeface="+mn-ea"/>
                        <a:cs typeface="+mn-cs"/>
                      </a:endParaRP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bl>
          </a:graphicData>
        </a:graphic>
      </p:graphicFrame>
      <p:graphicFrame>
        <p:nvGraphicFramePr>
          <p:cNvPr id="10" name="Content Placeholder 14">
            <a:extLst>
              <a:ext uri="{FF2B5EF4-FFF2-40B4-BE49-F238E27FC236}">
                <a16:creationId xmlns:a16="http://schemas.microsoft.com/office/drawing/2014/main" id="{B58205A9-F63E-4A1A-BB38-7D56B8E5E313}"/>
              </a:ext>
            </a:extLst>
          </p:cNvPr>
          <p:cNvGraphicFramePr>
            <a:graphicFrameLocks/>
          </p:cNvGraphicFramePr>
          <p:nvPr/>
        </p:nvGraphicFramePr>
        <p:xfrm>
          <a:off x="874280" y="4434245"/>
          <a:ext cx="10597020" cy="1920240"/>
        </p:xfrm>
        <a:graphic>
          <a:graphicData uri="http://schemas.openxmlformats.org/drawingml/2006/table">
            <a:tbl>
              <a:tblPr firstCol="1" bandRow="1"/>
              <a:tblGrid>
                <a:gridCol w="3225181">
                  <a:extLst>
                    <a:ext uri="{9D8B030D-6E8A-4147-A177-3AD203B41FA5}">
                      <a16:colId xmlns:a16="http://schemas.microsoft.com/office/drawing/2014/main" val="20000"/>
                    </a:ext>
                  </a:extLst>
                </a:gridCol>
                <a:gridCol w="4146660">
                  <a:extLst>
                    <a:ext uri="{9D8B030D-6E8A-4147-A177-3AD203B41FA5}">
                      <a16:colId xmlns:a16="http://schemas.microsoft.com/office/drawing/2014/main" val="20001"/>
                    </a:ext>
                  </a:extLst>
                </a:gridCol>
                <a:gridCol w="3225179">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a:t>
                      </a:r>
                      <a:r>
                        <a:rPr lang="en-US" sz="1200" dirty="0">
                          <a:highlight>
                            <a:srgbClr val="FFFF00"/>
                          </a:highlight>
                        </a:rPr>
                        <a:t> an</a:t>
                      </a:r>
                      <a:r>
                        <a:rPr lang="en-US" sz="1200" baseline="0" dirty="0">
                          <a:highlight>
                            <a:srgbClr val="FFFF00"/>
                          </a:highlight>
                        </a:rPr>
                        <a:t> </a:t>
                      </a:r>
                      <a:r>
                        <a:rPr lang="en-US" sz="1200" baseline="0" dirty="0"/>
                        <a:t>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integer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var.to_uint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a:t>
                      </a:r>
                      <a:r>
                        <a:rPr lang="en-US" sz="1200" baseline="0" dirty="0"/>
                        <a:t> 64-bit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64-bit unsigned integer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an</a:t>
                      </a:r>
                      <a:r>
                        <a:rPr lang="en-US" sz="1200" baseline="0" dirty="0"/>
                        <a:t> unsigned long </a:t>
                      </a:r>
                      <a:r>
                        <a:rPr lang="en-US" sz="1200" baseline="0" dirty="0" err="1"/>
                        <a:t>long</a:t>
                      </a:r>
                      <a:r>
                        <a:rPr lang="en-US" sz="1200" baseline="0" dirty="0"/>
                        <a:t> 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var.to_uint64();</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4"/>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To double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 double </a:t>
                      </a:r>
                      <a:r>
                        <a:rPr lang="en-US" sz="1200" baseline="0" dirty="0"/>
                        <a:t>type</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highlight>
                            <a:srgbClr val="FFFF00"/>
                          </a:highlight>
                        </a:rPr>
                        <a:t>res = </a:t>
                      </a:r>
                      <a:r>
                        <a:rPr lang="en-US" sz="1200" dirty="0" err="1">
                          <a:highlight>
                            <a:srgbClr val="FFFF00"/>
                          </a:highlight>
                        </a:rPr>
                        <a:t>var.to_double</a:t>
                      </a:r>
                      <a:r>
                        <a:rPr lang="en-US" sz="1200" dirty="0">
                          <a:highlight>
                            <a:srgbClr val="FFFF00"/>
                          </a:highlight>
                        </a:rPr>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5"/>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To ap_int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Convert to</a:t>
                      </a:r>
                      <a:r>
                        <a:rPr lang="en-US" sz="1200" baseline="0" dirty="0"/>
                        <a:t> an ap_int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 = </a:t>
                      </a:r>
                      <a:r>
                        <a:rPr lang="en-US" sz="1200" dirty="0" err="1"/>
                        <a:t>var.to_ap_int</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AP_FIXED methods</a:t>
            </a:r>
          </a:p>
        </p:txBody>
      </p:sp>
      <p:sp>
        <p:nvSpPr>
          <p:cNvPr id="11" name="Slide Number Placeholder 10"/>
          <p:cNvSpPr>
            <a:spLocks noGrp="1"/>
          </p:cNvSpPr>
          <p:nvPr>
            <p:ph type="sldNum" sz="quarter" idx="10"/>
          </p:nvPr>
        </p:nvSpPr>
        <p:spPr>
          <a:xfrm>
            <a:off x="579120" y="6325606"/>
            <a:ext cx="1851659" cy="365125"/>
          </a:xfrm>
        </p:spPr>
        <p:txBody>
          <a:bodyPr/>
          <a:lstStyle/>
          <a:p>
            <a:pPr>
              <a:defRPr/>
            </a:pPr>
            <a:r>
              <a:rPr lang="en-US" dirty="0"/>
              <a:t>Data Types 14- </a:t>
            </a:r>
            <a:fld id="{060BD193-E118-4B16-863C-C8C12C675E3E}" type="slidenum">
              <a:rPr lang="en-US" smtClean="0"/>
              <a:pPr>
                <a:defRPr/>
              </a:pPr>
              <a:t>41</a:t>
            </a:fld>
            <a:endParaRPr lang="en-US" dirty="0"/>
          </a:p>
        </p:txBody>
      </p:sp>
      <p:sp>
        <p:nvSpPr>
          <p:cNvPr id="3" name="Content Placeholder 2"/>
          <p:cNvSpPr>
            <a:spLocks noGrp="1"/>
          </p:cNvSpPr>
          <p:nvPr>
            <p:ph idx="4294967295"/>
          </p:nvPr>
        </p:nvSpPr>
        <p:spPr>
          <a:xfrm>
            <a:off x="579121" y="1327150"/>
            <a:ext cx="11611292" cy="4268788"/>
          </a:xfrm>
        </p:spPr>
        <p:txBody>
          <a:bodyPr/>
          <a:lstStyle/>
          <a:p>
            <a:r>
              <a:rPr lang="en-US" dirty="0"/>
              <a:t>Methods for bit manipulation</a:t>
            </a:r>
          </a:p>
        </p:txBody>
      </p:sp>
      <p:graphicFrame>
        <p:nvGraphicFramePr>
          <p:cNvPr id="9" name="Content Placeholder 14">
            <a:extLst>
              <a:ext uri="{FF2B5EF4-FFF2-40B4-BE49-F238E27FC236}">
                <a16:creationId xmlns:a16="http://schemas.microsoft.com/office/drawing/2014/main" id="{10787318-A937-4663-A72A-43CD064F78A1}"/>
              </a:ext>
            </a:extLst>
          </p:cNvPr>
          <p:cNvGraphicFramePr>
            <a:graphicFrameLocks/>
          </p:cNvGraphicFramePr>
          <p:nvPr>
            <p:extLst>
              <p:ext uri="{D42A27DB-BD31-4B8C-83A1-F6EECF244321}">
                <p14:modId xmlns:p14="http://schemas.microsoft.com/office/powerpoint/2010/main" val="2294803000"/>
              </p:ext>
            </p:extLst>
          </p:nvPr>
        </p:nvGraphicFramePr>
        <p:xfrm>
          <a:off x="797490" y="2058610"/>
          <a:ext cx="10597019" cy="146304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217181">
                  <a:extLst>
                    <a:ext uri="{9D8B030D-6E8A-4147-A177-3AD203B41FA5}">
                      <a16:colId xmlns:a16="http://schemas.microsoft.com/office/drawing/2014/main" val="20001"/>
                    </a:ext>
                  </a:extLst>
                </a:gridCol>
                <a:gridCol w="4217181">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var.length</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res=</a:t>
                      </a:r>
                      <a:r>
                        <a:rPr lang="en-US" sz="1200" dirty="0" err="1"/>
                        <a:t>var_hi.concat</a:t>
                      </a:r>
                      <a:r>
                        <a:rPr lang="en-US" sz="1200" dirty="0"/>
                        <a:t>(</a:t>
                      </a:r>
                      <a:r>
                        <a:rPr lang="en-US" sz="1200" dirty="0" err="1"/>
                        <a:t>var_lo</a:t>
                      </a:r>
                      <a:r>
                        <a:rPr lang="en-US" sz="1200" dirty="0"/>
                        <a:t>);</a:t>
                      </a:r>
                    </a:p>
                    <a:p>
                      <a:r>
                        <a:rPr lang="en-US" sz="1200" dirty="0"/>
                        <a:t> Or  res= (</a:t>
                      </a:r>
                      <a:r>
                        <a:rPr lang="en-US" sz="1200" dirty="0" err="1"/>
                        <a:t>var</a:t>
                      </a:r>
                      <a:r>
                        <a:rPr lang="en-US" sz="1200" baseline="0" dirty="0" err="1"/>
                        <a:t>_hi</a:t>
                      </a:r>
                      <a:r>
                        <a:rPr lang="en-US" sz="1200" dirty="0" err="1"/>
                        <a:t>,var_</a:t>
                      </a:r>
                      <a:r>
                        <a:rPr lang="en-US" sz="1200" baseline="0" dirty="0" err="1"/>
                        <a:t>lo</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Range or Bit-select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 or a specific bit.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res=</a:t>
                      </a:r>
                      <a:r>
                        <a:rPr lang="en-US" sz="1200" dirty="0" err="1"/>
                        <a:t>var.range</a:t>
                      </a:r>
                      <a:r>
                        <a:rPr lang="en-US" sz="1200" dirty="0"/>
                        <a:t>(high </a:t>
                      </a:r>
                      <a:r>
                        <a:rPr lang="en-US" sz="1200" dirty="0" err="1"/>
                        <a:t>bit,low</a:t>
                      </a:r>
                      <a:r>
                        <a:rPr lang="en-US" sz="1200" dirty="0"/>
                        <a:t> bit);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Or </a:t>
                      </a:r>
                      <a:r>
                        <a:rPr lang="en-US" sz="1200" baseline="0" dirty="0"/>
                        <a:t> res=</a:t>
                      </a:r>
                      <a:r>
                        <a:rPr lang="en-US" sz="1200" baseline="0" dirty="0" err="1"/>
                        <a:t>var</a:t>
                      </a:r>
                      <a:r>
                        <a:rPr lang="en-US" sz="1200" baseline="0" dirty="0"/>
                        <a:t>[bit-number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AP_FIXED methods</a:t>
            </a:r>
          </a:p>
        </p:txBody>
      </p:sp>
      <p:sp>
        <p:nvSpPr>
          <p:cNvPr id="11" name="Slide Number Placeholder 10"/>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42</a:t>
            </a:fld>
            <a:endParaRPr lang="en-US" dirty="0">
              <a:solidFill>
                <a:srgbClr val="0C0C0C">
                  <a:tint val="75000"/>
                </a:srgbClr>
              </a:solidFill>
              <a:latin typeface="Arial"/>
            </a:endParaRPr>
          </a:p>
        </p:txBody>
      </p:sp>
      <p:sp>
        <p:nvSpPr>
          <p:cNvPr id="3" name="Content Placeholder 2"/>
          <p:cNvSpPr>
            <a:spLocks noGrp="1"/>
          </p:cNvSpPr>
          <p:nvPr>
            <p:ph idx="4294967295"/>
          </p:nvPr>
        </p:nvSpPr>
        <p:spPr>
          <a:xfrm>
            <a:off x="1689101" y="1327150"/>
            <a:ext cx="10501312" cy="4268788"/>
          </a:xfrm>
        </p:spPr>
        <p:txBody>
          <a:bodyPr/>
          <a:lstStyle/>
          <a:p>
            <a:r>
              <a:rPr lang="en-US" dirty="0"/>
              <a:t>Methods for bit manipulation</a:t>
            </a:r>
          </a:p>
        </p:txBody>
      </p:sp>
      <p:sp>
        <p:nvSpPr>
          <p:cNvPr id="8"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dirty="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42</a:t>
            </a:fld>
            <a:endParaRPr lang="en-US" sz="1000" dirty="0">
              <a:solidFill>
                <a:srgbClr val="FFFFFF"/>
              </a:solidFill>
              <a:latin typeface="Arial" charset="0"/>
              <a:ea typeface="ＭＳ Ｐゴシック" pitchFamily="34" charset="-128"/>
              <a:cs typeface="Arial" charset="0"/>
            </a:endParaRPr>
          </a:p>
        </p:txBody>
      </p:sp>
      <p:graphicFrame>
        <p:nvGraphicFramePr>
          <p:cNvPr id="9" name="Content Placeholder 14">
            <a:extLst>
              <a:ext uri="{FF2B5EF4-FFF2-40B4-BE49-F238E27FC236}">
                <a16:creationId xmlns:a16="http://schemas.microsoft.com/office/drawing/2014/main" id="{10787318-A937-4663-A72A-43CD064F78A1}"/>
              </a:ext>
            </a:extLst>
          </p:cNvPr>
          <p:cNvGraphicFramePr>
            <a:graphicFrameLocks/>
          </p:cNvGraphicFramePr>
          <p:nvPr/>
        </p:nvGraphicFramePr>
        <p:xfrm>
          <a:off x="874281" y="2081470"/>
          <a:ext cx="10597019" cy="1463040"/>
        </p:xfrm>
        <a:graphic>
          <a:graphicData uri="http://schemas.openxmlformats.org/drawingml/2006/table">
            <a:tbl>
              <a:tblPr firstCol="1" bandRow="1"/>
              <a:tblGrid>
                <a:gridCol w="2162657">
                  <a:extLst>
                    <a:ext uri="{9D8B030D-6E8A-4147-A177-3AD203B41FA5}">
                      <a16:colId xmlns:a16="http://schemas.microsoft.com/office/drawing/2014/main" val="20000"/>
                    </a:ext>
                  </a:extLst>
                </a:gridCol>
                <a:gridCol w="4217181">
                  <a:extLst>
                    <a:ext uri="{9D8B030D-6E8A-4147-A177-3AD203B41FA5}">
                      <a16:colId xmlns:a16="http://schemas.microsoft.com/office/drawing/2014/main" val="20001"/>
                    </a:ext>
                  </a:extLst>
                </a:gridCol>
                <a:gridCol w="4217181">
                  <a:extLst>
                    <a:ext uri="{9D8B030D-6E8A-4147-A177-3AD203B41FA5}">
                      <a16:colId xmlns:a16="http://schemas.microsoft.com/office/drawing/2014/main" val="20002"/>
                    </a:ext>
                  </a:extLst>
                </a:gridCol>
              </a:tblGrid>
              <a:tr h="0">
                <a:tc gridSpan="2">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dirty="0">
                          <a:solidFill>
                            <a:schemeClr val="tx1"/>
                          </a:solidFill>
                        </a:rPr>
                        <a:t>Methods</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tc hMerge="1">
                  <a: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b="1" dirty="0">
                          <a:solidFill>
                            <a:schemeClr val="tx1"/>
                          </a:solidFill>
                        </a:rPr>
                        <a:t>Example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lumMod val="40000"/>
                        <a:lumOff val="60000"/>
                      </a:srgbClr>
                    </a:solidFill>
                  </a:tcPr>
                </a:tc>
                <a:extLst>
                  <a:ext uri="{0D108BD9-81ED-4DB2-BD59-A6C34878D82A}">
                    <a16:rowId xmlns:a16="http://schemas.microsoft.com/office/drawing/2014/main" val="10000"/>
                  </a:ext>
                </a:extLst>
              </a:tr>
              <a:tr h="0">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Length </a:t>
                      </a:r>
                      <a:r>
                        <a:rPr lang="en-US" sz="1200" dirty="0"/>
                        <a:t>	</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Returns the length of the variable.</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res=</a:t>
                      </a:r>
                      <a:r>
                        <a:rPr lang="en-US" sz="1200" dirty="0" err="1"/>
                        <a:t>var.length</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1"/>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b="1" kern="1200" dirty="0">
                          <a:solidFill>
                            <a:schemeClr val="lt1"/>
                          </a:solidFill>
                          <a:latin typeface="+mn-lt"/>
                          <a:ea typeface="+mn-ea"/>
                          <a:cs typeface="+mn-cs"/>
                        </a:rPr>
                        <a:t>Concatenation</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Concatenation low</a:t>
                      </a:r>
                      <a:r>
                        <a:rPr lang="en-US" sz="1200" baseline="0" dirty="0"/>
                        <a:t> to high</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       res=</a:t>
                      </a:r>
                      <a:r>
                        <a:rPr lang="en-US" sz="1200" dirty="0" err="1"/>
                        <a:t>var_hi.concat</a:t>
                      </a:r>
                      <a:r>
                        <a:rPr lang="en-US" sz="1200" dirty="0"/>
                        <a:t>(</a:t>
                      </a:r>
                      <a:r>
                        <a:rPr lang="en-US" sz="1200" dirty="0" err="1"/>
                        <a:t>var_lo</a:t>
                      </a:r>
                      <a:r>
                        <a:rPr lang="en-US" sz="1200" dirty="0"/>
                        <a:t>);</a:t>
                      </a:r>
                    </a:p>
                    <a:p>
                      <a:r>
                        <a:rPr lang="en-US" sz="1200" dirty="0"/>
                        <a:t> Or  res= (</a:t>
                      </a:r>
                      <a:r>
                        <a:rPr lang="en-US" sz="1200" dirty="0" err="1"/>
                        <a:t>var</a:t>
                      </a:r>
                      <a:r>
                        <a:rPr lang="en-US" sz="1200" baseline="0" dirty="0" err="1"/>
                        <a:t>_hi</a:t>
                      </a:r>
                      <a:r>
                        <a:rPr lang="en-US" sz="1200" dirty="0" err="1"/>
                        <a:t>,var_</a:t>
                      </a:r>
                      <a:r>
                        <a:rPr lang="en-US" sz="1200" baseline="0" dirty="0" err="1"/>
                        <a:t>lo</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2"/>
                  </a:ext>
                </a:extLst>
              </a:tr>
              <a:tr h="117711">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r>
                        <a:rPr lang="en-US" sz="1200" dirty="0"/>
                        <a:t>Range or Bit-select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Return a bit-range from high</a:t>
                      </a:r>
                      <a:r>
                        <a:rPr lang="en-US" sz="1200" baseline="0" dirty="0"/>
                        <a:t> to low or a specific bit.</a:t>
                      </a:r>
                      <a:endParaRPr lang="en-US" sz="1200" dirty="0"/>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      res=</a:t>
                      </a:r>
                      <a:r>
                        <a:rPr lang="en-US" sz="1200" dirty="0" err="1"/>
                        <a:t>var.range</a:t>
                      </a:r>
                      <a:r>
                        <a:rPr lang="en-US" sz="1200" dirty="0"/>
                        <a:t>(high </a:t>
                      </a:r>
                      <a:r>
                        <a:rPr lang="en-US" sz="1200" dirty="0" err="1"/>
                        <a:t>bit,low</a:t>
                      </a:r>
                      <a:r>
                        <a:rPr lang="en-US" sz="1200" dirty="0"/>
                        <a:t> bit); </a:t>
                      </a:r>
                    </a:p>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t>Or </a:t>
                      </a:r>
                      <a:r>
                        <a:rPr lang="en-US" sz="1200" baseline="0" dirty="0"/>
                        <a:t> res=</a:t>
                      </a:r>
                      <a:r>
                        <a:rPr lang="en-US" sz="1200" baseline="0" dirty="0" err="1"/>
                        <a:t>var</a:t>
                      </a:r>
                      <a:r>
                        <a:rPr lang="en-US" sz="1200" baseline="0" dirty="0"/>
                        <a:t>[bit-number</a:t>
                      </a:r>
                      <a:r>
                        <a:rPr lang="en-US" sz="1200" dirty="0"/>
                        <a:t>]</a:t>
                      </a:r>
                    </a:p>
                  </a:txBody>
                  <a:tcPr marL="121888" marR="121888">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FD92E-1223-4938-9BAE-602DC65D450B}"/>
              </a:ext>
            </a:extLst>
          </p:cNvPr>
          <p:cNvSpPr>
            <a:spLocks noGrp="1"/>
          </p:cNvSpPr>
          <p:nvPr>
            <p:ph type="title"/>
          </p:nvPr>
        </p:nvSpPr>
        <p:spPr/>
        <p:txBody>
          <a:bodyPr/>
          <a:lstStyle/>
          <a:p>
            <a:r>
              <a:rPr lang="en-US" altLang="zh-CN" dirty="0"/>
              <a:t>Floating Point Support</a:t>
            </a:r>
            <a:endParaRPr lang="zh-CN" altLang="en-US" dirty="0"/>
          </a:p>
        </p:txBody>
      </p:sp>
    </p:spTree>
    <p:extLst>
      <p:ext uri="{BB962C8B-B14F-4D97-AF65-F5344CB8AC3E}">
        <p14:creationId xmlns:p14="http://schemas.microsoft.com/office/powerpoint/2010/main" val="3004105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2"/>
          <p:cNvSpPr>
            <a:spLocks noGrp="1"/>
          </p:cNvSpPr>
          <p:nvPr>
            <p:ph type="title"/>
          </p:nvPr>
        </p:nvSpPr>
        <p:spPr/>
        <p:txBody>
          <a:bodyPr/>
          <a:lstStyle/>
          <a:p>
            <a:r>
              <a:rPr lang="en-US" altLang="zh-CN" dirty="0">
                <a:ea typeface="宋体" charset="-122"/>
              </a:rPr>
              <a:t>Floating Point Support</a:t>
            </a:r>
          </a:p>
        </p:txBody>
      </p:sp>
      <p:sp>
        <p:nvSpPr>
          <p:cNvPr id="8" name="Slide Number Placeholder 7"/>
          <p:cNvSpPr>
            <a:spLocks noGrp="1"/>
          </p:cNvSpPr>
          <p:nvPr>
            <p:ph type="sldNum" sz="quarter" idx="10"/>
          </p:nvPr>
        </p:nvSpPr>
        <p:spPr>
          <a:xfrm>
            <a:off x="579120" y="6325606"/>
            <a:ext cx="1424939" cy="365125"/>
          </a:xfrm>
        </p:spPr>
        <p:txBody>
          <a:bodyPr/>
          <a:lstStyle/>
          <a:p>
            <a:pPr>
              <a:defRPr/>
            </a:pPr>
            <a:r>
              <a:rPr lang="en-US" dirty="0"/>
              <a:t>Data Types 14- </a:t>
            </a:r>
            <a:fld id="{060BD193-E118-4B16-863C-C8C12C675E3E}" type="slidenum">
              <a:rPr lang="en-US" smtClean="0"/>
              <a:pPr>
                <a:defRPr/>
              </a:pPr>
              <a:t>44</a:t>
            </a:fld>
            <a:endParaRPr lang="en-US" dirty="0"/>
          </a:p>
        </p:txBody>
      </p:sp>
      <p:sp>
        <p:nvSpPr>
          <p:cNvPr id="24578" name="Rectangle 3"/>
          <p:cNvSpPr>
            <a:spLocks noGrp="1"/>
          </p:cNvSpPr>
          <p:nvPr>
            <p:ph idx="4294967295"/>
          </p:nvPr>
        </p:nvSpPr>
        <p:spPr>
          <a:xfrm>
            <a:off x="579121" y="1327151"/>
            <a:ext cx="10546079" cy="4932363"/>
          </a:xfrm>
        </p:spPr>
        <p:txBody>
          <a:bodyPr>
            <a:normAutofit/>
          </a:bodyPr>
          <a:lstStyle/>
          <a:p>
            <a:r>
              <a:rPr lang="en-US" altLang="zh-CN" sz="2200" dirty="0">
                <a:ea typeface="宋体" charset="-122"/>
              </a:rPr>
              <a:t>Synthesis for floating point </a:t>
            </a:r>
          </a:p>
          <a:p>
            <a:pPr lvl="1"/>
            <a:r>
              <a:rPr lang="en-US" altLang="zh-CN" sz="1900" dirty="0">
                <a:ea typeface="宋体" charset="-122"/>
              </a:rPr>
              <a:t>Data types (IEEE-754 standard compliant)</a:t>
            </a:r>
          </a:p>
          <a:p>
            <a:pPr lvl="2"/>
            <a:r>
              <a:rPr lang="en-US" altLang="zh-CN" sz="2200" dirty="0">
                <a:ea typeface="宋体" charset="-122"/>
              </a:rPr>
              <a:t>Single-precision </a:t>
            </a:r>
            <a:endParaRPr lang="en-US" altLang="zh-CN" sz="1700" dirty="0">
              <a:ea typeface="宋体" charset="-122"/>
            </a:endParaRPr>
          </a:p>
          <a:p>
            <a:pPr lvl="3"/>
            <a:r>
              <a:rPr lang="en-US" altLang="zh-CN" sz="1500" dirty="0">
                <a:ea typeface="宋体" charset="-122"/>
              </a:rPr>
              <a:t>32 bit: 24-bit fraction, 8-bit exponent </a:t>
            </a:r>
          </a:p>
          <a:p>
            <a:pPr lvl="2"/>
            <a:r>
              <a:rPr lang="en-US" altLang="zh-CN" sz="2200" dirty="0">
                <a:ea typeface="宋体" charset="-122"/>
              </a:rPr>
              <a:t>Double-precision </a:t>
            </a:r>
            <a:endParaRPr lang="en-US" altLang="zh-CN" sz="1700" dirty="0">
              <a:ea typeface="宋体" charset="-122"/>
            </a:endParaRPr>
          </a:p>
          <a:p>
            <a:pPr lvl="3"/>
            <a:r>
              <a:rPr lang="en-US" altLang="zh-CN" sz="1500" dirty="0">
                <a:ea typeface="宋体" charset="-122"/>
              </a:rPr>
              <a:t>64 bit: 53-bit fraction, 11-bit exponent</a:t>
            </a:r>
          </a:p>
          <a:p>
            <a:r>
              <a:rPr lang="en-US" altLang="zh-CN" sz="2200" dirty="0">
                <a:ea typeface="宋体" charset="-122"/>
              </a:rPr>
              <a:t>Support for Operators</a:t>
            </a:r>
          </a:p>
          <a:p>
            <a:pPr lvl="1"/>
            <a:r>
              <a:rPr lang="en-US" altLang="zh-CN" sz="1900" dirty="0" err="1">
                <a:ea typeface="宋体" charset="-122"/>
              </a:rPr>
              <a:t>Vitis</a:t>
            </a:r>
            <a:r>
              <a:rPr lang="en-US" altLang="zh-CN" sz="1900" dirty="0">
                <a:ea typeface="宋体" charset="-122"/>
              </a:rPr>
              <a:t> HLS supports the Floating Point (FP) cores for each Xilinx technology</a:t>
            </a:r>
          </a:p>
          <a:p>
            <a:pPr lvl="2"/>
            <a:r>
              <a:rPr lang="en-US" altLang="zh-CN" sz="1900" dirty="0">
                <a:ea typeface="宋体" charset="-122"/>
                <a:sym typeface="Wingdings" pitchFamily="2" charset="2"/>
              </a:rPr>
              <a:t>If Xilinx has a FP core, </a:t>
            </a:r>
            <a:r>
              <a:rPr lang="en-US" altLang="zh-CN" sz="1900" dirty="0" err="1">
                <a:ea typeface="宋体" charset="-122"/>
                <a:sym typeface="Wingdings" pitchFamily="2" charset="2"/>
              </a:rPr>
              <a:t>Vitis</a:t>
            </a:r>
            <a:r>
              <a:rPr lang="en-US" altLang="zh-CN" sz="1900" dirty="0">
                <a:ea typeface="宋体" charset="-122"/>
                <a:sym typeface="Wingdings" pitchFamily="2" charset="2"/>
              </a:rPr>
              <a:t> HLS supports it</a:t>
            </a:r>
          </a:p>
          <a:p>
            <a:pPr lvl="2"/>
            <a:r>
              <a:rPr lang="en-US" altLang="zh-CN" sz="1900" dirty="0">
                <a:ea typeface="宋体" charset="-122"/>
                <a:sym typeface="Wingdings" pitchFamily="2" charset="2"/>
              </a:rPr>
              <a:t>It will automatically be synthesized</a:t>
            </a:r>
          </a:p>
          <a:p>
            <a:pPr lvl="1"/>
            <a:r>
              <a:rPr lang="en-US" altLang="zh-CN" sz="1900" dirty="0">
                <a:ea typeface="宋体" charset="-122"/>
                <a:sym typeface="Wingdings" pitchFamily="2" charset="2"/>
              </a:rPr>
              <a:t>If there is no such FP core in the Xilinx technology</a:t>
            </a:r>
            <a:endParaRPr lang="en-US" altLang="zh-CN" sz="1900" strike="sngStrike" dirty="0">
              <a:ea typeface="宋体" charset="-122"/>
              <a:sym typeface="Wingdings" pitchFamily="2" charset="2"/>
            </a:endParaRPr>
          </a:p>
          <a:p>
            <a:pPr lvl="2"/>
            <a:r>
              <a:rPr lang="en-US" altLang="zh-CN" sz="1700" dirty="0">
                <a:ea typeface="宋体" charset="-122"/>
                <a:sym typeface="Wingdings" pitchFamily="2" charset="2"/>
              </a:rPr>
              <a:t>Design should be re-coded to fixed-point types</a:t>
            </a: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4577" name="Rectangle 2"/>
          <p:cNvSpPr>
            <a:spLocks noGrp="1"/>
          </p:cNvSpPr>
          <p:nvPr>
            <p:ph type="title"/>
          </p:nvPr>
        </p:nvSpPr>
        <p:spPr/>
        <p:txBody>
          <a:bodyPr/>
          <a:lstStyle/>
          <a:p>
            <a:r>
              <a:rPr lang="en-US" altLang="zh-CN" dirty="0">
                <a:ea typeface="宋体" charset="-122"/>
              </a:rPr>
              <a:t>Floating Point Support</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45</a:t>
            </a:fld>
            <a:endParaRPr lang="en-US" dirty="0">
              <a:solidFill>
                <a:srgbClr val="0C0C0C">
                  <a:tint val="75000"/>
                </a:srgbClr>
              </a:solidFill>
              <a:latin typeface="Arial"/>
            </a:endParaRPr>
          </a:p>
        </p:txBody>
      </p:sp>
      <p:sp>
        <p:nvSpPr>
          <p:cNvPr id="24578" name="Rectangle 3"/>
          <p:cNvSpPr>
            <a:spLocks noGrp="1"/>
          </p:cNvSpPr>
          <p:nvPr>
            <p:ph idx="4294967295"/>
          </p:nvPr>
        </p:nvSpPr>
        <p:spPr>
          <a:xfrm>
            <a:off x="1689101" y="1327151"/>
            <a:ext cx="10501312" cy="4932363"/>
          </a:xfrm>
        </p:spPr>
        <p:txBody>
          <a:bodyPr>
            <a:normAutofit lnSpcReduction="10000"/>
          </a:bodyPr>
          <a:lstStyle/>
          <a:p>
            <a:r>
              <a:rPr lang="en-US" altLang="zh-CN" sz="2200" dirty="0">
                <a:ea typeface="宋体" charset="-122"/>
              </a:rPr>
              <a:t>Synthesis for floating point </a:t>
            </a:r>
          </a:p>
          <a:p>
            <a:pPr lvl="1"/>
            <a:r>
              <a:rPr lang="en-US" altLang="zh-CN" sz="1900" dirty="0">
                <a:ea typeface="宋体" charset="-122"/>
              </a:rPr>
              <a:t>Data types (IEEE-754 standard compliant)</a:t>
            </a:r>
          </a:p>
          <a:p>
            <a:pPr lvl="2"/>
            <a:r>
              <a:rPr lang="en-US" altLang="zh-CN" sz="2200" dirty="0">
                <a:solidFill>
                  <a:srgbClr val="FF0000"/>
                </a:solidFill>
                <a:ea typeface="宋体" charset="-122"/>
              </a:rPr>
              <a:t>Single-precision </a:t>
            </a:r>
            <a:endParaRPr lang="en-US" altLang="zh-CN" sz="1700" dirty="0">
              <a:solidFill>
                <a:srgbClr val="FF0000"/>
              </a:solidFill>
              <a:ea typeface="宋体" charset="-122"/>
            </a:endParaRPr>
          </a:p>
          <a:p>
            <a:pPr lvl="3"/>
            <a:r>
              <a:rPr lang="en-US" altLang="zh-CN" sz="1500" dirty="0">
                <a:solidFill>
                  <a:srgbClr val="FF0000"/>
                </a:solidFill>
                <a:ea typeface="宋体" charset="-122"/>
              </a:rPr>
              <a:t>32 bit: 24-bit fraction, 8-bit exponent </a:t>
            </a:r>
          </a:p>
          <a:p>
            <a:pPr lvl="2"/>
            <a:r>
              <a:rPr lang="en-US" altLang="zh-CN" sz="2200" dirty="0">
                <a:solidFill>
                  <a:srgbClr val="FF0000"/>
                </a:solidFill>
                <a:ea typeface="宋体" charset="-122"/>
              </a:rPr>
              <a:t>Double-precision </a:t>
            </a:r>
            <a:endParaRPr lang="en-US" altLang="zh-CN" sz="1700" dirty="0">
              <a:solidFill>
                <a:srgbClr val="FF0000"/>
              </a:solidFill>
              <a:ea typeface="宋体" charset="-122"/>
            </a:endParaRPr>
          </a:p>
          <a:p>
            <a:pPr lvl="3"/>
            <a:r>
              <a:rPr lang="en-US" altLang="zh-CN" sz="1500" dirty="0">
                <a:solidFill>
                  <a:srgbClr val="FF0000"/>
                </a:solidFill>
                <a:ea typeface="宋体" charset="-122"/>
              </a:rPr>
              <a:t>64 bit: 53-bit fraction, 11-bit exponent</a:t>
            </a:r>
          </a:p>
          <a:p>
            <a:pPr lvl="2"/>
            <a:r>
              <a:rPr lang="en-US" altLang="zh-CN" sz="2200" dirty="0">
                <a:highlight>
                  <a:srgbClr val="FFFF00"/>
                </a:highlight>
                <a:ea typeface="宋体" charset="-122"/>
              </a:rPr>
              <a:t>Half-precision</a:t>
            </a:r>
          </a:p>
          <a:p>
            <a:pPr lvl="3"/>
            <a:r>
              <a:rPr lang="en-US" sz="1500" strike="sngStrike" dirty="0">
                <a:highlight>
                  <a:srgbClr val="FFFF00"/>
                </a:highlight>
                <a:sym typeface="Wingdings" pitchFamily="2" charset="2"/>
              </a:rPr>
              <a:t>16-bit:1-bit sign, 5-bit exponent, 10-bit mantissa</a:t>
            </a:r>
          </a:p>
          <a:p>
            <a:pPr lvl="3"/>
            <a:r>
              <a:rPr lang="en-US" sz="1500" dirty="0">
                <a:sym typeface="Wingdings" pitchFamily="2" charset="2"/>
              </a:rPr>
              <a:t>16-bit:11-bit fraction, 5-bit exponent.</a:t>
            </a:r>
            <a:endParaRPr lang="en-US" sz="1500" dirty="0">
              <a:highlight>
                <a:srgbClr val="FFFF00"/>
              </a:highlight>
              <a:sym typeface="Wingdings" pitchFamily="2" charset="2"/>
            </a:endParaRPr>
          </a:p>
          <a:p>
            <a:r>
              <a:rPr lang="en-US" altLang="zh-CN" sz="2200" dirty="0">
                <a:ea typeface="宋体" charset="-122"/>
              </a:rPr>
              <a:t>Support for Operators</a:t>
            </a:r>
          </a:p>
          <a:p>
            <a:pPr lvl="1"/>
            <a:r>
              <a:rPr lang="en-US" altLang="zh-CN" sz="1900" dirty="0" err="1">
                <a:highlight>
                  <a:srgbClr val="FFFF00"/>
                </a:highlight>
                <a:ea typeface="宋体" charset="-122"/>
              </a:rPr>
              <a:t>Vitis</a:t>
            </a:r>
            <a:r>
              <a:rPr lang="en-US" altLang="zh-CN" sz="1900" dirty="0">
                <a:highlight>
                  <a:srgbClr val="FFFF00"/>
                </a:highlight>
                <a:ea typeface="宋体" charset="-122"/>
              </a:rPr>
              <a:t> </a:t>
            </a:r>
            <a:r>
              <a:rPr lang="en-US" altLang="zh-CN" sz="1900" dirty="0">
                <a:ea typeface="宋体" charset="-122"/>
              </a:rPr>
              <a:t>HLS supports the Floating Point (FP) cores for each Xilinx technology</a:t>
            </a:r>
          </a:p>
          <a:p>
            <a:pPr lvl="2"/>
            <a:r>
              <a:rPr lang="en-US" altLang="zh-CN" sz="1900" dirty="0">
                <a:ea typeface="宋体" charset="-122"/>
                <a:sym typeface="Wingdings" pitchFamily="2" charset="2"/>
              </a:rPr>
              <a:t>If Xilinx has a FP core, </a:t>
            </a:r>
            <a:r>
              <a:rPr lang="en-US" altLang="zh-CN" sz="1900" dirty="0" err="1">
                <a:highlight>
                  <a:srgbClr val="FFFF00"/>
                </a:highlight>
                <a:ea typeface="宋体" charset="-122"/>
                <a:sym typeface="Wingdings" pitchFamily="2" charset="2"/>
              </a:rPr>
              <a:t>Vitis</a:t>
            </a:r>
            <a:r>
              <a:rPr lang="en-US" altLang="zh-CN" sz="1900" dirty="0">
                <a:ea typeface="宋体" charset="-122"/>
                <a:sym typeface="Wingdings" pitchFamily="2" charset="2"/>
              </a:rPr>
              <a:t> HLS supports it</a:t>
            </a:r>
          </a:p>
          <a:p>
            <a:pPr lvl="2"/>
            <a:r>
              <a:rPr lang="en-US" altLang="zh-CN" sz="1900" dirty="0">
                <a:ea typeface="宋体" charset="-122"/>
                <a:sym typeface="Wingdings" pitchFamily="2" charset="2"/>
              </a:rPr>
              <a:t>It will automatically be synthesized</a:t>
            </a:r>
          </a:p>
          <a:p>
            <a:pPr lvl="1"/>
            <a:r>
              <a:rPr lang="en-US" altLang="zh-CN" sz="1900" dirty="0">
                <a:ea typeface="宋体" charset="-122"/>
                <a:sym typeface="Wingdings" pitchFamily="2" charset="2"/>
              </a:rPr>
              <a:t>If there is no such FP core in the Xilinx technology</a:t>
            </a:r>
            <a:r>
              <a:rPr lang="en-US" altLang="zh-CN" sz="1900" strike="sngStrike" dirty="0">
                <a:ea typeface="宋体" charset="-122"/>
                <a:sym typeface="Wingdings" pitchFamily="2" charset="2"/>
              </a:rPr>
              <a:t>, it will not be in the library</a:t>
            </a:r>
          </a:p>
          <a:p>
            <a:pPr lvl="2"/>
            <a:r>
              <a:rPr lang="en-US" altLang="zh-CN" sz="1700" strike="sngStrike" dirty="0">
                <a:ea typeface="宋体" charset="-122"/>
                <a:sym typeface="Wingdings" pitchFamily="2" charset="2"/>
              </a:rPr>
              <a:t>The design will be still synthesized</a:t>
            </a:r>
          </a:p>
          <a:p>
            <a:pPr lvl="2"/>
            <a:r>
              <a:rPr lang="en-US" altLang="zh-CN" sz="1700" dirty="0">
                <a:highlight>
                  <a:srgbClr val="FFFF00"/>
                </a:highlight>
                <a:ea typeface="宋体" charset="-122"/>
                <a:sym typeface="Wingdings" pitchFamily="2" charset="2"/>
              </a:rPr>
              <a:t>Design should be re-coded to fixed-point types</a:t>
            </a:r>
          </a:p>
        </p:txBody>
      </p:sp>
      <p:sp>
        <p:nvSpPr>
          <p:cNvPr id="11" name="Slide Number Placeholder 4"/>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14-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45</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strike="sngStrike" dirty="0"/>
              <a:t>Half-Precision Floating Point Operations</a:t>
            </a:r>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46</a:t>
            </a:fld>
            <a:endParaRPr lang="en-US" dirty="0">
              <a:solidFill>
                <a:srgbClr val="0C0C0C">
                  <a:tint val="75000"/>
                </a:srgbClr>
              </a:solidFill>
              <a:latin typeface="Arial"/>
            </a:endParaRPr>
          </a:p>
        </p:txBody>
      </p:sp>
      <p:sp>
        <p:nvSpPr>
          <p:cNvPr id="2" name="Content Placeholder 1"/>
          <p:cNvSpPr>
            <a:spLocks noGrp="1"/>
          </p:cNvSpPr>
          <p:nvPr>
            <p:ph idx="4294967295"/>
          </p:nvPr>
        </p:nvSpPr>
        <p:spPr>
          <a:xfrm>
            <a:off x="1689101" y="1327150"/>
            <a:ext cx="10501312" cy="4268788"/>
          </a:xfrm>
        </p:spPr>
        <p:txBody>
          <a:bodyPr/>
          <a:lstStyle/>
          <a:p>
            <a:r>
              <a:rPr lang="en-US" dirty="0"/>
              <a:t>Supported operations</a:t>
            </a:r>
          </a:p>
          <a:p>
            <a:pPr lvl="1"/>
            <a:r>
              <a:rPr lang="en-US" dirty="0"/>
              <a:t>Addition</a:t>
            </a:r>
          </a:p>
          <a:p>
            <a:pPr lvl="1"/>
            <a:r>
              <a:rPr lang="en-US" dirty="0"/>
              <a:t>Division</a:t>
            </a:r>
          </a:p>
          <a:p>
            <a:pPr lvl="1"/>
            <a:r>
              <a:rPr lang="en-US" dirty="0"/>
              <a:t>Multiplication</a:t>
            </a:r>
          </a:p>
          <a:p>
            <a:pPr lvl="1"/>
            <a:r>
              <a:rPr lang="en-US" dirty="0"/>
              <a:t>Subtraction</a:t>
            </a:r>
          </a:p>
          <a:p>
            <a:r>
              <a:rPr lang="en-US" dirty="0"/>
              <a:t>Include “</a:t>
            </a:r>
            <a:r>
              <a:rPr lang="en-US" dirty="0" err="1"/>
              <a:t>hls_half.h</a:t>
            </a:r>
            <a:r>
              <a:rPr lang="en-US" dirty="0"/>
              <a:t>”</a:t>
            </a:r>
          </a:p>
          <a:p>
            <a:pPr marL="288838" lvl="1" indent="0">
              <a:buNone/>
            </a:pPr>
            <a:r>
              <a:rPr lang="en-US" sz="1600" dirty="0">
                <a:latin typeface="Courier New" panose="02070309020205020404" pitchFamily="49" charset="0"/>
                <a:cs typeface="Courier New" panose="02070309020205020404" pitchFamily="49" charset="0"/>
              </a:rPr>
              <a:t>// Include half-float header file</a:t>
            </a:r>
          </a:p>
          <a:p>
            <a:pPr marL="288838" lvl="1" indent="0">
              <a:buNone/>
            </a:pPr>
            <a:r>
              <a:rPr lang="en-US" sz="1600" dirty="0">
                <a:latin typeface="Courier New" panose="02070309020205020404" pitchFamily="49" charset="0"/>
                <a:cs typeface="Courier New" panose="02070309020205020404" pitchFamily="49" charset="0"/>
              </a:rPr>
              <a:t>#include “</a:t>
            </a:r>
            <a:r>
              <a:rPr lang="en-US" sz="1600" dirty="0" err="1">
                <a:latin typeface="Courier New" panose="02070309020205020404" pitchFamily="49" charset="0"/>
                <a:cs typeface="Courier New" panose="02070309020205020404" pitchFamily="49" charset="0"/>
              </a:rPr>
              <a:t>hls_half.h</a:t>
            </a:r>
            <a:r>
              <a:rPr lang="en-US" sz="1600" dirty="0">
                <a:latin typeface="Courier New" panose="02070309020205020404" pitchFamily="49" charset="0"/>
                <a:cs typeface="Courier New" panose="02070309020205020404" pitchFamily="49" charset="0"/>
              </a:rPr>
              <a:t>”</a:t>
            </a:r>
          </a:p>
          <a:p>
            <a:pPr marL="288838" lvl="1" indent="0">
              <a:buNone/>
            </a:pPr>
            <a:r>
              <a:rPr lang="en-US" sz="1600" dirty="0">
                <a:latin typeface="Courier New" panose="02070309020205020404" pitchFamily="49" charset="0"/>
                <a:cs typeface="Courier New" panose="02070309020205020404" pitchFamily="49" charset="0"/>
              </a:rPr>
              <a:t>// Use data-type “half”</a:t>
            </a:r>
          </a:p>
          <a:p>
            <a:pPr marL="288838" lvl="1" indent="0">
              <a:buNone/>
            </a:pPr>
            <a:r>
              <a:rPr lang="en-US" sz="1600" dirty="0" err="1">
                <a:latin typeface="Courier New" panose="02070309020205020404" pitchFamily="49" charset="0"/>
                <a:cs typeface="Courier New" panose="02070309020205020404" pitchFamily="49" charset="0"/>
              </a:rPr>
              <a:t>typedef</a:t>
            </a:r>
            <a:r>
              <a:rPr lang="en-US" sz="1600" dirty="0">
                <a:latin typeface="Courier New" panose="02070309020205020404" pitchFamily="49" charset="0"/>
                <a:cs typeface="Courier New" panose="02070309020205020404" pitchFamily="49" charset="0"/>
              </a:rPr>
              <a:t> half </a:t>
            </a:r>
            <a:r>
              <a:rPr lang="en-US" sz="1600" dirty="0" err="1">
                <a:latin typeface="Courier New" panose="02070309020205020404" pitchFamily="49" charset="0"/>
                <a:cs typeface="Courier New" panose="02070309020205020404" pitchFamily="49" charset="0"/>
              </a:rPr>
              <a:t>data_t</a:t>
            </a:r>
            <a:r>
              <a:rPr lang="en-US" sz="1600" dirty="0">
                <a:latin typeface="Courier New" panose="02070309020205020404" pitchFamily="49" charset="0"/>
                <a:cs typeface="Courier New" panose="02070309020205020404" pitchFamily="49" charset="0"/>
              </a:rPr>
              <a:t>;</a:t>
            </a:r>
          </a:p>
          <a:p>
            <a:pPr marL="288838" lvl="1" indent="0">
              <a:buNone/>
            </a:pPr>
            <a:r>
              <a:rPr lang="en-US" sz="1600" dirty="0">
                <a:latin typeface="Courier New" panose="02070309020205020404" pitchFamily="49" charset="0"/>
                <a:cs typeface="Courier New" panose="02070309020205020404" pitchFamily="49" charset="0"/>
              </a:rPr>
              <a:t>// Use </a:t>
            </a:r>
            <a:r>
              <a:rPr lang="en-US" sz="1600" dirty="0" err="1">
                <a:latin typeface="Courier New" panose="02070309020205020404" pitchFamily="49" charset="0"/>
                <a:cs typeface="Courier New" panose="02070309020205020404" pitchFamily="49" charset="0"/>
              </a:rPr>
              <a:t>typedef</a:t>
            </a:r>
            <a:r>
              <a:rPr lang="en-US" sz="1600" dirty="0">
                <a:latin typeface="Courier New" panose="02070309020205020404" pitchFamily="49" charset="0"/>
                <a:cs typeface="Courier New" panose="02070309020205020404" pitchFamily="49" charset="0"/>
              </a:rPr>
              <a:t> or “half” on arrays and pointers</a:t>
            </a:r>
          </a:p>
          <a:p>
            <a:pPr marL="288838" lvl="1" indent="0">
              <a:buNone/>
            </a:pPr>
            <a:r>
              <a:rPr lang="en-US" sz="1600" dirty="0">
                <a:latin typeface="Courier New" panose="02070309020205020404" pitchFamily="49" charset="0"/>
                <a:cs typeface="Courier New" panose="02070309020205020404" pitchFamily="49" charset="0"/>
              </a:rPr>
              <a:t>void top( </a:t>
            </a:r>
            <a:r>
              <a:rPr lang="en-US" sz="1600" dirty="0" err="1">
                <a:latin typeface="Courier New" panose="02070309020205020404" pitchFamily="49" charset="0"/>
                <a:cs typeface="Courier New" panose="02070309020205020404" pitchFamily="49" charset="0"/>
              </a:rPr>
              <a:t>data_t</a:t>
            </a:r>
            <a:r>
              <a:rPr lang="en-US" sz="1600" dirty="0">
                <a:latin typeface="Courier New" panose="02070309020205020404" pitchFamily="49" charset="0"/>
                <a:cs typeface="Courier New" panose="02070309020205020404" pitchFamily="49" charset="0"/>
              </a:rPr>
              <a:t> in[SIZE], half &amp;</a:t>
            </a:r>
            <a:r>
              <a:rPr lang="en-US" sz="1600" dirty="0" err="1">
                <a:latin typeface="Courier New" panose="02070309020205020404" pitchFamily="49" charset="0"/>
                <a:cs typeface="Courier New" panose="02070309020205020404" pitchFamily="49" charset="0"/>
              </a:rPr>
              <a:t>out_sum</a:t>
            </a:r>
            <a:r>
              <a:rPr lang="en-US" sz="16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8365826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strike="sngStrike" dirty="0"/>
              <a:t>Floating-Point Cores</a:t>
            </a:r>
          </a:p>
        </p:txBody>
      </p:sp>
      <p:sp>
        <p:nvSpPr>
          <p:cNvPr id="2" name="Slide Number Placeholder 1"/>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47</a:t>
            </a:fld>
            <a:endParaRPr lang="en-US" dirty="0">
              <a:solidFill>
                <a:srgbClr val="0C0C0C">
                  <a:tint val="75000"/>
                </a:srgbClr>
              </a:solidFill>
              <a:latin typeface="Arial"/>
            </a:endParaRPr>
          </a:p>
        </p:txBody>
      </p:sp>
      <p:pic>
        <p:nvPicPr>
          <p:cNvPr id="5" name="Picture 4"/>
          <p:cNvPicPr>
            <a:picLocks noChangeAspect="1"/>
          </p:cNvPicPr>
          <p:nvPr/>
        </p:nvPicPr>
        <p:blipFill>
          <a:blip r:embed="rId3"/>
          <a:stretch>
            <a:fillRect/>
          </a:stretch>
        </p:blipFill>
        <p:spPr>
          <a:xfrm>
            <a:off x="1308026" y="832067"/>
            <a:ext cx="4583830" cy="5650637"/>
          </a:xfrm>
          <a:prstGeom prst="rect">
            <a:avLst/>
          </a:prstGeom>
        </p:spPr>
      </p:pic>
      <p:pic>
        <p:nvPicPr>
          <p:cNvPr id="6" name="Picture 5"/>
          <p:cNvPicPr>
            <a:picLocks noChangeAspect="1"/>
          </p:cNvPicPr>
          <p:nvPr/>
        </p:nvPicPr>
        <p:blipFill>
          <a:blip r:embed="rId4"/>
          <a:stretch>
            <a:fillRect/>
          </a:stretch>
        </p:blipFill>
        <p:spPr>
          <a:xfrm>
            <a:off x="5982213" y="832067"/>
            <a:ext cx="5376879" cy="5602595"/>
          </a:xfrm>
          <a:prstGeom prst="rect">
            <a:avLst/>
          </a:prstGeom>
        </p:spPr>
      </p:pic>
    </p:spTree>
    <p:extLst>
      <p:ext uri="{BB962C8B-B14F-4D97-AF65-F5344CB8AC3E}">
        <p14:creationId xmlns:p14="http://schemas.microsoft.com/office/powerpoint/2010/main" val="42430611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896D5655-A0FC-47AB-9EF8-B49F985B88A5}"/>
              </a:ext>
            </a:extLst>
          </p:cNvPr>
          <p:cNvSpPr txBox="1">
            <a:spLocks/>
          </p:cNvSpPr>
          <p:nvPr/>
        </p:nvSpPr>
        <p:spPr>
          <a:xfrm>
            <a:off x="554993" y="1079932"/>
            <a:ext cx="11082014" cy="3551340"/>
          </a:xfrm>
          <a:prstGeom prst="rect">
            <a:avLst/>
          </a:prstGeom>
        </p:spPr>
        <p:txBody>
          <a:bodyPr vert="horz" lIns="91440" tIns="45720" rIns="91440" bIns="45720" rtlCol="0">
            <a:noAutofit/>
          </a:bodyPr>
          <a:lst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lumMod val="50000"/>
                  </a:schemeClr>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2"/>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999"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Floats and doubles are commonly used with </a:t>
            </a:r>
            <a:r>
              <a:rPr lang="en-US" sz="2000" b="0" dirty="0" err="1">
                <a:solidFill>
                  <a:schemeClr val="tx1"/>
                </a:solidFill>
                <a:ea typeface="宋体" charset="-122"/>
              </a:rPr>
              <a:t>math.h</a:t>
            </a:r>
            <a:r>
              <a:rPr lang="en-US" sz="2000" b="0" dirty="0">
                <a:solidFill>
                  <a:schemeClr val="tx1"/>
                </a:solidFill>
                <a:ea typeface="宋体" charset="-122"/>
              </a:rPr>
              <a:t> for C and </a:t>
            </a:r>
            <a:r>
              <a:rPr lang="en-US" sz="2000" b="0" dirty="0" err="1">
                <a:solidFill>
                  <a:schemeClr val="tx1"/>
                </a:solidFill>
                <a:ea typeface="宋体" charset="-122"/>
              </a:rPr>
              <a:t>cmath.h</a:t>
            </a:r>
            <a:r>
              <a:rPr lang="en-US" sz="2000" b="0" dirty="0">
                <a:solidFill>
                  <a:schemeClr val="tx1"/>
                </a:solidFill>
                <a:ea typeface="宋体" charset="-122"/>
              </a:rPr>
              <a:t> for C++</a:t>
            </a:r>
          </a:p>
          <a:p>
            <a:pPr marL="234962" indent="-234962" defTabSz="1219261">
              <a:spcBef>
                <a:spcPts val="1600"/>
              </a:spcBef>
              <a:buClr>
                <a:schemeClr val="accent1"/>
              </a:buClr>
              <a:buSzPct val="80000"/>
              <a:buFont typeface="Webdings" panose="05030102010509060703" pitchFamily="18" charset="2"/>
              <a:buChar char="4"/>
            </a:pPr>
            <a:endParaRPr lang="en-US" sz="2000" b="0" dirty="0">
              <a:solidFill>
                <a:schemeClr val="tx1"/>
              </a:solidFill>
              <a:ea typeface="宋体" charset="-122"/>
            </a:endParaRPr>
          </a:p>
          <a:p>
            <a:pPr marL="234962" indent="-234962" defTabSz="1219261">
              <a:spcBef>
                <a:spcPts val="1600"/>
              </a:spcBef>
              <a:buClr>
                <a:schemeClr val="accent1"/>
              </a:buClr>
              <a:buSzPct val="80000"/>
              <a:buFont typeface="Webdings" panose="05030102010509060703" pitchFamily="18" charset="2"/>
              <a:buChar char="4"/>
            </a:pPr>
            <a:endParaRPr lang="en-US" sz="2000" b="0" dirty="0">
              <a:solidFill>
                <a:schemeClr val="tx1"/>
              </a:solidFill>
              <a:ea typeface="宋体" charset="-122"/>
            </a:endParaRPr>
          </a:p>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While converting C functions to C++ to take advantage of </a:t>
            </a:r>
            <a:r>
              <a:rPr lang="en-US" sz="2000" b="0" dirty="0" err="1">
                <a:solidFill>
                  <a:schemeClr val="tx1"/>
                </a:solidFill>
                <a:ea typeface="宋体" charset="-122"/>
              </a:rPr>
              <a:t>math.h</a:t>
            </a:r>
            <a:r>
              <a:rPr lang="en-US" sz="2000" b="0" dirty="0">
                <a:solidFill>
                  <a:schemeClr val="tx1"/>
                </a:solidFill>
                <a:ea typeface="宋体" charset="-122"/>
              </a:rPr>
              <a:t> support, be sure that the new C++ code compiles correctly before synthesizing with the </a:t>
            </a:r>
            <a:r>
              <a:rPr lang="en-US" sz="2000" b="0" dirty="0" err="1">
                <a:solidFill>
                  <a:schemeClr val="tx1"/>
                </a:solidFill>
                <a:ea typeface="宋体" charset="-122"/>
              </a:rPr>
              <a:t>Vitis</a:t>
            </a:r>
            <a:r>
              <a:rPr lang="en-US" sz="2000" b="0" dirty="0">
                <a:solidFill>
                  <a:schemeClr val="tx1"/>
                </a:solidFill>
                <a:ea typeface="宋体" charset="-122"/>
              </a:rPr>
              <a:t> HLS tool </a:t>
            </a:r>
          </a:p>
          <a:p>
            <a:pPr marL="234962" indent="-234962" defTabSz="1219261">
              <a:spcBef>
                <a:spcPts val="1600"/>
              </a:spcBef>
              <a:buClr>
                <a:schemeClr val="accent1"/>
              </a:buClr>
              <a:buSzPct val="80000"/>
              <a:buFont typeface="Webdings" panose="05030102010509060703" pitchFamily="18" charset="2"/>
              <a:buChar char="4"/>
            </a:pPr>
            <a:endParaRPr lang="en-US" sz="2000" b="0" dirty="0">
              <a:solidFill>
                <a:schemeClr val="tx1"/>
              </a:solidFill>
              <a:ea typeface="宋体" charset="-122"/>
            </a:endParaRPr>
          </a:p>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Using a </a:t>
            </a:r>
            <a:r>
              <a:rPr lang="en-US" sz="2000" b="0" dirty="0" err="1">
                <a:solidFill>
                  <a:schemeClr val="tx1"/>
                </a:solidFill>
                <a:ea typeface="宋体" charset="-122"/>
              </a:rPr>
              <a:t>sqrtf</a:t>
            </a:r>
            <a:r>
              <a:rPr lang="en-US" sz="2000" b="0" dirty="0">
                <a:solidFill>
                  <a:schemeClr val="tx1"/>
                </a:solidFill>
                <a:ea typeface="宋体" charset="-122"/>
              </a:rPr>
              <a:t>(function)</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Remove the need for the type converters in the hardware/Save the area and improves the timing</a:t>
            </a:r>
          </a:p>
        </p:txBody>
      </p:sp>
      <p:sp>
        <p:nvSpPr>
          <p:cNvPr id="2" name="Title 1">
            <a:extLst>
              <a:ext uri="{FF2B5EF4-FFF2-40B4-BE49-F238E27FC236}">
                <a16:creationId xmlns:a16="http://schemas.microsoft.com/office/drawing/2014/main" id="{982441F3-2C63-4DA0-B106-2D3F98FB4018}"/>
              </a:ext>
            </a:extLst>
          </p:cNvPr>
          <p:cNvSpPr>
            <a:spLocks noGrp="1"/>
          </p:cNvSpPr>
          <p:nvPr>
            <p:ph type="title"/>
          </p:nvPr>
        </p:nvSpPr>
        <p:spPr/>
        <p:txBody>
          <a:bodyPr/>
          <a:lstStyle/>
          <a:p>
            <a:r>
              <a:rPr lang="en-US" dirty="0"/>
              <a:t>Using Floating-Point Types Example</a:t>
            </a:r>
          </a:p>
        </p:txBody>
      </p:sp>
      <p:sp>
        <p:nvSpPr>
          <p:cNvPr id="3" name="Slide Number Placeholder 2">
            <a:extLst>
              <a:ext uri="{FF2B5EF4-FFF2-40B4-BE49-F238E27FC236}">
                <a16:creationId xmlns:a16="http://schemas.microsoft.com/office/drawing/2014/main" id="{2BBFA725-D681-436A-A1C6-BA8714AC6915}"/>
              </a:ext>
            </a:extLst>
          </p:cNvPr>
          <p:cNvSpPr>
            <a:spLocks noGrp="1"/>
          </p:cNvSpPr>
          <p:nvPr>
            <p:ph type="sldNum" sz="quarter" idx="10"/>
          </p:nvPr>
        </p:nvSpPr>
        <p:spPr>
          <a:xfrm>
            <a:off x="579120" y="6325606"/>
            <a:ext cx="1615439" cy="365125"/>
          </a:xfrm>
        </p:spPr>
        <p:txBody>
          <a:bodyPr/>
          <a:lstStyle/>
          <a:p>
            <a:pPr>
              <a:defRPr/>
            </a:pPr>
            <a:r>
              <a:rPr lang="en-US" dirty="0"/>
              <a:t>Data Types 14- </a:t>
            </a:r>
            <a:fld id="{060BD193-E118-4B16-863C-C8C12C675E3E}" type="slidenum">
              <a:rPr lang="en-US" smtClean="0"/>
              <a:pPr>
                <a:defRPr/>
              </a:pPr>
              <a:t>48</a:t>
            </a:fld>
            <a:endParaRPr lang="en-US" dirty="0"/>
          </a:p>
        </p:txBody>
      </p:sp>
      <p:sp>
        <p:nvSpPr>
          <p:cNvPr id="6" name="TextBox 5">
            <a:extLst>
              <a:ext uri="{FF2B5EF4-FFF2-40B4-BE49-F238E27FC236}">
                <a16:creationId xmlns:a16="http://schemas.microsoft.com/office/drawing/2014/main" id="{FD0BF091-E11E-419E-9BAB-9CFAED483ED8}"/>
              </a:ext>
            </a:extLst>
          </p:cNvPr>
          <p:cNvSpPr txBox="1"/>
          <p:nvPr/>
        </p:nvSpPr>
        <p:spPr>
          <a:xfrm>
            <a:off x="1554481" y="1707269"/>
            <a:ext cx="8355666" cy="73866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a:solidFill>
                  <a:srgbClr val="000000"/>
                </a:solidFill>
                <a:latin typeface="Arial"/>
              </a:rPr>
              <a:t>d</a:t>
            </a:r>
            <a:r>
              <a:rPr lang="en-US" sz="1050" b="1" kern="0" dirty="0" err="1">
                <a:solidFill>
                  <a:srgbClr val="000000"/>
                </a:solidFill>
                <a:latin typeface="Arial"/>
              </a:rPr>
              <a:t>ouble</a:t>
            </a:r>
            <a:r>
              <a:rPr lang="en-US" sz="1050" b="1" kern="0" dirty="0">
                <a:solidFill>
                  <a:srgbClr val="000000"/>
                </a:solidFill>
                <a:latin typeface="Arial"/>
              </a:rPr>
              <a:t>		</a:t>
            </a:r>
            <a:r>
              <a:rPr lang="en-US" sz="1050" b="1" kern="0" dirty="0" err="1">
                <a:solidFill>
                  <a:srgbClr val="000000"/>
                </a:solidFill>
                <a:latin typeface="Arial"/>
              </a:rPr>
              <a:t>foo_d</a:t>
            </a:r>
            <a:r>
              <a:rPr lang="en-US" sz="1050" b="1" kern="0" dirty="0">
                <a:solidFill>
                  <a:srgbClr val="000000"/>
                </a:solidFill>
                <a:latin typeface="Arial"/>
              </a:rPr>
              <a:t> = 3.1459;</a:t>
            </a:r>
          </a:p>
          <a:p>
            <a:pPr defTabSz="914400" fontAlgn="base">
              <a:spcBef>
                <a:spcPct val="0"/>
              </a:spcBef>
              <a:spcAft>
                <a:spcPct val="0"/>
              </a:spcAft>
              <a:defRPr/>
            </a:pPr>
            <a:r>
              <a:rPr lang="en-US" sz="1050" b="1" kern="0" dirty="0">
                <a:solidFill>
                  <a:srgbClr val="000000"/>
                </a:solidFill>
                <a:latin typeface="Arial"/>
              </a:rPr>
              <a:t>float		</a:t>
            </a:r>
            <a:r>
              <a:rPr lang="en-US" sz="1050" b="1" kern="0" dirty="0" err="1">
                <a:solidFill>
                  <a:srgbClr val="000000"/>
                </a:solidFill>
                <a:latin typeface="Arial"/>
              </a:rPr>
              <a:t>foo_f</a:t>
            </a:r>
            <a:r>
              <a:rPr lang="en-US" sz="1050" b="1" kern="0" dirty="0">
                <a:solidFill>
                  <a:srgbClr val="000000"/>
                </a:solidFill>
                <a:latin typeface="Arial"/>
              </a:rPr>
              <a:t> = 3.1459 ; </a:t>
            </a:r>
          </a:p>
          <a:p>
            <a:pPr defTabSz="914400" fontAlgn="base">
              <a:spcBef>
                <a:spcPct val="0"/>
              </a:spcBef>
              <a:spcAft>
                <a:spcPct val="0"/>
              </a:spcAft>
              <a:defRPr/>
            </a:pPr>
            <a:r>
              <a:rPr lang="en-US" sz="1050" b="1" kern="0" dirty="0" err="1">
                <a:solidFill>
                  <a:srgbClr val="000000"/>
                </a:solidFill>
                <a:latin typeface="Arial"/>
              </a:rPr>
              <a:t>ap_fixed</a:t>
            </a:r>
            <a:r>
              <a:rPr lang="en-US" sz="1050" b="1" kern="0" dirty="0">
                <a:solidFill>
                  <a:srgbClr val="000000"/>
                </a:solidFill>
                <a:latin typeface="Arial"/>
              </a:rPr>
              <a:t>&lt;14,4&gt;	</a:t>
            </a:r>
            <a:r>
              <a:rPr lang="en-US" sz="1050" b="1" kern="0" dirty="0" err="1">
                <a:solidFill>
                  <a:srgbClr val="000000"/>
                </a:solidFill>
                <a:latin typeface="Arial"/>
              </a:rPr>
              <a:t>foo_fx</a:t>
            </a:r>
            <a:r>
              <a:rPr lang="en-US" sz="1050" b="1" kern="0" dirty="0">
                <a:solidFill>
                  <a:srgbClr val="000000"/>
                </a:solidFill>
                <a:latin typeface="Arial"/>
              </a:rPr>
              <a:t> = -1.4142;</a:t>
            </a:r>
          </a:p>
          <a:p>
            <a:pPr defTabSz="914400" fontAlgn="base">
              <a:spcBef>
                <a:spcPct val="0"/>
              </a:spcBef>
              <a:spcAft>
                <a:spcPct val="0"/>
              </a:spcAft>
              <a:defRPr/>
            </a:pPr>
            <a:r>
              <a:rPr lang="en-US" sz="1050" b="1" kern="0" dirty="0">
                <a:solidFill>
                  <a:srgbClr val="000000"/>
                </a:solidFill>
                <a:latin typeface="Arial"/>
              </a:rPr>
              <a:t>int		</a:t>
            </a:r>
            <a:r>
              <a:rPr lang="en-US" sz="1050" b="1" kern="0" dirty="0" err="1">
                <a:solidFill>
                  <a:srgbClr val="000000"/>
                </a:solidFill>
                <a:latin typeface="Arial"/>
              </a:rPr>
              <a:t>foo_i</a:t>
            </a:r>
            <a:r>
              <a:rPr lang="en-US" sz="1050" b="1" kern="0" dirty="0">
                <a:solidFill>
                  <a:srgbClr val="000000"/>
                </a:solidFill>
                <a:latin typeface="Arial"/>
              </a:rPr>
              <a:t> = 42;</a:t>
            </a:r>
          </a:p>
        </p:txBody>
      </p:sp>
      <p:sp>
        <p:nvSpPr>
          <p:cNvPr id="7" name="TextBox 6">
            <a:extLst>
              <a:ext uri="{FF2B5EF4-FFF2-40B4-BE49-F238E27FC236}">
                <a16:creationId xmlns:a16="http://schemas.microsoft.com/office/drawing/2014/main" id="{FC910551-DC99-4F78-B1A8-71404A9C2FC8}"/>
              </a:ext>
            </a:extLst>
          </p:cNvPr>
          <p:cNvSpPr txBox="1"/>
          <p:nvPr/>
        </p:nvSpPr>
        <p:spPr>
          <a:xfrm>
            <a:off x="5497532" y="1776519"/>
            <a:ext cx="3090228" cy="600164"/>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defTabSz="914400" fontAlgn="base">
              <a:spcBef>
                <a:spcPct val="0"/>
              </a:spcBef>
              <a:spcAft>
                <a:spcPct val="0"/>
              </a:spcAft>
              <a:defRPr/>
            </a:pPr>
            <a:r>
              <a:rPr lang="en-US" sz="1100" kern="0" dirty="0"/>
              <a:t>Using </a:t>
            </a:r>
            <a:r>
              <a:rPr lang="en-US" sz="1100" kern="0" dirty="0" err="1"/>
              <a:t>ap_fixed</a:t>
            </a:r>
            <a:r>
              <a:rPr lang="en-US" sz="1100" kern="0" dirty="0"/>
              <a:t> requires:</a:t>
            </a:r>
          </a:p>
          <a:p>
            <a:pPr marL="171450" indent="-171450" defTabSz="914400" fontAlgn="base">
              <a:spcBef>
                <a:spcPct val="0"/>
              </a:spcBef>
              <a:spcAft>
                <a:spcPct val="0"/>
              </a:spcAft>
              <a:buFont typeface="Arial" panose="020B0604020202020204" pitchFamily="34" charset="0"/>
              <a:buChar char="•"/>
              <a:defRPr/>
            </a:pPr>
            <a:r>
              <a:rPr lang="en-US" sz="1100" kern="0" dirty="0"/>
              <a:t>C++</a:t>
            </a:r>
          </a:p>
          <a:p>
            <a:pPr marL="171450" indent="-171450" defTabSz="914400" fontAlgn="base">
              <a:spcBef>
                <a:spcPct val="0"/>
              </a:spcBef>
              <a:spcAft>
                <a:spcPct val="0"/>
              </a:spcAft>
              <a:buFont typeface="Arial" panose="020B0604020202020204" pitchFamily="34" charset="0"/>
              <a:buChar char="•"/>
              <a:defRPr/>
            </a:pPr>
            <a:r>
              <a:rPr lang="en-US" sz="1100" kern="0" dirty="0"/>
              <a:t>$VITIS_HLS_HOME/include/</a:t>
            </a:r>
            <a:r>
              <a:rPr lang="en-US" sz="1100" kern="0" dirty="0" err="1"/>
              <a:t>ap_fixed.h</a:t>
            </a:r>
            <a:endParaRPr lang="en-US" sz="1100" kern="0" dirty="0"/>
          </a:p>
        </p:txBody>
      </p:sp>
      <p:sp>
        <p:nvSpPr>
          <p:cNvPr id="10" name="TextBox 9">
            <a:extLst>
              <a:ext uri="{FF2B5EF4-FFF2-40B4-BE49-F238E27FC236}">
                <a16:creationId xmlns:a16="http://schemas.microsoft.com/office/drawing/2014/main" id="{FCE3FD4D-315A-462B-91B7-27A2E47C0321}"/>
              </a:ext>
            </a:extLst>
          </p:cNvPr>
          <p:cNvSpPr txBox="1"/>
          <p:nvPr/>
        </p:nvSpPr>
        <p:spPr>
          <a:xfrm>
            <a:off x="1554481" y="3383712"/>
            <a:ext cx="8355666" cy="25391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a:solidFill>
                  <a:srgbClr val="000000"/>
                </a:solidFill>
                <a:latin typeface="Arial"/>
              </a:rPr>
              <a:t>extern “C” float </a:t>
            </a:r>
            <a:r>
              <a:rPr lang="en-US" sz="1050" b="1" kern="0" dirty="0" err="1">
                <a:solidFill>
                  <a:srgbClr val="000000"/>
                </a:solidFill>
                <a:latin typeface="Arial"/>
              </a:rPr>
              <a:t>sqrtf</a:t>
            </a:r>
            <a:r>
              <a:rPr lang="en-US" sz="1050" b="1" kern="0" dirty="0">
                <a:solidFill>
                  <a:srgbClr val="000000"/>
                </a:solidFill>
                <a:latin typeface="Arial"/>
              </a:rPr>
              <a:t>(float);</a:t>
            </a:r>
          </a:p>
        </p:txBody>
      </p:sp>
      <p:sp>
        <p:nvSpPr>
          <p:cNvPr id="11" name="TextBox 10">
            <a:extLst>
              <a:ext uri="{FF2B5EF4-FFF2-40B4-BE49-F238E27FC236}">
                <a16:creationId xmlns:a16="http://schemas.microsoft.com/office/drawing/2014/main" id="{D33DCF6D-817B-4D03-B97C-486E311B0DAC}"/>
              </a:ext>
            </a:extLst>
          </p:cNvPr>
          <p:cNvSpPr txBox="1"/>
          <p:nvPr/>
        </p:nvSpPr>
        <p:spPr>
          <a:xfrm>
            <a:off x="5497532" y="3348136"/>
            <a:ext cx="3090228" cy="26161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defTabSz="914400" fontAlgn="base">
              <a:spcBef>
                <a:spcPct val="0"/>
              </a:spcBef>
              <a:spcAft>
                <a:spcPct val="0"/>
              </a:spcAft>
              <a:defRPr/>
            </a:pPr>
            <a:r>
              <a:rPr lang="en-US" sz="1100" kern="0" dirty="0"/>
              <a:t>Required if it is a C++ function</a:t>
            </a:r>
          </a:p>
        </p:txBody>
      </p:sp>
      <p:sp>
        <p:nvSpPr>
          <p:cNvPr id="12" name="TextBox 11">
            <a:extLst>
              <a:ext uri="{FF2B5EF4-FFF2-40B4-BE49-F238E27FC236}">
                <a16:creationId xmlns:a16="http://schemas.microsoft.com/office/drawing/2014/main" id="{B417B8F7-0B9E-49D9-B8D6-2D22CD661D9D}"/>
              </a:ext>
            </a:extLst>
          </p:cNvPr>
          <p:cNvSpPr txBox="1"/>
          <p:nvPr/>
        </p:nvSpPr>
        <p:spPr>
          <a:xfrm>
            <a:off x="1554481" y="4660446"/>
            <a:ext cx="8355667" cy="73866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a:solidFill>
                  <a:srgbClr val="000000"/>
                </a:solidFill>
                <a:latin typeface="Arial"/>
              </a:rPr>
              <a:t>d</a:t>
            </a:r>
            <a:r>
              <a:rPr lang="en-US" sz="1050" b="1" kern="0" dirty="0" err="1">
                <a:solidFill>
                  <a:srgbClr val="000000"/>
                </a:solidFill>
                <a:latin typeface="Arial"/>
              </a:rPr>
              <a:t>ouble</a:t>
            </a:r>
            <a:r>
              <a:rPr lang="en-US" sz="1050" b="1" kern="0" dirty="0">
                <a:solidFill>
                  <a:srgbClr val="000000"/>
                </a:solidFill>
                <a:latin typeface="Arial"/>
              </a:rPr>
              <a:t>		</a:t>
            </a:r>
            <a:r>
              <a:rPr lang="en-US" sz="1050" b="1" kern="0" dirty="0" err="1">
                <a:solidFill>
                  <a:srgbClr val="000000"/>
                </a:solidFill>
                <a:latin typeface="Arial"/>
              </a:rPr>
              <a:t>var_d</a:t>
            </a:r>
            <a:r>
              <a:rPr lang="en-US" sz="1050" b="1" kern="0" dirty="0">
                <a:solidFill>
                  <a:srgbClr val="000000"/>
                </a:solidFill>
                <a:latin typeface="Arial"/>
              </a:rPr>
              <a:t> = sqrt(</a:t>
            </a:r>
            <a:r>
              <a:rPr lang="en-US" sz="1050" b="1" kern="0" dirty="0" err="1">
                <a:solidFill>
                  <a:srgbClr val="000000"/>
                </a:solidFill>
                <a:latin typeface="Arial"/>
              </a:rPr>
              <a:t>foo_d</a:t>
            </a:r>
            <a:r>
              <a:rPr lang="en-US" sz="1050" b="1" kern="0" dirty="0">
                <a:solidFill>
                  <a:srgbClr val="000000"/>
                </a:solidFill>
                <a:latin typeface="Arial"/>
              </a:rPr>
              <a:t>);	//64-bit sqrt core</a:t>
            </a:r>
          </a:p>
          <a:p>
            <a:pPr defTabSz="914400" fontAlgn="base">
              <a:spcBef>
                <a:spcPct val="0"/>
              </a:spcBef>
              <a:spcAft>
                <a:spcPct val="0"/>
              </a:spcAft>
              <a:defRPr/>
            </a:pPr>
            <a:r>
              <a:rPr lang="en-US" sz="1050" b="1" kern="0" dirty="0">
                <a:solidFill>
                  <a:srgbClr val="000000"/>
                </a:solidFill>
                <a:latin typeface="Arial"/>
              </a:rPr>
              <a:t>float		</a:t>
            </a:r>
            <a:r>
              <a:rPr lang="en-US" sz="1050" b="1" kern="0" dirty="0" err="1">
                <a:solidFill>
                  <a:srgbClr val="000000"/>
                </a:solidFill>
                <a:latin typeface="Arial"/>
              </a:rPr>
              <a:t>var_f</a:t>
            </a:r>
            <a:r>
              <a:rPr lang="en-US" sz="1050" b="1" kern="0" dirty="0">
                <a:solidFill>
                  <a:srgbClr val="000000"/>
                </a:solidFill>
                <a:latin typeface="Arial"/>
              </a:rPr>
              <a:t> = </a:t>
            </a:r>
            <a:r>
              <a:rPr lang="en-US" sz="1050" b="1" kern="0" dirty="0" err="1">
                <a:solidFill>
                  <a:srgbClr val="000000"/>
                </a:solidFill>
                <a:latin typeface="Arial"/>
              </a:rPr>
              <a:t>sqrtf</a:t>
            </a:r>
            <a:r>
              <a:rPr lang="en-US" sz="1050" b="1" kern="0" dirty="0">
                <a:solidFill>
                  <a:srgbClr val="000000"/>
                </a:solidFill>
                <a:latin typeface="Arial"/>
              </a:rPr>
              <a:t>(</a:t>
            </a:r>
            <a:r>
              <a:rPr lang="en-US" sz="1050" b="1" kern="0" dirty="0" err="1">
                <a:solidFill>
                  <a:srgbClr val="000000"/>
                </a:solidFill>
                <a:latin typeface="Arial"/>
              </a:rPr>
              <a:t>foo_f</a:t>
            </a:r>
            <a:r>
              <a:rPr lang="en-US" sz="1050" b="1" kern="0" dirty="0">
                <a:solidFill>
                  <a:srgbClr val="000000"/>
                </a:solidFill>
                <a:latin typeface="Arial"/>
              </a:rPr>
              <a:t>);	//This will lead to a single precision core </a:t>
            </a:r>
          </a:p>
          <a:p>
            <a:pPr defTabSz="914400" fontAlgn="base">
              <a:spcBef>
                <a:spcPct val="0"/>
              </a:spcBef>
              <a:spcAft>
                <a:spcPct val="0"/>
              </a:spcAft>
              <a:defRPr/>
            </a:pPr>
            <a:endParaRPr lang="en-US" sz="1050" b="1" kern="0" dirty="0">
              <a:solidFill>
                <a:srgbClr val="000000"/>
              </a:solidFill>
              <a:latin typeface="Arial"/>
            </a:endParaRPr>
          </a:p>
          <a:p>
            <a:pPr defTabSz="914400" fontAlgn="base">
              <a:spcBef>
                <a:spcPct val="0"/>
              </a:spcBef>
              <a:spcAft>
                <a:spcPct val="0"/>
              </a:spcAft>
              <a:defRPr/>
            </a:pPr>
            <a:r>
              <a:rPr lang="en-US" sz="1050" b="1" kern="0" dirty="0">
                <a:solidFill>
                  <a:srgbClr val="000000"/>
                </a:solidFill>
                <a:latin typeface="Arial"/>
              </a:rPr>
              <a:t>		</a:t>
            </a:r>
            <a:r>
              <a:rPr lang="en-US" sz="1050" b="1" kern="0" dirty="0" err="1">
                <a:solidFill>
                  <a:srgbClr val="000000"/>
                </a:solidFill>
                <a:latin typeface="Arial"/>
              </a:rPr>
              <a:t>var_f</a:t>
            </a:r>
            <a:r>
              <a:rPr lang="en-US" sz="1050" b="1" kern="0" dirty="0">
                <a:solidFill>
                  <a:srgbClr val="000000"/>
                </a:solidFill>
                <a:latin typeface="Arial"/>
              </a:rPr>
              <a:t> = sqrt(</a:t>
            </a:r>
            <a:r>
              <a:rPr lang="en-US" sz="1050" b="1" kern="0" dirty="0" err="1">
                <a:solidFill>
                  <a:srgbClr val="000000"/>
                </a:solidFill>
                <a:latin typeface="Arial"/>
              </a:rPr>
              <a:t>foo_f</a:t>
            </a:r>
            <a:r>
              <a:rPr lang="en-US" sz="1050" b="1" kern="0" dirty="0">
                <a:solidFill>
                  <a:srgbClr val="000000"/>
                </a:solidFill>
                <a:latin typeface="Arial"/>
              </a:rPr>
              <a:t>);	//Still 64-bit, with format conversion cores(single to double and back)</a:t>
            </a:r>
          </a:p>
        </p:txBody>
      </p:sp>
      <p:sp>
        <p:nvSpPr>
          <p:cNvPr id="13" name="TextBox 12">
            <a:extLst>
              <a:ext uri="{FF2B5EF4-FFF2-40B4-BE49-F238E27FC236}">
                <a16:creationId xmlns:a16="http://schemas.microsoft.com/office/drawing/2014/main" id="{93ACC79A-DD18-4345-81C3-7E5DDBB9AEC5}"/>
              </a:ext>
            </a:extLst>
          </p:cNvPr>
          <p:cNvSpPr txBox="1"/>
          <p:nvPr/>
        </p:nvSpPr>
        <p:spPr>
          <a:xfrm>
            <a:off x="1554481" y="5519916"/>
            <a:ext cx="8355667" cy="73866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err="1">
                <a:solidFill>
                  <a:srgbClr val="000000"/>
                </a:solidFill>
                <a:latin typeface="Arial"/>
              </a:rPr>
              <a:t>ap_fixed</a:t>
            </a:r>
            <a:r>
              <a:rPr lang="en-US" sz="1050" b="1" kern="0" dirty="0">
                <a:solidFill>
                  <a:srgbClr val="000000"/>
                </a:solidFill>
                <a:latin typeface="Arial"/>
              </a:rPr>
              <a:t>&lt;14,4&gt;	</a:t>
            </a:r>
            <a:r>
              <a:rPr lang="en-US" sz="1050" b="1" kern="0" dirty="0" err="1">
                <a:solidFill>
                  <a:srgbClr val="000000"/>
                </a:solidFill>
                <a:latin typeface="Arial"/>
              </a:rPr>
              <a:t>var_fx</a:t>
            </a:r>
            <a:r>
              <a:rPr lang="en-US" sz="1050" b="1" kern="0" dirty="0">
                <a:solidFill>
                  <a:srgbClr val="000000"/>
                </a:solidFill>
                <a:latin typeface="Arial"/>
              </a:rPr>
              <a:t> = </a:t>
            </a:r>
            <a:r>
              <a:rPr lang="en-US" sz="1050" b="1" kern="0" dirty="0" err="1">
                <a:solidFill>
                  <a:srgbClr val="000000"/>
                </a:solidFill>
                <a:latin typeface="Arial"/>
              </a:rPr>
              <a:t>sqrtf</a:t>
            </a:r>
            <a:r>
              <a:rPr lang="en-US" sz="1050" b="1" kern="0" dirty="0">
                <a:solidFill>
                  <a:srgbClr val="000000"/>
                </a:solidFill>
                <a:latin typeface="Arial"/>
              </a:rPr>
              <a:t>(</a:t>
            </a:r>
            <a:r>
              <a:rPr lang="en-US" sz="1050" b="1" kern="0" dirty="0" err="1">
                <a:solidFill>
                  <a:srgbClr val="000000"/>
                </a:solidFill>
                <a:latin typeface="Arial"/>
              </a:rPr>
              <a:t>foo_fx</a:t>
            </a:r>
            <a:r>
              <a:rPr lang="en-US" sz="1050" b="1" kern="0" dirty="0">
                <a:solidFill>
                  <a:srgbClr val="000000"/>
                </a:solidFill>
                <a:latin typeface="Arial"/>
              </a:rPr>
              <a:t>);	//fixed-point to single precision conversion</a:t>
            </a:r>
          </a:p>
          <a:p>
            <a:pPr defTabSz="914400" fontAlgn="base">
              <a:spcBef>
                <a:spcPct val="0"/>
              </a:spcBef>
              <a:spcAft>
                <a:spcPct val="0"/>
              </a:spcAft>
              <a:defRPr/>
            </a:pPr>
            <a:r>
              <a:rPr lang="en-US" sz="1050" b="1" kern="0" dirty="0">
                <a:solidFill>
                  <a:srgbClr val="000000"/>
                </a:solidFill>
                <a:latin typeface="Arial"/>
              </a:rPr>
              <a:t>				//Fixed -&gt; 32-bt sqrt core -&gt; floating to fixed conversion</a:t>
            </a:r>
          </a:p>
          <a:p>
            <a:pPr defTabSz="914400" fontAlgn="base">
              <a:spcBef>
                <a:spcPct val="0"/>
              </a:spcBef>
              <a:spcAft>
                <a:spcPct val="0"/>
              </a:spcAft>
              <a:defRPr/>
            </a:pPr>
            <a:r>
              <a:rPr lang="en-US" sz="1050" b="1" kern="0" dirty="0">
                <a:solidFill>
                  <a:srgbClr val="000000"/>
                </a:solidFill>
                <a:latin typeface="Arial"/>
              </a:rPr>
              <a:t>int		</a:t>
            </a:r>
            <a:r>
              <a:rPr lang="en-US" sz="1050" b="1" kern="0" dirty="0" err="1">
                <a:solidFill>
                  <a:srgbClr val="000000"/>
                </a:solidFill>
                <a:latin typeface="Arial"/>
              </a:rPr>
              <a:t>var_i</a:t>
            </a:r>
            <a:r>
              <a:rPr lang="en-US" sz="1050" b="1" kern="0" dirty="0">
                <a:solidFill>
                  <a:srgbClr val="000000"/>
                </a:solidFill>
                <a:latin typeface="Arial"/>
              </a:rPr>
              <a:t> = </a:t>
            </a:r>
            <a:r>
              <a:rPr lang="en-US" sz="1050" b="1" kern="0" dirty="0" err="1">
                <a:solidFill>
                  <a:srgbClr val="000000"/>
                </a:solidFill>
                <a:latin typeface="Arial"/>
              </a:rPr>
              <a:t>sqrtf</a:t>
            </a:r>
            <a:r>
              <a:rPr lang="en-US" sz="1050" b="1" kern="0" dirty="0">
                <a:solidFill>
                  <a:srgbClr val="000000"/>
                </a:solidFill>
                <a:latin typeface="Arial"/>
              </a:rPr>
              <a:t>(</a:t>
            </a:r>
            <a:r>
              <a:rPr lang="en-US" sz="1050" b="1" kern="0" dirty="0" err="1">
                <a:solidFill>
                  <a:srgbClr val="000000"/>
                </a:solidFill>
                <a:latin typeface="Arial"/>
              </a:rPr>
              <a:t>foo_i</a:t>
            </a:r>
            <a:r>
              <a:rPr lang="en-US" sz="1050" b="1" kern="0" dirty="0">
                <a:solidFill>
                  <a:srgbClr val="000000"/>
                </a:solidFill>
                <a:latin typeface="Arial"/>
              </a:rPr>
              <a:t>);	//int to float conversion</a:t>
            </a:r>
          </a:p>
          <a:p>
            <a:pPr defTabSz="914400" fontAlgn="base">
              <a:spcBef>
                <a:spcPct val="0"/>
              </a:spcBef>
              <a:spcAft>
                <a:spcPct val="0"/>
              </a:spcAft>
              <a:defRPr/>
            </a:pPr>
            <a:r>
              <a:rPr lang="en-US" sz="1050" b="1" kern="0" dirty="0">
                <a:solidFill>
                  <a:srgbClr val="000000"/>
                </a:solidFill>
                <a:latin typeface="Arial"/>
              </a:rPr>
              <a:t>				Int -&gt; 32-bit sqrt -&gt; float to int</a:t>
            </a:r>
          </a:p>
        </p:txBody>
      </p:sp>
      <p:sp>
        <p:nvSpPr>
          <p:cNvPr id="14" name="TextBox 13">
            <a:extLst>
              <a:ext uri="{FF2B5EF4-FFF2-40B4-BE49-F238E27FC236}">
                <a16:creationId xmlns:a16="http://schemas.microsoft.com/office/drawing/2014/main" id="{530283F7-D824-43D8-965A-588F8BDD996D}"/>
              </a:ext>
            </a:extLst>
          </p:cNvPr>
          <p:cNvSpPr txBox="1"/>
          <p:nvPr/>
        </p:nvSpPr>
        <p:spPr>
          <a:xfrm>
            <a:off x="8906622" y="5526991"/>
            <a:ext cx="1775686" cy="769441"/>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defTabSz="914400" fontAlgn="base">
              <a:spcBef>
                <a:spcPct val="0"/>
              </a:spcBef>
              <a:spcAft>
                <a:spcPct val="0"/>
              </a:spcAft>
              <a:defRPr/>
            </a:pPr>
            <a:r>
              <a:rPr lang="en-US" sz="1100" kern="0" dirty="0"/>
              <a:t>Using sqrt instead of </a:t>
            </a:r>
            <a:r>
              <a:rPr lang="en-US" sz="1100" kern="0" dirty="0" err="1"/>
              <a:t>sqrtf</a:t>
            </a:r>
            <a:r>
              <a:rPr lang="en-US" sz="1100" kern="0" dirty="0"/>
              <a:t> would imply a single-to-double conversion and back</a:t>
            </a:r>
          </a:p>
        </p:txBody>
      </p:sp>
    </p:spTree>
    <p:extLst>
      <p:ext uri="{BB962C8B-B14F-4D97-AF65-F5344CB8AC3E}">
        <p14:creationId xmlns:p14="http://schemas.microsoft.com/office/powerpoint/2010/main" val="35445652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7C5F0-4C1E-42C4-B871-324F71386FF6}"/>
              </a:ext>
            </a:extLst>
          </p:cNvPr>
          <p:cNvSpPr>
            <a:spLocks noGrp="1"/>
          </p:cNvSpPr>
          <p:nvPr>
            <p:ph type="title"/>
          </p:nvPr>
        </p:nvSpPr>
        <p:spPr/>
        <p:txBody>
          <a:bodyPr/>
          <a:lstStyle/>
          <a:p>
            <a:r>
              <a:rPr lang="en-US" dirty="0"/>
              <a:t>Support for Math Functions</a:t>
            </a:r>
          </a:p>
        </p:txBody>
      </p:sp>
      <p:sp>
        <p:nvSpPr>
          <p:cNvPr id="3" name="Slide Number Placeholder 2">
            <a:extLst>
              <a:ext uri="{FF2B5EF4-FFF2-40B4-BE49-F238E27FC236}">
                <a16:creationId xmlns:a16="http://schemas.microsoft.com/office/drawing/2014/main" id="{DE6824E6-9912-498B-A086-48B017ABC3AD}"/>
              </a:ext>
            </a:extLst>
          </p:cNvPr>
          <p:cNvSpPr>
            <a:spLocks noGrp="1"/>
          </p:cNvSpPr>
          <p:nvPr>
            <p:ph type="sldNum" sz="quarter" idx="10"/>
          </p:nvPr>
        </p:nvSpPr>
        <p:spPr>
          <a:xfrm>
            <a:off x="579120" y="6325606"/>
            <a:ext cx="1417319" cy="365125"/>
          </a:xfrm>
        </p:spPr>
        <p:txBody>
          <a:bodyPr/>
          <a:lstStyle/>
          <a:p>
            <a:pPr>
              <a:defRPr/>
            </a:pPr>
            <a:r>
              <a:rPr lang="en-US" dirty="0"/>
              <a:t>Data Types 14- </a:t>
            </a:r>
            <a:fld id="{060BD193-E118-4B16-863C-C8C12C675E3E}" type="slidenum">
              <a:rPr lang="en-US" smtClean="0"/>
              <a:pPr>
                <a:defRPr/>
              </a:pPr>
              <a:t>49</a:t>
            </a:fld>
            <a:endParaRPr lang="en-US" dirty="0"/>
          </a:p>
        </p:txBody>
      </p:sp>
      <p:sp>
        <p:nvSpPr>
          <p:cNvPr id="4" name="Content Placeholder 1">
            <a:extLst>
              <a:ext uri="{FF2B5EF4-FFF2-40B4-BE49-F238E27FC236}">
                <a16:creationId xmlns:a16="http://schemas.microsoft.com/office/drawing/2014/main" id="{C891CED5-4E38-45B3-BDE4-B2B6881FA029}"/>
              </a:ext>
            </a:extLst>
          </p:cNvPr>
          <p:cNvSpPr txBox="1">
            <a:spLocks/>
          </p:cNvSpPr>
          <p:nvPr/>
        </p:nvSpPr>
        <p:spPr>
          <a:xfrm>
            <a:off x="649119" y="1327150"/>
            <a:ext cx="10512862" cy="4268788"/>
          </a:xfrm>
          <a:prstGeom prst="rect">
            <a:avLst/>
          </a:prstGeom>
        </p:spPr>
        <p:txBody>
          <a:bodyPr vert="horz" lIns="91440" tIns="45720" rIns="91440" bIns="45720" rtlCol="0">
            <a:noAutofit/>
          </a:bodyPr>
          <a:lst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lumMod val="50000"/>
                  </a:schemeClr>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3"/>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999"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Many other functions from the C/C++ standard math library for which are no floating-point operator cores available</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These functions are implemented in a bit-approximate manner</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Results for these functions may differ within a few units of least precision(ULP) to the C/C++ standards</a:t>
            </a:r>
          </a:p>
          <a:p>
            <a:pPr marL="234962" indent="-234962" defTabSz="1219261">
              <a:spcBef>
                <a:spcPts val="1600"/>
              </a:spcBef>
              <a:buClr>
                <a:schemeClr val="accent1"/>
              </a:buClr>
              <a:buSzPct val="80000"/>
              <a:buFont typeface="Webdings" panose="05030102010509060703" pitchFamily="18" charset="2"/>
              <a:buChar char="4"/>
            </a:pPr>
            <a:r>
              <a:rPr lang="en-US" sz="2000" b="0" dirty="0">
                <a:solidFill>
                  <a:schemeClr val="tx1"/>
                </a:solidFill>
                <a:ea typeface="宋体" charset="-122"/>
              </a:rPr>
              <a:t>Stand C math library</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C simulation results and the C/RTL co-simulation results may be different</a:t>
            </a:r>
          </a:p>
          <a:p>
            <a:pPr marL="234962" indent="-234962" defTabSz="1219261">
              <a:spcBef>
                <a:spcPts val="1600"/>
              </a:spcBef>
              <a:buClr>
                <a:schemeClr val="accent1"/>
              </a:buClr>
              <a:buSzPct val="80000"/>
              <a:buFont typeface="Webdings" panose="05030102010509060703" pitchFamily="18" charset="2"/>
              <a:buChar char="4"/>
            </a:pPr>
            <a:r>
              <a:rPr lang="en-US" sz="2000" b="0" dirty="0" err="1">
                <a:solidFill>
                  <a:schemeClr val="tx1"/>
                </a:solidFill>
                <a:ea typeface="宋体" charset="-122"/>
              </a:rPr>
              <a:t>Hls_math.h</a:t>
            </a:r>
            <a:r>
              <a:rPr lang="en-US" sz="2000" b="0" dirty="0">
                <a:solidFill>
                  <a:schemeClr val="tx1"/>
                </a:solidFill>
                <a:ea typeface="宋体" charset="-122"/>
              </a:rPr>
              <a:t> library</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C simulation and C/RTL co-simulation results are identical</a:t>
            </a:r>
          </a:p>
          <a:p>
            <a:pPr marL="452989" lvl="1" indent="-220144" defTabSz="914445">
              <a:lnSpc>
                <a:spcPct val="95000"/>
              </a:lnSpc>
              <a:spcBef>
                <a:spcPts val="600"/>
              </a:spcBef>
              <a:buClr>
                <a:schemeClr val="accent1"/>
              </a:buClr>
              <a:buSzPct val="80000"/>
              <a:buFont typeface="Wingdings 3" panose="05040102010807070707" pitchFamily="18" charset="2"/>
              <a:buChar char="¬"/>
            </a:pPr>
            <a:r>
              <a:rPr lang="en-US" sz="1800" dirty="0">
                <a:ea typeface="宋体" charset="-122"/>
              </a:rPr>
              <a:t>These results of C simulation are not the same as those using standard C libraries</a:t>
            </a:r>
          </a:p>
        </p:txBody>
      </p:sp>
    </p:spTree>
    <p:extLst>
      <p:ext uri="{BB962C8B-B14F-4D97-AF65-F5344CB8AC3E}">
        <p14:creationId xmlns:p14="http://schemas.microsoft.com/office/powerpoint/2010/main" val="32229546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FA1F6-D1C3-47DE-B9E3-BFEB5A739B78}"/>
              </a:ext>
            </a:extLst>
          </p:cNvPr>
          <p:cNvSpPr>
            <a:spLocks noGrp="1"/>
          </p:cNvSpPr>
          <p:nvPr>
            <p:ph type="title"/>
          </p:nvPr>
        </p:nvSpPr>
        <p:spPr/>
        <p:txBody>
          <a:bodyPr/>
          <a:lstStyle/>
          <a:p>
            <a:r>
              <a:rPr lang="en-US" dirty="0"/>
              <a:t>Support for Math Functions</a:t>
            </a:r>
          </a:p>
        </p:txBody>
      </p:sp>
      <p:sp>
        <p:nvSpPr>
          <p:cNvPr id="3" name="Slide Number Placeholder 2">
            <a:extLst>
              <a:ext uri="{FF2B5EF4-FFF2-40B4-BE49-F238E27FC236}">
                <a16:creationId xmlns:a16="http://schemas.microsoft.com/office/drawing/2014/main" id="{93D17E8B-C2E0-4F24-BA3F-C524E492A090}"/>
              </a:ext>
            </a:extLst>
          </p:cNvPr>
          <p:cNvSpPr>
            <a:spLocks noGrp="1"/>
          </p:cNvSpPr>
          <p:nvPr>
            <p:ph type="sldNum" sz="quarter" idx="10"/>
          </p:nvPr>
        </p:nvSpPr>
        <p:spPr>
          <a:xfrm>
            <a:off x="579120" y="6325606"/>
            <a:ext cx="1592579" cy="365125"/>
          </a:xfrm>
        </p:spPr>
        <p:txBody>
          <a:bodyPr/>
          <a:lstStyle/>
          <a:p>
            <a:pPr>
              <a:defRPr/>
            </a:pPr>
            <a:r>
              <a:rPr lang="en-US" dirty="0"/>
              <a:t>Data Types 14- </a:t>
            </a:r>
            <a:fld id="{060BD193-E118-4B16-863C-C8C12C675E3E}" type="slidenum">
              <a:rPr lang="en-US" smtClean="0"/>
              <a:pPr>
                <a:defRPr/>
              </a:pPr>
              <a:t>50</a:t>
            </a:fld>
            <a:endParaRPr lang="en-US" dirty="0"/>
          </a:p>
        </p:txBody>
      </p:sp>
      <p:pic>
        <p:nvPicPr>
          <p:cNvPr id="1026" name="Picture 2">
            <a:extLst>
              <a:ext uri="{FF2B5EF4-FFF2-40B4-BE49-F238E27FC236}">
                <a16:creationId xmlns:a16="http://schemas.microsoft.com/office/drawing/2014/main" id="{2A31C10E-62EB-4F40-B9FE-887A3386F6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51494" y="1164591"/>
            <a:ext cx="3889013" cy="5191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81189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E42A3-3940-4EC3-A2D0-66398FDF4E62}"/>
              </a:ext>
            </a:extLst>
          </p:cNvPr>
          <p:cNvSpPr>
            <a:spLocks noGrp="1"/>
          </p:cNvSpPr>
          <p:nvPr>
            <p:ph type="title"/>
          </p:nvPr>
        </p:nvSpPr>
        <p:spPr/>
        <p:txBody>
          <a:bodyPr/>
          <a:lstStyle/>
          <a:p>
            <a:r>
              <a:rPr lang="en-US" altLang="zh-CN" dirty="0"/>
              <a:t>Summary</a:t>
            </a:r>
            <a:endParaRPr lang="zh-CN" altLang="en-US" dirty="0"/>
          </a:p>
        </p:txBody>
      </p:sp>
    </p:spTree>
    <p:extLst>
      <p:ext uri="{BB962C8B-B14F-4D97-AF65-F5344CB8AC3E}">
        <p14:creationId xmlns:p14="http://schemas.microsoft.com/office/powerpoint/2010/main" val="79139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Summary</a:t>
            </a:r>
          </a:p>
        </p:txBody>
      </p:sp>
      <p:sp>
        <p:nvSpPr>
          <p:cNvPr id="8" name="Slide Number Placeholder 7"/>
          <p:cNvSpPr>
            <a:spLocks noGrp="1"/>
          </p:cNvSpPr>
          <p:nvPr>
            <p:ph type="sldNum" sz="quarter" idx="10"/>
          </p:nvPr>
        </p:nvSpPr>
        <p:spPr>
          <a:xfrm>
            <a:off x="579120" y="6325606"/>
            <a:ext cx="1485899" cy="365125"/>
          </a:xfrm>
        </p:spPr>
        <p:txBody>
          <a:bodyPr/>
          <a:lstStyle/>
          <a:p>
            <a:pPr>
              <a:defRPr/>
            </a:pPr>
            <a:r>
              <a:rPr lang="en-US" dirty="0"/>
              <a:t>Data Types 14- </a:t>
            </a:r>
            <a:fld id="{060BD193-E118-4B16-863C-C8C12C675E3E}" type="slidenum">
              <a:rPr lang="en-US" smtClean="0"/>
              <a:pPr>
                <a:defRPr/>
              </a:pPr>
              <a:t>52</a:t>
            </a:fld>
            <a:endParaRPr lang="en-US" dirty="0"/>
          </a:p>
        </p:txBody>
      </p:sp>
      <p:sp>
        <p:nvSpPr>
          <p:cNvPr id="2" name="Content Placeholder 1"/>
          <p:cNvSpPr>
            <a:spLocks noGrp="1"/>
          </p:cNvSpPr>
          <p:nvPr>
            <p:ph idx="4294967295"/>
          </p:nvPr>
        </p:nvSpPr>
        <p:spPr>
          <a:xfrm>
            <a:off x="579121" y="1327150"/>
            <a:ext cx="11611292" cy="4268788"/>
          </a:xfrm>
        </p:spPr>
        <p:txBody>
          <a:bodyPr>
            <a:normAutofit/>
          </a:bodyPr>
          <a:lstStyle/>
          <a:p>
            <a:r>
              <a:rPr lang="en-US" dirty="0"/>
              <a:t>C and C++ have standard types created on the 8-bit boundary</a:t>
            </a:r>
          </a:p>
          <a:p>
            <a:pPr lvl="1"/>
            <a:r>
              <a:rPr lang="en-US" dirty="0"/>
              <a:t>char (8-bit), short (16-bit), </a:t>
            </a:r>
            <a:r>
              <a:rPr lang="en-US" dirty="0" err="1"/>
              <a:t>int</a:t>
            </a:r>
            <a:r>
              <a:rPr lang="en-US" dirty="0"/>
              <a:t> (32-bit), long </a:t>
            </a:r>
            <a:r>
              <a:rPr lang="en-US" dirty="0" err="1"/>
              <a:t>long</a:t>
            </a:r>
            <a:r>
              <a:rPr lang="en-US" dirty="0"/>
              <a:t> (64-bit)</a:t>
            </a:r>
          </a:p>
          <a:p>
            <a:r>
              <a:rPr lang="en-US" dirty="0"/>
              <a:t>Arbitrary precision in C++ is supported using </a:t>
            </a:r>
            <a:r>
              <a:rPr lang="en-US" dirty="0" err="1"/>
              <a:t>ap_int</a:t>
            </a:r>
            <a:r>
              <a:rPr lang="en-US" dirty="0"/>
              <a:t> </a:t>
            </a:r>
            <a:endParaRPr lang="en-US" strike="sngStrike" dirty="0">
              <a:highlight>
                <a:srgbClr val="FFFF00"/>
              </a:highlight>
            </a:endParaRPr>
          </a:p>
          <a:p>
            <a:pPr lvl="1"/>
            <a:r>
              <a:rPr lang="en-US" sz="2200" dirty="0"/>
              <a:t>Arbitrary precision types can define bit-accurate operators leading to better </a:t>
            </a:r>
            <a:r>
              <a:rPr lang="en-US" sz="2200" dirty="0" err="1"/>
              <a:t>QoR</a:t>
            </a:r>
            <a:endParaRPr lang="en-US" sz="2200" dirty="0"/>
          </a:p>
          <a:p>
            <a:r>
              <a:rPr lang="en-US" dirty="0"/>
              <a:t>Fixed point precision is supported in C++</a:t>
            </a:r>
          </a:p>
          <a:p>
            <a:pPr lvl="1"/>
            <a:r>
              <a:rPr lang="en-US" dirty="0"/>
              <a:t>Both signed (</a:t>
            </a:r>
            <a:r>
              <a:rPr lang="en-US" dirty="0" err="1"/>
              <a:t>ap_fixed</a:t>
            </a:r>
            <a:r>
              <a:rPr lang="en-US" dirty="0"/>
              <a:t>) and unsigned types (</a:t>
            </a:r>
            <a:r>
              <a:rPr lang="en-US" dirty="0" err="1"/>
              <a:t>ap_ufixed</a:t>
            </a:r>
            <a:r>
              <a:rPr lang="en-US" dirty="0"/>
              <a:t>)</a:t>
            </a:r>
          </a:p>
          <a:p>
            <a:endParaRPr lang="en-US" dirty="0"/>
          </a:p>
          <a:p>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Summary</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53</a:t>
            </a:fld>
            <a:endParaRPr lang="en-US" dirty="0">
              <a:solidFill>
                <a:srgbClr val="0C0C0C">
                  <a:tint val="75000"/>
                </a:srgbClr>
              </a:solidFill>
              <a:latin typeface="Arial"/>
            </a:endParaRPr>
          </a:p>
        </p:txBody>
      </p:sp>
      <p:sp>
        <p:nvSpPr>
          <p:cNvPr id="2" name="Content Placeholder 1"/>
          <p:cNvSpPr>
            <a:spLocks noGrp="1"/>
          </p:cNvSpPr>
          <p:nvPr>
            <p:ph idx="4294967295"/>
          </p:nvPr>
        </p:nvSpPr>
        <p:spPr>
          <a:xfrm>
            <a:off x="1689101" y="1327150"/>
            <a:ext cx="10501312" cy="4268788"/>
          </a:xfrm>
        </p:spPr>
        <p:txBody>
          <a:bodyPr>
            <a:normAutofit/>
          </a:bodyPr>
          <a:lstStyle/>
          <a:p>
            <a:r>
              <a:rPr lang="en-US" sz="2400" dirty="0"/>
              <a:t>C and C++ have standard types created on the 8-bit boundary</a:t>
            </a:r>
          </a:p>
          <a:p>
            <a:pPr lvl="1"/>
            <a:r>
              <a:rPr lang="en-US" sz="2000" dirty="0"/>
              <a:t>char (8-bit), short (16-bit), </a:t>
            </a:r>
            <a:r>
              <a:rPr lang="en-US" sz="2000" dirty="0" err="1"/>
              <a:t>int</a:t>
            </a:r>
            <a:r>
              <a:rPr lang="en-US" sz="2000" dirty="0"/>
              <a:t> (32-bit), long </a:t>
            </a:r>
            <a:r>
              <a:rPr lang="en-US" sz="2000" dirty="0" err="1"/>
              <a:t>long</a:t>
            </a:r>
            <a:r>
              <a:rPr lang="en-US" sz="2000" dirty="0"/>
              <a:t> (64-bit)</a:t>
            </a:r>
          </a:p>
          <a:p>
            <a:r>
              <a:rPr lang="en-US" sz="2400" strike="sngStrike" dirty="0" err="1">
                <a:highlight>
                  <a:srgbClr val="FFFF00"/>
                </a:highlight>
              </a:rPr>
              <a:t>Vivado</a:t>
            </a:r>
            <a:r>
              <a:rPr lang="en-US" sz="2400" strike="sngStrike" dirty="0">
                <a:highlight>
                  <a:srgbClr val="FFFF00"/>
                </a:highlight>
              </a:rPr>
              <a:t> HLS supports </a:t>
            </a:r>
            <a:r>
              <a:rPr lang="en-US" sz="2400" strike="sngStrike" dirty="0" err="1">
                <a:highlight>
                  <a:srgbClr val="FFFF00"/>
                </a:highlight>
              </a:rPr>
              <a:t>SystemC</a:t>
            </a:r>
            <a:r>
              <a:rPr lang="en-US" sz="2400" strike="sngStrike" dirty="0">
                <a:highlight>
                  <a:srgbClr val="FFFF00"/>
                </a:highlight>
              </a:rPr>
              <a:t> 1.3 Synthesizable subset</a:t>
            </a:r>
          </a:p>
          <a:p>
            <a:r>
              <a:rPr lang="en-US" sz="2400" dirty="0"/>
              <a:t>Arbitrary precision in </a:t>
            </a:r>
            <a:r>
              <a:rPr lang="en-US" sz="2400" dirty="0">
                <a:highlight>
                  <a:srgbClr val="FFFF00"/>
                </a:highlight>
              </a:rPr>
              <a:t>C++ </a:t>
            </a:r>
            <a:r>
              <a:rPr lang="en-US" sz="2400" dirty="0"/>
              <a:t>is supported using </a:t>
            </a:r>
            <a:r>
              <a:rPr lang="en-US" sz="2400" strike="sngStrike" dirty="0" err="1">
                <a:highlight>
                  <a:srgbClr val="FFFF00"/>
                </a:highlight>
              </a:rPr>
              <a:t>apint</a:t>
            </a:r>
            <a:r>
              <a:rPr lang="en-US" sz="2400" strike="sngStrike" dirty="0">
                <a:highlight>
                  <a:srgbClr val="FFFF00"/>
                </a:highlight>
              </a:rPr>
              <a:t> and </a:t>
            </a:r>
            <a:r>
              <a:rPr lang="en-US" sz="2400" dirty="0" err="1"/>
              <a:t>ap_int</a:t>
            </a:r>
            <a:r>
              <a:rPr lang="en-US" sz="2400" dirty="0"/>
              <a:t> </a:t>
            </a:r>
            <a:r>
              <a:rPr lang="en-US" sz="2400" strike="sngStrike" dirty="0">
                <a:highlight>
                  <a:srgbClr val="FFFF00"/>
                </a:highlight>
              </a:rPr>
              <a:t>in C++</a:t>
            </a:r>
          </a:p>
          <a:p>
            <a:pPr lvl="1"/>
            <a:r>
              <a:rPr lang="en-US" sz="2200" strike="sngStrike" dirty="0"/>
              <a:t>Compile using </a:t>
            </a:r>
            <a:r>
              <a:rPr lang="en-US" sz="2200" strike="sngStrike" dirty="0" err="1"/>
              <a:t>apcc</a:t>
            </a:r>
            <a:r>
              <a:rPr lang="en-US" sz="2200" strike="sngStrike" dirty="0"/>
              <a:t> for arbitrary precision</a:t>
            </a:r>
          </a:p>
          <a:p>
            <a:pPr lvl="1"/>
            <a:r>
              <a:rPr lang="en-US" sz="2200" dirty="0"/>
              <a:t>Arbitrary precision types can define bit-accurate operators leading to better </a:t>
            </a:r>
            <a:r>
              <a:rPr lang="en-US" sz="2200" dirty="0" err="1"/>
              <a:t>QoR</a:t>
            </a:r>
            <a:endParaRPr lang="en-US" sz="2200" dirty="0"/>
          </a:p>
          <a:p>
            <a:r>
              <a:rPr lang="en-US" sz="2400" dirty="0"/>
              <a:t>Fixed point precision is supported in C++</a:t>
            </a:r>
          </a:p>
          <a:p>
            <a:pPr lvl="1"/>
            <a:r>
              <a:rPr lang="en-US" dirty="0"/>
              <a:t>Both signed (</a:t>
            </a:r>
            <a:r>
              <a:rPr lang="en-US" dirty="0" err="1"/>
              <a:t>ap_fixed</a:t>
            </a:r>
            <a:r>
              <a:rPr lang="en-US" dirty="0"/>
              <a:t>) and unsigned types (</a:t>
            </a:r>
            <a:r>
              <a:rPr lang="en-US" dirty="0" err="1"/>
              <a:t>ap_ufixed</a:t>
            </a:r>
            <a:r>
              <a:rPr lang="en-US" dirty="0"/>
              <a:t>)</a:t>
            </a:r>
          </a:p>
          <a:p>
            <a:endParaRPr lang="en-US" sz="2400" dirty="0"/>
          </a:p>
          <a:p>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Summary</a:t>
            </a:r>
          </a:p>
        </p:txBody>
      </p:sp>
      <p:sp>
        <p:nvSpPr>
          <p:cNvPr id="8" name="Slide Number Placeholder 7"/>
          <p:cNvSpPr>
            <a:spLocks noGrp="1"/>
          </p:cNvSpPr>
          <p:nvPr>
            <p:ph type="sldNum" sz="quarter" idx="10"/>
          </p:nvPr>
        </p:nvSpPr>
        <p:spPr>
          <a:xfrm>
            <a:off x="579120" y="6325606"/>
            <a:ext cx="1523999" cy="365125"/>
          </a:xfrm>
        </p:spPr>
        <p:txBody>
          <a:bodyPr/>
          <a:lstStyle/>
          <a:p>
            <a:pPr>
              <a:defRPr/>
            </a:pPr>
            <a:r>
              <a:rPr lang="en-US" dirty="0"/>
              <a:t>Data Types 14- </a:t>
            </a:r>
            <a:fld id="{060BD193-E118-4B16-863C-C8C12C675E3E}" type="slidenum">
              <a:rPr lang="en-US" smtClean="0"/>
              <a:pPr>
                <a:defRPr/>
              </a:pPr>
              <a:t>54</a:t>
            </a:fld>
            <a:endParaRPr lang="en-US" dirty="0"/>
          </a:p>
        </p:txBody>
      </p:sp>
      <p:sp>
        <p:nvSpPr>
          <p:cNvPr id="2" name="Content Placeholder 1"/>
          <p:cNvSpPr>
            <a:spLocks noGrp="1"/>
          </p:cNvSpPr>
          <p:nvPr>
            <p:ph idx="4294967295"/>
          </p:nvPr>
        </p:nvSpPr>
        <p:spPr>
          <a:xfrm>
            <a:off x="579121" y="1327150"/>
            <a:ext cx="11033760" cy="4268788"/>
          </a:xfrm>
        </p:spPr>
        <p:txBody>
          <a:bodyPr>
            <a:normAutofit/>
          </a:bodyPr>
          <a:lstStyle/>
          <a:p>
            <a:r>
              <a:rPr lang="en-US" dirty="0"/>
              <a:t>Various quantization and overflow modes supported</a:t>
            </a:r>
          </a:p>
          <a:p>
            <a:pPr lvl="1"/>
            <a:r>
              <a:rPr lang="en-US" sz="2200" dirty="0"/>
              <a:t>Quantization</a:t>
            </a:r>
          </a:p>
          <a:p>
            <a:pPr lvl="2"/>
            <a:r>
              <a:rPr lang="en-US" sz="2000" dirty="0"/>
              <a:t>AP_RND, AP_RND_ZERO, AP_RND_MIN_INF, AP_RND_INF, AP_RND_CONV, AP_TRN, AP_TRN_ZERO</a:t>
            </a:r>
          </a:p>
          <a:p>
            <a:pPr lvl="1"/>
            <a:r>
              <a:rPr lang="en-US" sz="2200" dirty="0"/>
              <a:t>Overflow</a:t>
            </a:r>
          </a:p>
          <a:p>
            <a:pPr lvl="2"/>
            <a:r>
              <a:rPr lang="en-US" sz="2000" dirty="0"/>
              <a:t>AP_SAT, AP_SAT_ZERO, AP_SAT_SYM, AP_WRAP, AP_WRAP_SYM</a:t>
            </a:r>
          </a:p>
          <a:p>
            <a:r>
              <a:rPr lang="en-US" dirty="0"/>
              <a:t>Single- and double-precision floating point data types are supported</a:t>
            </a:r>
          </a:p>
          <a:p>
            <a:pPr lvl="1"/>
            <a:r>
              <a:rPr lang="en-US" sz="2200" dirty="0"/>
              <a:t>If a corresponding floating point core is available then it will automatically be used</a:t>
            </a:r>
          </a:p>
          <a:p>
            <a:pPr lvl="1"/>
            <a:r>
              <a:rPr lang="en-US" sz="2200" dirty="0"/>
              <a:t>If floating point core is not available then VITIS HLS will generate the RTL model</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Summary</a:t>
            </a:r>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Data Types 14- </a:t>
            </a:r>
            <a:fld id="{060BD193-E118-4B16-863C-C8C12C675E3E}" type="slidenum">
              <a:rPr lang="en-US">
                <a:solidFill>
                  <a:srgbClr val="0C0C0C">
                    <a:tint val="75000"/>
                  </a:srgbClr>
                </a:solidFill>
                <a:latin typeface="Arial"/>
              </a:rPr>
              <a:pPr defTabSz="914400">
                <a:defRPr/>
              </a:pPr>
              <a:t>55</a:t>
            </a:fld>
            <a:endParaRPr lang="en-US" dirty="0">
              <a:solidFill>
                <a:srgbClr val="0C0C0C">
                  <a:tint val="75000"/>
                </a:srgbClr>
              </a:solidFill>
              <a:latin typeface="Arial"/>
            </a:endParaRPr>
          </a:p>
        </p:txBody>
      </p:sp>
      <p:sp>
        <p:nvSpPr>
          <p:cNvPr id="2" name="Content Placeholder 1"/>
          <p:cNvSpPr>
            <a:spLocks noGrp="1"/>
          </p:cNvSpPr>
          <p:nvPr>
            <p:ph idx="4294967295"/>
          </p:nvPr>
        </p:nvSpPr>
        <p:spPr>
          <a:xfrm>
            <a:off x="1689101" y="1327150"/>
            <a:ext cx="10501312" cy="4268788"/>
          </a:xfrm>
        </p:spPr>
        <p:txBody>
          <a:bodyPr>
            <a:normAutofit lnSpcReduction="10000"/>
          </a:bodyPr>
          <a:lstStyle/>
          <a:p>
            <a:r>
              <a:rPr lang="en-US" sz="2400" dirty="0"/>
              <a:t>Various quantization and overflow modes supported</a:t>
            </a:r>
          </a:p>
          <a:p>
            <a:pPr lvl="1"/>
            <a:r>
              <a:rPr lang="en-US" sz="2200" dirty="0"/>
              <a:t>Quantization</a:t>
            </a:r>
          </a:p>
          <a:p>
            <a:pPr lvl="2"/>
            <a:r>
              <a:rPr lang="en-US" sz="2000" dirty="0"/>
              <a:t>AP_RND, AP_RND_ZERO, AP_RND_MIN_INF, AP_RND_INF, AP_RND_CONV, AP_TRN, AP_TRN_ZERO</a:t>
            </a:r>
          </a:p>
          <a:p>
            <a:pPr lvl="1"/>
            <a:r>
              <a:rPr lang="en-US" sz="2200" dirty="0"/>
              <a:t>Overflow</a:t>
            </a:r>
          </a:p>
          <a:p>
            <a:pPr lvl="2"/>
            <a:r>
              <a:rPr lang="en-US" sz="2000" dirty="0"/>
              <a:t>AP_SAT, AP_SAT_ZERO, AP_SAT_SYM, AP_WRAP, AP_WRAP_SYM</a:t>
            </a:r>
          </a:p>
          <a:p>
            <a:r>
              <a:rPr lang="en-US" sz="2400" strike="sngStrike" dirty="0">
                <a:highlight>
                  <a:srgbClr val="FFFF00"/>
                </a:highlight>
              </a:rPr>
              <a:t>Half-, </a:t>
            </a:r>
            <a:r>
              <a:rPr lang="en-US" sz="2400" dirty="0"/>
              <a:t>single- and double-precision floating point data types are supported</a:t>
            </a:r>
          </a:p>
          <a:p>
            <a:pPr lvl="1"/>
            <a:r>
              <a:rPr lang="en-US" sz="2200" dirty="0"/>
              <a:t>If a corresponding floating point core is available then it will automatically be used</a:t>
            </a:r>
          </a:p>
          <a:p>
            <a:pPr lvl="1"/>
            <a:r>
              <a:rPr lang="en-US" sz="2200" dirty="0"/>
              <a:t>If floating point core is not available then </a:t>
            </a:r>
            <a:r>
              <a:rPr lang="en-US" sz="2200" dirty="0">
                <a:highlight>
                  <a:srgbClr val="FFFF00"/>
                </a:highlight>
              </a:rPr>
              <a:t>VITIS</a:t>
            </a:r>
            <a:r>
              <a:rPr lang="en-US" sz="2200" dirty="0"/>
              <a:t> HLS will generate the RTL model</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89364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1_Xilinx-5">
  <a:themeElements>
    <a:clrScheme name="Custom 1">
      <a:dk1>
        <a:srgbClr val="0C0C0C"/>
      </a:dk1>
      <a:lt1>
        <a:srgbClr val="FFFFFF"/>
      </a:lt1>
      <a:dk2>
        <a:srgbClr val="161C2E"/>
      </a:dk2>
      <a:lt2>
        <a:srgbClr val="7F7F7F"/>
      </a:lt2>
      <a:accent1>
        <a:srgbClr val="EB1C23"/>
      </a:accent1>
      <a:accent2>
        <a:srgbClr val="30364B"/>
      </a:accent2>
      <a:accent3>
        <a:srgbClr val="5F5F5F"/>
      </a:accent3>
      <a:accent4>
        <a:srgbClr val="1B3866"/>
      </a:accent4>
      <a:accent5>
        <a:srgbClr val="AC171F"/>
      </a:accent5>
      <a:accent6>
        <a:srgbClr val="1E640E"/>
      </a:accent6>
      <a:hlink>
        <a:srgbClr val="055C99"/>
      </a:hlink>
      <a:folHlink>
        <a:srgbClr val="5F5F5F"/>
      </a:folHlink>
    </a:clrScheme>
    <a:fontScheme name="Xilinx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 Template-2018_Final" id="{59614F72-ED6C-4F13-AF1A-893C27C977D5}" vid="{23EBD899-BF60-4C88-B6F9-094F3CC04C9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2.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8114</Words>
  <Application>Microsoft Office PowerPoint</Application>
  <PresentationFormat>宽屏</PresentationFormat>
  <Paragraphs>1272</Paragraphs>
  <Slides>56</Slides>
  <Notes>32</Notes>
  <HiddenSlides>27</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56</vt:i4>
      </vt:variant>
    </vt:vector>
  </HeadingPairs>
  <TitlesOfParts>
    <vt:vector size="67" baseType="lpstr">
      <vt:lpstr>Arial</vt:lpstr>
      <vt:lpstr>Calibri</vt:lpstr>
      <vt:lpstr>Consolas</vt:lpstr>
      <vt:lpstr>Courier New</vt:lpstr>
      <vt:lpstr>Microsoft Sans Serif</vt:lpstr>
      <vt:lpstr>Verdana</vt:lpstr>
      <vt:lpstr>Webdings</vt:lpstr>
      <vt:lpstr>Wingdings</vt:lpstr>
      <vt:lpstr>Wingdings 3</vt:lpstr>
      <vt:lpstr>Xilinx-5</vt:lpstr>
      <vt:lpstr>1_Xilinx-5</vt:lpstr>
      <vt:lpstr>Data Types</vt:lpstr>
      <vt:lpstr>Objectives</vt:lpstr>
      <vt:lpstr>Objectives</vt:lpstr>
      <vt:lpstr>Outline</vt:lpstr>
      <vt:lpstr>Data Types and Bit-Accuracy</vt:lpstr>
      <vt:lpstr>Data Types and Bit-Accuracy</vt:lpstr>
      <vt:lpstr>Why is arbitrary precision Needed?</vt:lpstr>
      <vt:lpstr>Why is arbitrary precision Needed?</vt:lpstr>
      <vt:lpstr>HLS &amp; C Types</vt:lpstr>
      <vt:lpstr>HLS &amp; C Types</vt:lpstr>
      <vt:lpstr>Arbitrary Precision Data Types</vt:lpstr>
      <vt:lpstr>Arbitrary Precision : C apint types </vt:lpstr>
      <vt:lpstr>Using apcc</vt:lpstr>
      <vt:lpstr>Integer Promotion</vt:lpstr>
      <vt:lpstr>C apint types: Bit-Selection &amp; Manipulation</vt:lpstr>
      <vt:lpstr>Arbitrary Precision : C++ ap_int types </vt:lpstr>
      <vt:lpstr>Arbitrary Precision : C++ ap_int types </vt:lpstr>
      <vt:lpstr>Microsoft Visual Studio Support</vt:lpstr>
      <vt:lpstr>AP_INT operators &amp; conversions</vt:lpstr>
      <vt:lpstr>AP_INT operators &amp; conversions</vt:lpstr>
      <vt:lpstr>AP_INT Bit Manipulation methods</vt:lpstr>
      <vt:lpstr>AP_INT Bit Manipulation methods</vt:lpstr>
      <vt:lpstr>Arbitrary Precision : C++ ap_fixed types </vt:lpstr>
      <vt:lpstr>Arbitrary Precision : C++ ap_fixed types </vt:lpstr>
      <vt:lpstr>Definition of ap_fixed type</vt:lpstr>
      <vt:lpstr>Definition of ap_fixed type</vt:lpstr>
      <vt:lpstr>Quantization Modes</vt:lpstr>
      <vt:lpstr>Quantization Modes</vt:lpstr>
      <vt:lpstr>Quantization Modes: Rounding </vt:lpstr>
      <vt:lpstr>Quantization Modes: Rounding </vt:lpstr>
      <vt:lpstr>Quantization Modes: Truncation</vt:lpstr>
      <vt:lpstr>Quantization Modes: Truncation</vt:lpstr>
      <vt:lpstr>Overflow Modes</vt:lpstr>
      <vt:lpstr>Overflow Modes</vt:lpstr>
      <vt:lpstr>Overflow Mode: Saturation</vt:lpstr>
      <vt:lpstr>Overflow Mode: Saturation</vt:lpstr>
      <vt:lpstr>Overflow Mode: Wrap Sign Magnitude</vt:lpstr>
      <vt:lpstr>Overflow Mode: Wrap Sign Magnitude</vt:lpstr>
      <vt:lpstr>AP_FIXED operators &amp; conversions</vt:lpstr>
      <vt:lpstr>AP_FIXED operators &amp; conversions</vt:lpstr>
      <vt:lpstr>AP_FIXED methods</vt:lpstr>
      <vt:lpstr>AP_FIXED methods</vt:lpstr>
      <vt:lpstr>Floating Point Support</vt:lpstr>
      <vt:lpstr>Floating Point Support</vt:lpstr>
      <vt:lpstr>Floating Point Support</vt:lpstr>
      <vt:lpstr>Half-Precision Floating Point Operations</vt:lpstr>
      <vt:lpstr>Floating-Point Cores</vt:lpstr>
      <vt:lpstr>Using Floating-Point Types Example</vt:lpstr>
      <vt:lpstr>Support for Math Functions</vt:lpstr>
      <vt:lpstr>Support for Math Functions</vt:lpstr>
      <vt:lpstr>Summary</vt:lpstr>
      <vt:lpstr>Summary</vt:lpstr>
      <vt:lpstr>Summary</vt:lpstr>
      <vt:lpstr>Summary</vt:lpstr>
      <vt:lpstr>Summary</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
  <dc:description/>
  <cp:revision>2</cp:revision>
  <dcterms:created xsi:type="dcterms:W3CDTF">2019-10-16T21:50:31Z</dcterms:created>
  <dcterms:modified xsi:type="dcterms:W3CDTF">2022-03-14T13:10:34Z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No Markings</vt:lpwstr>
  </property>
  <property fmtid="{D5CDD505-2E9C-101B-9397-08002B2CF9AE}" pid="3" name="IDENTIFIER">
    <vt:lpwstr>12B622CE-7949-4BC8-8A85-7A5041597B9E</vt:lpwstr>
  </property>
  <property fmtid="{D5CDD505-2E9C-101B-9397-08002B2CF9AE}" pid="4" name="TitusGUID">
    <vt:lpwstr>3548715e-cfe1-4912-bc5d-ad0780d14868</vt:lpwstr>
  </property>
  <property fmtid="{D5CDD505-2E9C-101B-9397-08002B2CF9AE}" pid="5" name="ContentTypeId">
    <vt:lpwstr>0x01010058A00A9B6178BD498632E37D0AD5CC8E</vt:lpwstr>
  </property>
</Properties>
</file>